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26667" autoAdjust="0"/>
  </p:normalViewPr>
  <p:slideViewPr>
    <p:cSldViewPr snapToGrid="0" snapToObjects="1">
      <p:cViewPr>
        <p:scale>
          <a:sx n="125" d="100"/>
          <a:sy n="125" d="100"/>
        </p:scale>
        <p:origin x="226" y="72"/>
      </p:cViewPr>
      <p:guideLst/>
    </p:cSldViewPr>
  </p:slideViewPr>
  <p:notesTextViewPr>
    <p:cViewPr>
      <p:scale>
        <a:sx n="300" d="100"/>
        <a:sy n="300" d="100"/>
      </p:scale>
      <p:origin x="0" y="-230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4357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Mon projet porte sur l'analyse prédictive des accidents routiers en France, avec un objectif très concret : comment la donnée peut-elle contribuer à rendre la mobilité urbaine plus sûre, au service d'acteurs Smart City  (de </a:t>
            </a:r>
            <a:r>
              <a:rPr lang="fr-FR" sz="1200" kern="1200" dirty="0" err="1">
                <a:solidFill>
                  <a:schemeClr val="tx1"/>
                </a:solidFill>
                <a:effectLst/>
                <a:latin typeface="+mn-lt"/>
                <a:ea typeface="+mn-ea"/>
                <a:cs typeface="+mn-cs"/>
              </a:rPr>
              <a:t>moblité</a:t>
            </a:r>
            <a:r>
              <a:rPr lang="fr-FR" sz="1200" kern="1200" dirty="0">
                <a:solidFill>
                  <a:schemeClr val="tx1"/>
                </a:solidFill>
                <a:effectLst/>
                <a:latin typeface="+mn-lt"/>
                <a:ea typeface="+mn-ea"/>
                <a:cs typeface="+mn-cs"/>
              </a:rPr>
              <a:t> urbain).</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Pour commencer, quelques chiffres qui posent le contexte.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Chaque année en France, selon les statistiques nationales de l'ONISR, environ 3 400 personnes perdent la vie sur les routes. 73 000 personnes sont hospitalisées. Et le coût économique total de ces accidents est estimé à 50 milliards d'euros par an.</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sont des chiffres considérables. Et pourtant, la donnée existe — elle est collectée, structurée, et publiée en open data par l'ONISR depuis 2005.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question est la suivante : pourquoi un acteur de la mobilité urbaine, comme une entreprise ne pourrait-il pas exploiter ces données pour protéger ses usagers ? Pour optimiser ses itinéraires ? Pour anticiper les zones à risque ?</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C'est exactement ce que ce projet propose de faire.</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Ma problématique centrale est la suivante :</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"Quels facteurs combinés augmentent le risque d'accident grave, et comment un acteur Smart City peut-il les anticiper ?"</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Pour répondre à cette question, j'ai structuré mon travail autour de trois objectifs.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 premier : identifier les facteurs de gravité, grâce à l'analyse exploratoire et au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Importance des modèles.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 deuxième : prédire la gravité des accidents, en construisant un double modèle de Machine Learning.</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Et le troisième : formuler des recommandations concrètes et opérationnelles, avec des KPIs mesurables, directement exploitables par un acteur Smart City.</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Parlons des données. J'ai travaillé avec les données officielles du fichier BAAC, publiées par l'ONISR sur data.gouv.fr.</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C'est un jeu de données massif : 80 fichiers CSV, couvrant 20 années complètes de 2005 à 2024, sur l'ensemble de la France métropolitaine.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 données sont structurées en 4 tables reliées entre elles par un identifiant unique, le </a:t>
            </a:r>
            <a:r>
              <a:rPr lang="fr-FR" sz="1200" kern="1200" dirty="0" err="1">
                <a:solidFill>
                  <a:schemeClr val="tx1"/>
                </a:solidFill>
                <a:effectLst/>
                <a:latin typeface="+mn-lt"/>
                <a:ea typeface="+mn-ea"/>
                <a:cs typeface="+mn-cs"/>
              </a:rPr>
              <a:t>Num_Acc</a:t>
            </a:r>
            <a:r>
              <a:rPr lang="fr-FR" sz="1200" kern="1200" dirty="0">
                <a:solidFill>
                  <a:schemeClr val="tx1"/>
                </a:solidFill>
                <a:effectLst/>
                <a:latin typeface="+mn-lt"/>
                <a:ea typeface="+mn-ea"/>
                <a:cs typeface="+mn-cs"/>
              </a:rPr>
              <a:t> : la table Caractéristiques qui décrit les conditions de l'accident — luminosité, météo, département. La table Lieux avec le type de route et la vitesse maximale autorisée. La table Véhicules avec la catégorie du véhicule et la motorisation. Et la table Usagers qui contient notre variable cible, la gravité, ainsi que l'âge et le sexe.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Après la jointure des 4 tables et le filtrage sur la métropole, j'obtiens un </a:t>
            </a:r>
            <a:r>
              <a:rPr lang="fr-FR" sz="1200" kern="1200" dirty="0" err="1">
                <a:solidFill>
                  <a:schemeClr val="tx1"/>
                </a:solidFill>
                <a:effectLst/>
                <a:latin typeface="+mn-lt"/>
                <a:ea typeface="+mn-ea"/>
                <a:cs typeface="+mn-cs"/>
              </a:rPr>
              <a:t>dataset</a:t>
            </a:r>
            <a:r>
              <a:rPr lang="fr-FR" sz="1200" kern="1200" dirty="0">
                <a:solidFill>
                  <a:schemeClr val="tx1"/>
                </a:solidFill>
                <a:effectLst/>
                <a:latin typeface="+mn-lt"/>
                <a:ea typeface="+mn-ea"/>
                <a:cs typeface="+mn-cs"/>
              </a:rPr>
              <a:t> de 2,8 millions d'usagers accidentés. C'est 20 ans de données réelles, fiables et géolocalisées.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Voici le pipeline complet de mon projet, de gauche à droite.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On part du chargement des 80 fichiers CSV, on fait la jointure des 4 tables, on applique le filtre métropole pour exclure les DOM-TOM, puis on passe par 7 étapes de nettoyage — j'y reviendrai dans la slide suivante. Ensuite, l'analyse exploratoire, le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Engineering où je crée 8 nouvelles variables, puis le double modèle de Machine Learning, le </a:t>
            </a:r>
            <a:r>
              <a:rPr lang="fr-FR" sz="1200" kern="1200" dirty="0" err="1">
                <a:solidFill>
                  <a:schemeClr val="tx1"/>
                </a:solidFill>
                <a:effectLst/>
                <a:latin typeface="+mn-lt"/>
                <a:ea typeface="+mn-ea"/>
                <a:cs typeface="+mn-cs"/>
              </a:rPr>
              <a:t>dashboard</a:t>
            </a:r>
            <a:r>
              <a:rPr lang="fr-FR" sz="1200" kern="1200" dirty="0">
                <a:solidFill>
                  <a:schemeClr val="tx1"/>
                </a:solidFill>
                <a:effectLst/>
                <a:latin typeface="+mn-lt"/>
                <a:ea typeface="+mn-ea"/>
                <a:cs typeface="+mn-cs"/>
              </a:rPr>
              <a:t> Power BI, et enfin les recommandations.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J'insiste sur un point méthodologique important : la stratégie du double modèle.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Pourquoi deux modèles et pas un seul ? Parce qu'en 2019, l'ONISR a changé son process de saisie. Le label "blessé hospitalisé" n'est plus comparable avant et après 2019. C'est un choix de rigueur scientifique : séparer les périodes pour garantir l'absence de biais statistique.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 Modèle A, entraîné sur 2005-2018, a pour cible les tués — une classe très minoritaire à 2.7%, soit 1 tué pour 36 usagers. Le Modèle B, sur 2019-2024, a pour cible les cas graves — tués plus hospitalisés — qui représentent 17.4% des usagers.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Les deux utilisent un </a:t>
            </a:r>
            <a:r>
              <a:rPr lang="fr-FR" sz="1200" kern="1200" dirty="0" err="1">
                <a:solidFill>
                  <a:schemeClr val="tx1"/>
                </a:solidFill>
                <a:effectLst/>
                <a:latin typeface="+mn-lt"/>
                <a:ea typeface="+mn-ea"/>
                <a:cs typeface="+mn-cs"/>
              </a:rPr>
              <a:t>Random</a:t>
            </a:r>
            <a:r>
              <a:rPr lang="fr-FR" sz="1200" kern="1200" dirty="0">
                <a:solidFill>
                  <a:schemeClr val="tx1"/>
                </a:solidFill>
                <a:effectLst/>
                <a:latin typeface="+mn-lt"/>
                <a:ea typeface="+mn-ea"/>
                <a:cs typeface="+mn-cs"/>
              </a:rPr>
              <a:t> Forest avec </a:t>
            </a:r>
            <a:r>
              <a:rPr lang="fr-FR" sz="1200" kern="1200" dirty="0" err="1">
                <a:solidFill>
                  <a:schemeClr val="tx1"/>
                </a:solidFill>
                <a:effectLst/>
                <a:latin typeface="+mn-lt"/>
                <a:ea typeface="+mn-ea"/>
                <a:cs typeface="+mn-cs"/>
              </a:rPr>
              <a:t>class_weight</a:t>
            </a:r>
            <a:r>
              <a:rPr lang="fr-FR" sz="1200" kern="1200" dirty="0">
                <a:solidFill>
                  <a:schemeClr val="tx1"/>
                </a:solidFill>
                <a:effectLst/>
                <a:latin typeface="+mn-lt"/>
                <a:ea typeface="+mn-ea"/>
                <a:cs typeface="+mn-cs"/>
              </a:rPr>
              <a:t> </a:t>
            </a:r>
            <a:r>
              <a:rPr lang="fr-FR" sz="1200" kern="1200" dirty="0" err="1">
                <a:solidFill>
                  <a:schemeClr val="tx1"/>
                </a:solidFill>
                <a:effectLst/>
                <a:latin typeface="+mn-lt"/>
                <a:ea typeface="+mn-ea"/>
                <a:cs typeface="+mn-cs"/>
              </a:rPr>
              <a:t>balanced</a:t>
            </a:r>
            <a:r>
              <a:rPr lang="fr-FR" sz="1200" kern="1200" dirty="0">
                <a:solidFill>
                  <a:schemeClr val="tx1"/>
                </a:solidFill>
                <a:effectLst/>
                <a:latin typeface="+mn-lt"/>
                <a:ea typeface="+mn-ea"/>
                <a:cs typeface="+mn-cs"/>
              </a:rPr>
              <a:t> pour gérer le déséquilibre des classes.</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r>
              <a:rPr lang="fr-FR" sz="1200" kern="1200" dirty="0">
                <a:solidFill>
                  <a:schemeClr val="tx1"/>
                </a:solidFill>
                <a:effectLst/>
                <a:latin typeface="+mn-lt"/>
                <a:ea typeface="+mn-ea"/>
                <a:cs typeface="+mn-cs"/>
              </a:rPr>
              <a:t>Le nettoyage des données est une étape critique de mon projet. J'ai conçu un pipeline de 7 étapes automatisées, dont voici les résultats réels issus de mon Notebook :</a:t>
            </a:r>
          </a:p>
          <a:p>
            <a:pPr lvl="0"/>
            <a:r>
              <a:rPr lang="fr-FR" sz="1200" b="1" kern="1200" dirty="0">
                <a:solidFill>
                  <a:schemeClr val="tx1"/>
                </a:solidFill>
                <a:effectLst/>
                <a:latin typeface="+mn-lt"/>
                <a:ea typeface="+mn-ea"/>
                <a:cs typeface="+mn-cs"/>
              </a:rPr>
              <a:t>Étape 1</a:t>
            </a:r>
            <a:r>
              <a:rPr lang="fr-FR" sz="1200" kern="1200" dirty="0">
                <a:solidFill>
                  <a:schemeClr val="tx1"/>
                </a:solidFill>
                <a:effectLst/>
                <a:latin typeface="+mn-lt"/>
                <a:ea typeface="+mn-ea"/>
                <a:cs typeface="+mn-cs"/>
              </a:rPr>
              <a:t> : Suppression de </a:t>
            </a:r>
            <a:r>
              <a:rPr lang="fr-FR" sz="1200" b="1" kern="1200" dirty="0">
                <a:solidFill>
                  <a:schemeClr val="tx1"/>
                </a:solidFill>
                <a:effectLst/>
                <a:latin typeface="+mn-lt"/>
                <a:ea typeface="+mn-ea"/>
                <a:cs typeface="+mn-cs"/>
              </a:rPr>
              <a:t>2 610 doublons</a:t>
            </a:r>
            <a:r>
              <a:rPr lang="fr-FR" sz="1200" kern="1200" dirty="0">
                <a:solidFill>
                  <a:schemeClr val="tx1"/>
                </a:solidFill>
                <a:effectLst/>
                <a:latin typeface="+mn-lt"/>
                <a:ea typeface="+mn-ea"/>
                <a:cs typeface="+mn-cs"/>
              </a:rPr>
              <a:t>, soit une qualité initiale du fichier BAAC très satisfaisante.</a:t>
            </a:r>
          </a:p>
          <a:p>
            <a:pPr lvl="0"/>
            <a:r>
              <a:rPr lang="fr-FR" sz="1200" b="1" kern="1200" dirty="0">
                <a:solidFill>
                  <a:schemeClr val="tx1"/>
                </a:solidFill>
                <a:effectLst/>
                <a:latin typeface="+mn-lt"/>
                <a:ea typeface="+mn-ea"/>
                <a:cs typeface="+mn-cs"/>
              </a:rPr>
              <a:t>Étape 2</a:t>
            </a:r>
            <a:r>
              <a:rPr lang="fr-FR" sz="1200" kern="1200" dirty="0">
                <a:solidFill>
                  <a:schemeClr val="tx1"/>
                </a:solidFill>
                <a:effectLst/>
                <a:latin typeface="+mn-lt"/>
                <a:ea typeface="+mn-ea"/>
                <a:cs typeface="+mn-cs"/>
              </a:rPr>
              <a:t> : Écartement de </a:t>
            </a:r>
            <a:r>
              <a:rPr lang="fr-FR" sz="1200" b="1" kern="1200" dirty="0">
                <a:solidFill>
                  <a:schemeClr val="tx1"/>
                </a:solidFill>
                <a:effectLst/>
                <a:latin typeface="+mn-lt"/>
                <a:ea typeface="+mn-ea"/>
                <a:cs typeface="+mn-cs"/>
              </a:rPr>
              <a:t>398 usagers</a:t>
            </a:r>
            <a:r>
              <a:rPr lang="fr-FR" sz="1200" kern="1200" dirty="0">
                <a:solidFill>
                  <a:schemeClr val="tx1"/>
                </a:solidFill>
                <a:effectLst/>
                <a:latin typeface="+mn-lt"/>
                <a:ea typeface="+mn-ea"/>
                <a:cs typeface="+mn-cs"/>
              </a:rPr>
              <a:t> à gravité inconnue où on ne connaissait pas la gravité. Ce sont souvent des gens qui ont pris la fuite après l'accident, donc la police n'a pas pu noter leur état de santé.</a:t>
            </a:r>
          </a:p>
          <a:p>
            <a:pPr lvl="0"/>
            <a:r>
              <a:rPr lang="fr-FR" sz="1200" b="1" kern="1200" dirty="0">
                <a:solidFill>
                  <a:schemeClr val="tx1"/>
                </a:solidFill>
                <a:effectLst/>
                <a:latin typeface="+mn-lt"/>
                <a:ea typeface="+mn-ea"/>
                <a:cs typeface="+mn-cs"/>
              </a:rPr>
              <a:t>Étape 3</a:t>
            </a:r>
            <a:r>
              <a:rPr lang="fr-FR" sz="1200" kern="1200" dirty="0">
                <a:solidFill>
                  <a:schemeClr val="tx1"/>
                </a:solidFill>
                <a:effectLst/>
                <a:latin typeface="+mn-lt"/>
                <a:ea typeface="+mn-ea"/>
                <a:cs typeface="+mn-cs"/>
              </a:rPr>
              <a:t> : Suppression de </a:t>
            </a:r>
            <a:r>
              <a:rPr lang="fr-FR" sz="1200" b="1" kern="1200" dirty="0">
                <a:solidFill>
                  <a:schemeClr val="tx1"/>
                </a:solidFill>
                <a:effectLst/>
                <a:latin typeface="+mn-lt"/>
                <a:ea typeface="+mn-ea"/>
                <a:cs typeface="+mn-cs"/>
              </a:rPr>
              <a:t>9 colonnes quasi-vides</a:t>
            </a:r>
            <a:r>
              <a:rPr lang="fr-FR" sz="1200" kern="1200" dirty="0">
                <a:solidFill>
                  <a:schemeClr val="tx1"/>
                </a:solidFill>
                <a:effectLst/>
                <a:latin typeface="+mn-lt"/>
                <a:ea typeface="+mn-ea"/>
                <a:cs typeface="+mn-cs"/>
              </a:rPr>
              <a:t> (plus de 90% de NaN) pour ne garder que le signal utile.</a:t>
            </a:r>
          </a:p>
          <a:p>
            <a:pPr lvl="0"/>
            <a:r>
              <a:rPr lang="fr-FR" sz="1200" b="1" kern="1200" dirty="0">
                <a:solidFill>
                  <a:schemeClr val="tx1"/>
                </a:solidFill>
                <a:effectLst/>
                <a:latin typeface="+mn-lt"/>
                <a:ea typeface="+mn-ea"/>
                <a:cs typeface="+mn-cs"/>
              </a:rPr>
              <a:t>Étape 4 &amp; 5</a:t>
            </a:r>
            <a:r>
              <a:rPr lang="fr-FR" sz="1200" kern="1200" dirty="0">
                <a:solidFill>
                  <a:schemeClr val="tx1"/>
                </a:solidFill>
                <a:effectLst/>
                <a:latin typeface="+mn-lt"/>
                <a:ea typeface="+mn-ea"/>
                <a:cs typeface="+mn-cs"/>
              </a:rPr>
              <a:t> : Traitement de l'âge. Imputation par la </a:t>
            </a:r>
            <a:r>
              <a:rPr lang="fr-FR" sz="1200" b="1" kern="1200" dirty="0">
                <a:solidFill>
                  <a:schemeClr val="tx1"/>
                </a:solidFill>
                <a:effectLst/>
                <a:latin typeface="+mn-lt"/>
                <a:ea typeface="+mn-ea"/>
                <a:cs typeface="+mn-cs"/>
              </a:rPr>
              <a:t>médiane (34 ans)</a:t>
            </a:r>
            <a:r>
              <a:rPr lang="fr-FR" sz="1200" kern="1200" dirty="0">
                <a:solidFill>
                  <a:schemeClr val="tx1"/>
                </a:solidFill>
                <a:effectLst/>
                <a:latin typeface="+mn-lt"/>
                <a:ea typeface="+mn-ea"/>
                <a:cs typeface="+mn-cs"/>
              </a:rPr>
              <a:t> et capping de </a:t>
            </a:r>
            <a:r>
              <a:rPr lang="fr-FR" sz="1200" b="1" kern="1200" dirty="0">
                <a:solidFill>
                  <a:schemeClr val="tx1"/>
                </a:solidFill>
                <a:effectLst/>
                <a:latin typeface="+mn-lt"/>
                <a:ea typeface="+mn-ea"/>
                <a:cs typeface="+mn-cs"/>
              </a:rPr>
              <a:t>250 </a:t>
            </a:r>
            <a:r>
              <a:rPr lang="fr-FR" sz="1200" b="1" kern="1200" dirty="0" err="1">
                <a:solidFill>
                  <a:schemeClr val="tx1"/>
                </a:solidFill>
                <a:effectLst/>
                <a:latin typeface="+mn-lt"/>
                <a:ea typeface="+mn-ea"/>
                <a:cs typeface="+mn-cs"/>
              </a:rPr>
              <a:t>outliers</a:t>
            </a:r>
            <a:r>
              <a:rPr lang="fr-FR" sz="1200" kern="1200" dirty="0">
                <a:solidFill>
                  <a:schemeClr val="tx1"/>
                </a:solidFill>
                <a:effectLst/>
                <a:latin typeface="+mn-lt"/>
                <a:ea typeface="+mn-ea"/>
                <a:cs typeface="+mn-cs"/>
              </a:rPr>
              <a:t> au-delà de 100 ans pour stabiliser les modèles.</a:t>
            </a:r>
          </a:p>
          <a:p>
            <a:pPr lvl="0"/>
            <a:r>
              <a:rPr lang="fr-FR" sz="1200" b="1" kern="1200" dirty="0">
                <a:solidFill>
                  <a:schemeClr val="tx1"/>
                </a:solidFill>
                <a:effectLst/>
                <a:latin typeface="+mn-lt"/>
                <a:ea typeface="+mn-ea"/>
                <a:cs typeface="+mn-cs"/>
              </a:rPr>
              <a:t>Étape 6</a:t>
            </a:r>
            <a:r>
              <a:rPr lang="fr-FR" sz="1200" kern="1200" dirty="0">
                <a:solidFill>
                  <a:schemeClr val="tx1"/>
                </a:solidFill>
                <a:effectLst/>
                <a:latin typeface="+mn-lt"/>
                <a:ea typeface="+mn-ea"/>
                <a:cs typeface="+mn-cs"/>
              </a:rPr>
              <a:t> : C'est ici que le travail est le plus massif : j'ai automatisé le remplacement de </a:t>
            </a:r>
            <a:r>
              <a:rPr lang="fr-FR" sz="1200" b="1" kern="1200" dirty="0">
                <a:solidFill>
                  <a:schemeClr val="tx1"/>
                </a:solidFill>
                <a:effectLst/>
                <a:latin typeface="+mn-lt"/>
                <a:ea typeface="+mn-ea"/>
                <a:cs typeface="+mn-cs"/>
              </a:rPr>
              <a:t>115 740 valeurs non renseignées (codes -1)</a:t>
            </a:r>
            <a:r>
              <a:rPr lang="fr-FR" sz="1200" kern="1200" dirty="0">
                <a:solidFill>
                  <a:schemeClr val="tx1"/>
                </a:solidFill>
                <a:effectLst/>
                <a:latin typeface="+mn-lt"/>
                <a:ea typeface="+mn-ea"/>
                <a:cs typeface="+mn-cs"/>
              </a:rPr>
              <a:t> par le mode statistique de chaque colonne. Cela garantit un </a:t>
            </a:r>
            <a:r>
              <a:rPr lang="fr-FR" sz="1200" kern="1200" dirty="0" err="1">
                <a:solidFill>
                  <a:schemeClr val="tx1"/>
                </a:solidFill>
                <a:effectLst/>
                <a:latin typeface="+mn-lt"/>
                <a:ea typeface="+mn-ea"/>
                <a:cs typeface="+mn-cs"/>
              </a:rPr>
              <a:t>dataset</a:t>
            </a:r>
            <a:r>
              <a:rPr lang="fr-FR" sz="1200" kern="1200" dirty="0">
                <a:solidFill>
                  <a:schemeClr val="tx1"/>
                </a:solidFill>
                <a:effectLst/>
                <a:latin typeface="+mn-lt"/>
                <a:ea typeface="+mn-ea"/>
                <a:cs typeface="+mn-cs"/>
              </a:rPr>
              <a:t> 100% exploitable pour le Machine Learning.</a:t>
            </a:r>
          </a:p>
          <a:p>
            <a:pPr lvl="0"/>
            <a:r>
              <a:rPr lang="fr-FR" sz="1200" b="1" kern="1200" dirty="0">
                <a:solidFill>
                  <a:schemeClr val="tx1"/>
                </a:solidFill>
                <a:effectLst/>
                <a:latin typeface="+mn-lt"/>
                <a:ea typeface="+mn-ea"/>
                <a:cs typeface="+mn-cs"/>
              </a:rPr>
              <a:t>Étape 7</a:t>
            </a:r>
            <a:r>
              <a:rPr lang="fr-FR" sz="1200" kern="1200" dirty="0">
                <a:solidFill>
                  <a:schemeClr val="tx1"/>
                </a:solidFill>
                <a:effectLst/>
                <a:latin typeface="+mn-lt"/>
                <a:ea typeface="+mn-ea"/>
                <a:cs typeface="+mn-cs"/>
              </a:rPr>
              <a:t> : Enfin, la standardisation des types numériques pour optimiser la mémoire.</a:t>
            </a:r>
          </a:p>
          <a:p>
            <a:r>
              <a:rPr lang="fr-FR" sz="1200" b="1" kern="1200" dirty="0">
                <a:solidFill>
                  <a:schemeClr val="tx1"/>
                </a:solidFill>
                <a:effectLst/>
                <a:latin typeface="+mn-lt"/>
                <a:ea typeface="+mn-ea"/>
                <a:cs typeface="+mn-cs"/>
              </a:rPr>
              <a:t>Le point clé à retenir</a:t>
            </a:r>
            <a:r>
              <a:rPr lang="fr-FR" sz="1200" kern="1200" dirty="0">
                <a:solidFill>
                  <a:schemeClr val="tx1"/>
                </a:solidFill>
                <a:effectLst/>
                <a:latin typeface="+mn-lt"/>
                <a:ea typeface="+mn-ea"/>
                <a:cs typeface="+mn-cs"/>
              </a:rPr>
              <a:t> : Malgré ce nettoyage en profondeur, ma perte totale de données est </a:t>
            </a:r>
            <a:r>
              <a:rPr lang="fr-FR" sz="1200" b="1" kern="1200" dirty="0">
                <a:solidFill>
                  <a:schemeClr val="tx1"/>
                </a:solidFill>
                <a:effectLst/>
                <a:latin typeface="+mn-lt"/>
                <a:ea typeface="+mn-ea"/>
                <a:cs typeface="+mn-cs"/>
              </a:rPr>
              <a:t>inférieure à 1%</a:t>
            </a:r>
            <a:r>
              <a:rPr lang="fr-FR" sz="1200" kern="1200" dirty="0">
                <a:solidFill>
                  <a:schemeClr val="tx1"/>
                </a:solidFill>
                <a:effectLst/>
                <a:latin typeface="+mn-lt"/>
                <a:ea typeface="+mn-ea"/>
                <a:cs typeface="+mn-cs"/>
              </a:rPr>
              <a:t>. Mon </a:t>
            </a:r>
            <a:r>
              <a:rPr lang="fr-FR" sz="1200" kern="1200" dirty="0" err="1">
                <a:solidFill>
                  <a:schemeClr val="tx1"/>
                </a:solidFill>
                <a:effectLst/>
                <a:latin typeface="+mn-lt"/>
                <a:ea typeface="+mn-ea"/>
                <a:cs typeface="+mn-cs"/>
              </a:rPr>
              <a:t>dataset</a:t>
            </a:r>
            <a:r>
              <a:rPr lang="fr-FR" sz="1200" kern="1200" dirty="0">
                <a:solidFill>
                  <a:schemeClr val="tx1"/>
                </a:solidFill>
                <a:effectLst/>
                <a:latin typeface="+mn-lt"/>
                <a:ea typeface="+mn-ea"/>
                <a:cs typeface="+mn-cs"/>
              </a:rPr>
              <a:t> final est donc à la fois propre, intègre et statistiquement représentatif.</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Passons à l'analyse exploratoire. Je commence par les facteurs environnementaux.</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Vous voyez ici le graphique qui montre la proportion d'accidents graves selon les conditions de luminosité, sur la période 2019-2024.</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nuit sans éclairage public présente un taux de gravité de 28.1%. En comparaison, la nuit avec éclairage allumé descend à 12.7%. C'est un risque de gravité multiplié par deux.</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C'est le facteur environnemental le plus discriminant de toute notre analyse. Et il a un sens métier très concret pour un acteur Smart City : un système d'éclairage intelligent sur les tronçons identifiés à risque réduirait significativement la gravité des accidents.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Deuxième facteur : la localisation. Hors agglomération, la gravité est multipliée par 2 par rapport à l'agglomération. C'est logique — les vitesses sont plus élevées et les secours plus éloignés.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Troisième facteur : les conditions météo, dont l'impact est plus modéré mais réel — pluie forte et brouillard augmentent le risque.</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Maintenant les profils à risque. Quatre résultats majeurs.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Premier résultat : les usagers vulnérables — piétons, cyclistes, trottinettes, VAE — représentent 29.6% des usagers accidentés, soit plus de 613 000 personnes sur notre période. Et leur taux de gravité est supérieur de 40 à 60% par rapport aux occupants de véhicules légers. C'est un enjeu direct pour un constructeur de véhicules électriques urbains Smart City.</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Deuxième résultat : les 18-24 ans sont la tranche d'âge la plus touchée, surreprésentée dans les accidents graves.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Troisième résultat : les 65 ans et plus ont un taux de gravité multiplié par 1.5 à 2. C'est une population fragile qui nécessite des parcours adaptés.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Quatrième résultat : le weekend nocturne, entre 0h et 5h, concentre les accidents les plus graves avec un facteur 1.5.</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Sur le plan temporel, deux visuels importants.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À gauche, la courbe d'évolution des accidents par année de 2005 à 2024. On observe une tendance baissière claire — une baisse d'environ 39% de la mortalité entre 2005 et 2018, grâce aux politiques publiques : radars, limitation à 80 km/h, contrôles d'alcoolémie. On note aussi la chute marquée en 2020 liée au COVID-19.</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À droite, le volume d'accidents et le taux de gravité par heure de la journée, sur la période récente 2019-2024. On voit clairement que les créneaux nocturnes entre 0h et 5h concentrent les taux de gravité les plus élevés, au-delà de 25%, alors que les heures de pointe en journée ont un volume élevé mais une gravité plus faible.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L'insight Smart City est direct : la planification d'itinéraires doit éviter les créneaux 22h-5h sur les routes non éclairées.</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Avant de passer au Machine Learning, j'ai créé 8 nouvelles variables — le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Engineering.</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tableau montre chaque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sa définition, et surtout sa justification métier. Chaque variable créée est directement exploitable par un acteur Smart City — il n'y a pas de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technique sans valeur métier.</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Par exemple, </a:t>
            </a:r>
            <a:r>
              <a:rPr lang="fr-FR" sz="1200" kern="1200" dirty="0" err="1">
                <a:solidFill>
                  <a:schemeClr val="tx1"/>
                </a:solidFill>
                <a:effectLst/>
                <a:latin typeface="+mn-lt"/>
                <a:ea typeface="+mn-ea"/>
                <a:cs typeface="+mn-cs"/>
              </a:rPr>
              <a:t>is_vru</a:t>
            </a:r>
            <a:r>
              <a:rPr lang="fr-FR" sz="1200" kern="1200" dirty="0">
                <a:solidFill>
                  <a:schemeClr val="tx1"/>
                </a:solidFill>
                <a:effectLst/>
                <a:latin typeface="+mn-lt"/>
                <a:ea typeface="+mn-ea"/>
                <a:cs typeface="+mn-cs"/>
              </a:rPr>
              <a:t> identifie les usagers vulnérables — c'est la cible directe des acteurs de la mobilité urbaine. </a:t>
            </a:r>
            <a:r>
              <a:rPr lang="fr-FR" sz="1200" kern="1200" dirty="0" err="1">
                <a:solidFill>
                  <a:schemeClr val="tx1"/>
                </a:solidFill>
                <a:effectLst/>
                <a:latin typeface="+mn-lt"/>
                <a:ea typeface="+mn-ea"/>
                <a:cs typeface="+mn-cs"/>
              </a:rPr>
              <a:t>moment_journee</a:t>
            </a:r>
            <a:r>
              <a:rPr lang="fr-FR" sz="1200" kern="1200" dirty="0">
                <a:solidFill>
                  <a:schemeClr val="tx1"/>
                </a:solidFill>
                <a:effectLst/>
                <a:latin typeface="+mn-lt"/>
                <a:ea typeface="+mn-ea"/>
                <a:cs typeface="+mn-cs"/>
              </a:rPr>
              <a:t> permet la planification horaire des itinéraires. </a:t>
            </a:r>
            <a:r>
              <a:rPr lang="fr-FR" sz="1200" kern="1200" dirty="0" err="1">
                <a:solidFill>
                  <a:schemeClr val="tx1"/>
                </a:solidFill>
                <a:effectLst/>
                <a:latin typeface="+mn-lt"/>
                <a:ea typeface="+mn-ea"/>
                <a:cs typeface="+mn-cs"/>
              </a:rPr>
              <a:t>vma_risque</a:t>
            </a:r>
            <a:r>
              <a:rPr lang="fr-FR" sz="1200" kern="1200" dirty="0">
                <a:solidFill>
                  <a:schemeClr val="tx1"/>
                </a:solidFill>
                <a:effectLst/>
                <a:latin typeface="+mn-lt"/>
                <a:ea typeface="+mn-ea"/>
                <a:cs typeface="+mn-cs"/>
              </a:rPr>
              <a:t>, disponible à partir de 2019, permet de scorer le risque par tronçon en fonction de la vitesse maximale autorisée.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Passons aux résultats du Machine Learning. Modèle A, entraîné sur la période 2005-2018.</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cible est la classe Tué, qui représente seulement 2.7% des usagers — un ratio de 1 tué pour 36 usagers. C'est un déséquilibre extrême.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Les résultats : un AUC-ROC de 0.8388, ce qui indique une bonne capacité de discrimination. Un </a:t>
            </a:r>
            <a:r>
              <a:rPr lang="fr-FR" sz="1200" kern="1200" dirty="0" err="1">
                <a:solidFill>
                  <a:schemeClr val="tx1"/>
                </a:solidFill>
                <a:effectLst/>
                <a:latin typeface="+mn-lt"/>
                <a:ea typeface="+mn-ea"/>
                <a:cs typeface="+mn-cs"/>
              </a:rPr>
              <a:t>Recall</a:t>
            </a:r>
            <a:r>
              <a:rPr lang="fr-FR" sz="1200" kern="1200" dirty="0">
                <a:solidFill>
                  <a:schemeClr val="tx1"/>
                </a:solidFill>
                <a:effectLst/>
                <a:latin typeface="+mn-lt"/>
                <a:ea typeface="+mn-ea"/>
                <a:cs typeface="+mn-cs"/>
              </a:rPr>
              <a:t> de 0.7874 — le modèle détecte correctement 79% des accidents mortels, soit environ 4 décès sur 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a:t>
            </a:r>
            <a:r>
              <a:rPr lang="fr-FR" sz="1200" kern="1200" dirty="0" err="1">
                <a:solidFill>
                  <a:schemeClr val="tx1"/>
                </a:solidFill>
                <a:effectLst/>
                <a:latin typeface="+mn-lt"/>
                <a:ea typeface="+mn-ea"/>
                <a:cs typeface="+mn-cs"/>
              </a:rPr>
              <a:t>Precision</a:t>
            </a:r>
            <a:r>
              <a:rPr lang="fr-FR" sz="1200" kern="1200" dirty="0">
                <a:solidFill>
                  <a:schemeClr val="tx1"/>
                </a:solidFill>
                <a:effectLst/>
                <a:latin typeface="+mn-lt"/>
                <a:ea typeface="+mn-ea"/>
                <a:cs typeface="+mn-cs"/>
              </a:rPr>
              <a:t> est de 0.0764. ce chiffre peut surprendre. cette faible </a:t>
            </a:r>
            <a:r>
              <a:rPr lang="fr-FR" sz="1200" kern="1200" dirty="0" err="1">
                <a:solidFill>
                  <a:schemeClr val="tx1"/>
                </a:solidFill>
                <a:effectLst/>
                <a:latin typeface="+mn-lt"/>
                <a:ea typeface="+mn-ea"/>
                <a:cs typeface="+mn-cs"/>
              </a:rPr>
              <a:t>Precision</a:t>
            </a:r>
            <a:r>
              <a:rPr lang="fr-FR" sz="1200" kern="1200" dirty="0">
                <a:solidFill>
                  <a:schemeClr val="tx1"/>
                </a:solidFill>
                <a:effectLst/>
                <a:latin typeface="+mn-lt"/>
                <a:ea typeface="+mn-ea"/>
                <a:cs typeface="+mn-cs"/>
              </a:rPr>
              <a:t> est due au déséquilibre extrême des classes, 1 tué pour 36 usagers. </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En sécurité routière, c'est le </a:t>
            </a:r>
            <a:r>
              <a:rPr lang="fr-FR" sz="1200" kern="1200" dirty="0" err="1">
                <a:solidFill>
                  <a:schemeClr val="tx1"/>
                </a:solidFill>
                <a:effectLst/>
                <a:latin typeface="+mn-lt"/>
                <a:ea typeface="+mn-ea"/>
                <a:cs typeface="+mn-cs"/>
              </a:rPr>
              <a:t>Recall</a:t>
            </a:r>
            <a:r>
              <a:rPr lang="fr-FR" sz="1200" kern="1200" dirty="0">
                <a:solidFill>
                  <a:schemeClr val="tx1"/>
                </a:solidFill>
                <a:effectLst/>
                <a:latin typeface="+mn-lt"/>
                <a:ea typeface="+mn-ea"/>
                <a:cs typeface="+mn-cs"/>
              </a:rPr>
              <a:t> qui compte. Mieux vaut déclencher une fausse alerte que de manquer un accident mortel.</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 graphique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Importance montre que les facteurs les plus discriminants sont l'agglomération, le type de collision, et la zone hors agglomération.</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cross-validation sur 5 </a:t>
            </a:r>
            <a:r>
              <a:rPr lang="fr-FR" sz="1200" kern="1200" dirty="0" err="1">
                <a:solidFill>
                  <a:schemeClr val="tx1"/>
                </a:solidFill>
                <a:effectLst/>
                <a:latin typeface="+mn-lt"/>
                <a:ea typeface="+mn-ea"/>
                <a:cs typeface="+mn-cs"/>
              </a:rPr>
              <a:t>folds</a:t>
            </a:r>
            <a:r>
              <a:rPr lang="fr-FR" sz="1200" kern="1200" dirty="0">
                <a:solidFill>
                  <a:schemeClr val="tx1"/>
                </a:solidFill>
                <a:effectLst/>
                <a:latin typeface="+mn-lt"/>
                <a:ea typeface="+mn-ea"/>
                <a:cs typeface="+mn-cs"/>
              </a:rPr>
              <a:t> confirme la stabilité du modèle avec un AUC de 0.8367 plus ou moins 0.0014.</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Le Modèle B, entraîné sur 2019-2024, est le modèle le plus opérationnel.</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cible est élargie aux cas graves — tués plus hospitalisés — qui représentent 17.4% des usagers. On a 14 </a:t>
            </a:r>
            <a:r>
              <a:rPr lang="fr-FR" sz="1200" kern="1200" dirty="0" err="1">
                <a:solidFill>
                  <a:schemeClr val="tx1"/>
                </a:solidFill>
                <a:effectLst/>
                <a:latin typeface="+mn-lt"/>
                <a:ea typeface="+mn-ea"/>
                <a:cs typeface="+mn-cs"/>
              </a:rPr>
              <a:t>features</a:t>
            </a:r>
            <a:r>
              <a:rPr lang="fr-FR" sz="1200" kern="1200" dirty="0">
                <a:solidFill>
                  <a:schemeClr val="tx1"/>
                </a:solidFill>
                <a:effectLst/>
                <a:latin typeface="+mn-lt"/>
                <a:ea typeface="+mn-ea"/>
                <a:cs typeface="+mn-cs"/>
              </a:rPr>
              <a:t>, dont deux nouvelles : </a:t>
            </a:r>
            <a:r>
              <a:rPr lang="fr-FR" sz="1200" kern="1200" dirty="0" err="1">
                <a:solidFill>
                  <a:schemeClr val="tx1"/>
                </a:solidFill>
                <a:effectLst/>
                <a:latin typeface="+mn-lt"/>
                <a:ea typeface="+mn-ea"/>
                <a:cs typeface="+mn-cs"/>
              </a:rPr>
              <a:t>motor_electrique</a:t>
            </a:r>
            <a:r>
              <a:rPr lang="fr-FR" sz="1200" kern="1200" dirty="0">
                <a:solidFill>
                  <a:schemeClr val="tx1"/>
                </a:solidFill>
                <a:effectLst/>
                <a:latin typeface="+mn-lt"/>
                <a:ea typeface="+mn-ea"/>
                <a:cs typeface="+mn-cs"/>
              </a:rPr>
              <a:t> et </a:t>
            </a:r>
            <a:r>
              <a:rPr lang="fr-FR" sz="1200" kern="1200" dirty="0" err="1">
                <a:solidFill>
                  <a:schemeClr val="tx1"/>
                </a:solidFill>
                <a:effectLst/>
                <a:latin typeface="+mn-lt"/>
                <a:ea typeface="+mn-ea"/>
                <a:cs typeface="+mn-cs"/>
              </a:rPr>
              <a:t>vma_risque</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Les résultats sont très intéressants. L'AUC-ROC est de 0.8164, comparable au Modèle A. Le </a:t>
            </a:r>
            <a:r>
              <a:rPr lang="fr-FR" sz="1200" kern="1200" dirty="0" err="1">
                <a:solidFill>
                  <a:schemeClr val="tx1"/>
                </a:solidFill>
                <a:effectLst/>
                <a:latin typeface="+mn-lt"/>
                <a:ea typeface="+mn-ea"/>
                <a:cs typeface="+mn-cs"/>
              </a:rPr>
              <a:t>Recall</a:t>
            </a:r>
            <a:r>
              <a:rPr lang="fr-FR" sz="1200" kern="1200" dirty="0">
                <a:solidFill>
                  <a:schemeClr val="tx1"/>
                </a:solidFill>
                <a:effectLst/>
                <a:latin typeface="+mn-lt"/>
                <a:ea typeface="+mn-ea"/>
                <a:cs typeface="+mn-cs"/>
              </a:rPr>
              <a:t> est de 0.7873, quasiment identique. Mais la </a:t>
            </a:r>
            <a:r>
              <a:rPr lang="fr-FR" sz="1200" kern="1200" dirty="0" err="1">
                <a:solidFill>
                  <a:schemeClr val="tx1"/>
                </a:solidFill>
                <a:effectLst/>
                <a:latin typeface="+mn-lt"/>
                <a:ea typeface="+mn-ea"/>
                <a:cs typeface="+mn-cs"/>
              </a:rPr>
              <a:t>Precision</a:t>
            </a:r>
            <a:r>
              <a:rPr lang="fr-FR" sz="1200" kern="1200" dirty="0">
                <a:solidFill>
                  <a:schemeClr val="tx1"/>
                </a:solidFill>
                <a:effectLst/>
                <a:latin typeface="+mn-lt"/>
                <a:ea typeface="+mn-ea"/>
                <a:cs typeface="+mn-cs"/>
              </a:rPr>
              <a:t> monte à 0.3523, soit 4.6 fois supérieure au Modèle A. C'est logique : la cible élargie représente 17% au lieu de 2.7%, donc le ratio est beaucoup plus favorable.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Vous voyez ici la matrice de confusion et le graphique </a:t>
            </a:r>
            <a:r>
              <a:rPr lang="fr-FR" sz="1200" kern="1200" dirty="0" err="1">
                <a:solidFill>
                  <a:schemeClr val="tx1"/>
                </a:solidFill>
                <a:effectLst/>
                <a:latin typeface="+mn-lt"/>
                <a:ea typeface="+mn-ea"/>
                <a:cs typeface="+mn-cs"/>
              </a:rPr>
              <a:t>Feature</a:t>
            </a:r>
            <a:r>
              <a:rPr lang="fr-FR" sz="1200" kern="1200" dirty="0">
                <a:solidFill>
                  <a:schemeClr val="tx1"/>
                </a:solidFill>
                <a:effectLst/>
                <a:latin typeface="+mn-lt"/>
                <a:ea typeface="+mn-ea"/>
                <a:cs typeface="+mn-cs"/>
              </a:rPr>
              <a:t> Importance directement issus du notebook. Le facteur numéro 1 du Modèle B est </a:t>
            </a:r>
            <a:r>
              <a:rPr lang="fr-FR" sz="1200" kern="1200" dirty="0" err="1">
                <a:solidFill>
                  <a:schemeClr val="tx1"/>
                </a:solidFill>
                <a:effectLst/>
                <a:latin typeface="+mn-lt"/>
                <a:ea typeface="+mn-ea"/>
                <a:cs typeface="+mn-cs"/>
              </a:rPr>
              <a:t>is_vru</a:t>
            </a:r>
            <a:r>
              <a:rPr lang="fr-FR" sz="1200" kern="1200" dirty="0">
                <a:solidFill>
                  <a:schemeClr val="tx1"/>
                </a:solidFill>
                <a:effectLst/>
                <a:latin typeface="+mn-lt"/>
                <a:ea typeface="+mn-ea"/>
                <a:cs typeface="+mn-cs"/>
              </a:rPr>
              <a:t> avec un score de 0.32. Les usagers vulnérables sont le signal le plus discriminant pour prédire la gravité.</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modèle est exploitable pour un système d'alertes en temps réel.</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Ce tableau résume la comparaison côte à côte.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Trois enseignements clés.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Premier enseignement : les deux modèles convergent sur un </a:t>
            </a:r>
            <a:r>
              <a:rPr lang="fr-FR" sz="1200" kern="1200" dirty="0" err="1">
                <a:solidFill>
                  <a:schemeClr val="tx1"/>
                </a:solidFill>
                <a:effectLst/>
                <a:latin typeface="+mn-lt"/>
                <a:ea typeface="+mn-ea"/>
                <a:cs typeface="+mn-cs"/>
              </a:rPr>
              <a:t>Recall</a:t>
            </a:r>
            <a:r>
              <a:rPr lang="fr-FR" sz="1200" kern="1200" dirty="0">
                <a:solidFill>
                  <a:schemeClr val="tx1"/>
                </a:solidFill>
                <a:effectLst/>
                <a:latin typeface="+mn-lt"/>
                <a:ea typeface="+mn-ea"/>
                <a:cs typeface="+mn-cs"/>
              </a:rPr>
              <a:t> d'environ 79%. Ce n'est pas un hasard — ça valide la robustesse de notre approche. Malgré des données différentes, des cibles différentes, et des périodes différentes, le pouvoir de détection est stable.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Deuxième enseignement : les facteurs de risque dominants sont stables entre les deux périodes. L'agglomération, le type de collision, les VRU, l'âge — ce sont des facteurs structurels, pas conjoncturels. Ils ne dépendent pas de la période d'observation.</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Troisième enseignement : le Modèle B, avec sa </a:t>
            </a:r>
            <a:r>
              <a:rPr lang="fr-FR" sz="1200" kern="1200" dirty="0" err="1">
                <a:solidFill>
                  <a:schemeClr val="tx1"/>
                </a:solidFill>
                <a:effectLst/>
                <a:latin typeface="+mn-lt"/>
                <a:ea typeface="+mn-ea"/>
                <a:cs typeface="+mn-cs"/>
              </a:rPr>
              <a:t>Precision</a:t>
            </a:r>
            <a:r>
              <a:rPr lang="fr-FR" sz="1200" kern="1200" dirty="0">
                <a:solidFill>
                  <a:schemeClr val="tx1"/>
                </a:solidFill>
                <a:effectLst/>
                <a:latin typeface="+mn-lt"/>
                <a:ea typeface="+mn-ea"/>
                <a:cs typeface="+mn-cs"/>
              </a:rPr>
              <a:t> 4.6 fois supérieure, est le plus exploitable opérationnellement pour un déploiement en conditions réelles.</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Pour rendre ces analyses accessibles aux décideurs, j'ai construit un </a:t>
            </a:r>
            <a:r>
              <a:rPr lang="fr-FR" sz="1200" kern="1200" dirty="0" err="1">
                <a:solidFill>
                  <a:schemeClr val="tx1"/>
                </a:solidFill>
                <a:effectLst/>
                <a:latin typeface="+mn-lt"/>
                <a:ea typeface="+mn-ea"/>
                <a:cs typeface="+mn-cs"/>
              </a:rPr>
              <a:t>dashboard</a:t>
            </a:r>
            <a:r>
              <a:rPr lang="fr-FR" sz="1200" kern="1200" dirty="0">
                <a:solidFill>
                  <a:schemeClr val="tx1"/>
                </a:solidFill>
                <a:effectLst/>
                <a:latin typeface="+mn-lt"/>
                <a:ea typeface="+mn-ea"/>
                <a:cs typeface="+mn-cs"/>
              </a:rPr>
              <a:t> Power BI interactif en 5 pages.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Vous voyez ici les captures réelles de mon </a:t>
            </a:r>
            <a:r>
              <a:rPr lang="fr-FR" sz="1200" kern="1200" dirty="0" err="1">
                <a:solidFill>
                  <a:schemeClr val="tx1"/>
                </a:solidFill>
                <a:effectLst/>
                <a:latin typeface="+mn-lt"/>
                <a:ea typeface="+mn-ea"/>
                <a:cs typeface="+mn-cs"/>
              </a:rPr>
              <a:t>dashboard</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Page 1 donne une vue générale avec les KPIs : 1 238 920 accidents, 55 062 tués, 134 892 cas graves, un taux de gravité de 17.42%, et un AUC-ROC de 0.82.</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Page 2 présente l'analyse historique avec la courbe de tendance, le Top 15 des départements, la carte choroplèthe — que vous voyez en bas à gauche — et le tableau des départements les plus meurtriers.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Les autres pages couvrent les profils à risque, la mobilité urbaine, et les résultats Machine Learning avec les recommandations stratégiques.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C'est un véritable outil de pilotage décisionnel, avec des </a:t>
            </a:r>
            <a:r>
              <a:rPr lang="fr-FR" sz="1200" kern="1200" dirty="0" err="1">
                <a:solidFill>
                  <a:schemeClr val="tx1"/>
                </a:solidFill>
                <a:effectLst/>
                <a:latin typeface="+mn-lt"/>
                <a:ea typeface="+mn-ea"/>
                <a:cs typeface="+mn-cs"/>
              </a:rPr>
              <a:t>slicers</a:t>
            </a:r>
            <a:r>
              <a:rPr lang="fr-FR" sz="1200" kern="1200" dirty="0">
                <a:solidFill>
                  <a:schemeClr val="tx1"/>
                </a:solidFill>
                <a:effectLst/>
                <a:latin typeface="+mn-lt"/>
                <a:ea typeface="+mn-ea"/>
                <a:cs typeface="+mn-cs"/>
              </a:rPr>
              <a:t> dynamiques, du drill-</a:t>
            </a:r>
            <a:r>
              <a:rPr lang="fr-FR" sz="1200" kern="1200" dirty="0" err="1">
                <a:solidFill>
                  <a:schemeClr val="tx1"/>
                </a:solidFill>
                <a:effectLst/>
                <a:latin typeface="+mn-lt"/>
                <a:ea typeface="+mn-ea"/>
                <a:cs typeface="+mn-cs"/>
              </a:rPr>
              <a:t>through</a:t>
            </a:r>
            <a:r>
              <a:rPr lang="fr-FR" sz="1200" kern="1200" dirty="0">
                <a:solidFill>
                  <a:schemeClr val="tx1"/>
                </a:solidFill>
                <a:effectLst/>
                <a:latin typeface="+mn-lt"/>
                <a:ea typeface="+mn-ea"/>
                <a:cs typeface="+mn-cs"/>
              </a:rPr>
              <a:t> entre pages, et du </a:t>
            </a:r>
            <a:r>
              <a:rPr lang="fr-FR" sz="1200" kern="1200" dirty="0" err="1">
                <a:solidFill>
                  <a:schemeClr val="tx1"/>
                </a:solidFill>
                <a:effectLst/>
                <a:latin typeface="+mn-lt"/>
                <a:ea typeface="+mn-ea"/>
                <a:cs typeface="+mn-cs"/>
              </a:rPr>
              <a:t>conditional</a:t>
            </a:r>
            <a:r>
              <a:rPr lang="fr-FR" sz="1200" kern="1200" dirty="0">
                <a:solidFill>
                  <a:schemeClr val="tx1"/>
                </a:solidFill>
                <a:effectLst/>
                <a:latin typeface="+mn-lt"/>
                <a:ea typeface="+mn-ea"/>
                <a:cs typeface="+mn-cs"/>
              </a:rPr>
              <a:t> </a:t>
            </a:r>
            <a:r>
              <a:rPr lang="fr-FR" sz="1200" kern="1200" dirty="0" err="1">
                <a:solidFill>
                  <a:schemeClr val="tx1"/>
                </a:solidFill>
                <a:effectLst/>
                <a:latin typeface="+mn-lt"/>
                <a:ea typeface="+mn-ea"/>
                <a:cs typeface="+mn-cs"/>
              </a:rPr>
              <a:t>formatting</a:t>
            </a:r>
            <a:r>
              <a:rPr lang="fr-FR" sz="1200" kern="1200" dirty="0">
                <a:solidFill>
                  <a:schemeClr val="tx1"/>
                </a:solidFill>
                <a:effectLst/>
                <a:latin typeface="+mn-lt"/>
                <a:ea typeface="+mn-ea"/>
                <a:cs typeface="+mn-cs"/>
              </a:rPr>
              <a:t>. Il permet d'ajuster les alertes de sécurité en temps réel.</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Voici la synthèse des 5 facteurs de risque identifiés, confirmés à la fois par le Machine Learning et par l'analyse exploratoire.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nuit sans éclairage, avec un taux de gravité de 28.1% contre 12.7%.</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 hors agglomération, avec une gravité multipliée par 2 .</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Les usagers vulnérables, qui représentent 30% des accidentés avec une gravité supérieure</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Les seniors de 65 ans et plus, avec une gravité multipliée </a:t>
            </a:r>
            <a:r>
              <a:rPr lang="fr-FR" sz="1200" kern="1200">
                <a:solidFill>
                  <a:schemeClr val="tx1"/>
                </a:solidFill>
                <a:effectLst/>
                <a:latin typeface="+mn-lt"/>
                <a:ea typeface="+mn-ea"/>
                <a:cs typeface="+mn-cs"/>
              </a:rPr>
              <a:t>par 1.5.</a:t>
            </a: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Et le weekend nocturne, avec un facteur 1.5.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 facteurs sont structurels — ils sont stables sur 20 ans de données.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Ces facteurs de risque se traduisent en 5 recommandations concrètes pour un acteur Smart City.</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Recommandation 1, priorité haute : déployer un système d'alertes géolocalisées qui notifie l'usager quand il s'engage sur un tronçon non éclairé la nuit. KPI cible : réduction des accidents graves de plus de 15%.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Recommandation 2, priorité haute : exposer le Modèle B via une API de </a:t>
            </a:r>
            <a:r>
              <a:rPr lang="fr-FR" sz="1200" kern="1200" dirty="0" err="1">
                <a:solidFill>
                  <a:schemeClr val="tx1"/>
                </a:solidFill>
                <a:effectLst/>
                <a:latin typeface="+mn-lt"/>
                <a:ea typeface="+mn-ea"/>
                <a:cs typeface="+mn-cs"/>
              </a:rPr>
              <a:t>scoring</a:t>
            </a:r>
            <a:r>
              <a:rPr lang="fr-FR" sz="1200" kern="1200" dirty="0">
                <a:solidFill>
                  <a:schemeClr val="tx1"/>
                </a:solidFill>
                <a:effectLst/>
                <a:latin typeface="+mn-lt"/>
                <a:ea typeface="+mn-ea"/>
                <a:cs typeface="+mn-cs"/>
              </a:rPr>
              <a:t> pour calculer un Risk Score de 0 à 10 par itinéraire, et proposer une alternative quand le score dépasse 7. KPI : réduction du Risk Score moyen de 20% en 6 mois.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Recommandation 3, priorité haute : lancer un programme dédié aux usagers vulnérables — coaching sécurité, voies dédiées, signalement participatif. KPI : port du casque supérieur à 85%, baisse des accidents graves VRU de 20%.</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Recommandation 4, priorité moyenne : proposer une offre de mobilité adaptée pour les seniors avec des ADAS renforcés et une détection d'anomalie de conduite. KPI : réduction de la gravité pour les 65 ans et plus de 15%.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Recommandation 5, priorité moyenne : un </a:t>
            </a:r>
            <a:r>
              <a:rPr lang="fr-FR" sz="1200" kern="1200" dirty="0" err="1">
                <a:solidFill>
                  <a:schemeClr val="tx1"/>
                </a:solidFill>
                <a:effectLst/>
                <a:latin typeface="+mn-lt"/>
                <a:ea typeface="+mn-ea"/>
                <a:cs typeface="+mn-cs"/>
              </a:rPr>
              <a:t>dashboard</a:t>
            </a:r>
            <a:r>
              <a:rPr lang="fr-FR" sz="1200" kern="1200" dirty="0">
                <a:solidFill>
                  <a:schemeClr val="tx1"/>
                </a:solidFill>
                <a:effectLst/>
                <a:latin typeface="+mn-lt"/>
                <a:ea typeface="+mn-ea"/>
                <a:cs typeface="+mn-cs"/>
              </a:rPr>
              <a:t> de sécurité en temps réel avec des alertes automatiques le weekend soir. KPI : couverture des zones à risque supérieure à 95%.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sont 5 actions concrètes, mesurables et déployables.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Pour le déploiement, je propose une feuille de route en trois phases.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Court terme, dans les 6 premiers mois : déployer les alertes géolocalisées, lancer la sensibilisation VRU, et mettre en production le </a:t>
            </a:r>
            <a:r>
              <a:rPr lang="fr-FR" sz="1200" kern="1200" dirty="0" err="1">
                <a:solidFill>
                  <a:schemeClr val="tx1"/>
                </a:solidFill>
                <a:effectLst/>
                <a:latin typeface="+mn-lt"/>
                <a:ea typeface="+mn-ea"/>
                <a:cs typeface="+mn-cs"/>
              </a:rPr>
              <a:t>dashboard</a:t>
            </a:r>
            <a:r>
              <a:rPr lang="fr-FR" sz="1200" kern="1200" dirty="0">
                <a:solidFill>
                  <a:schemeClr val="tx1"/>
                </a:solidFill>
                <a:effectLst/>
                <a:latin typeface="+mn-lt"/>
                <a:ea typeface="+mn-ea"/>
                <a:cs typeface="+mn-cs"/>
              </a:rPr>
              <a:t> opérationnel.</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Moyen terme, de 6 à 18 mois : développer l'API de </a:t>
            </a:r>
            <a:r>
              <a:rPr lang="fr-FR" sz="1200" kern="1200" dirty="0" err="1">
                <a:solidFill>
                  <a:schemeClr val="tx1"/>
                </a:solidFill>
                <a:effectLst/>
                <a:latin typeface="+mn-lt"/>
                <a:ea typeface="+mn-ea"/>
                <a:cs typeface="+mn-cs"/>
              </a:rPr>
              <a:t>scoring</a:t>
            </a:r>
            <a:r>
              <a:rPr lang="fr-FR" sz="1200" kern="1200" dirty="0">
                <a:solidFill>
                  <a:schemeClr val="tx1"/>
                </a:solidFill>
                <a:effectLst/>
                <a:latin typeface="+mn-lt"/>
                <a:ea typeface="+mn-ea"/>
                <a:cs typeface="+mn-cs"/>
              </a:rPr>
              <a:t> d'itinéraires, investir dans l'infrastructure d'éclairage intelligent, et nouer des partenariats data.</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Long terme, au-delà de 18 mois : intégrer le modèle ML dans les systèmes de navigation, exploiter les données de trafic en temps réel, et implémenter l'analyse SHAP pour l'explicabilité.</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C'est un plan actionnable et progressif, pas une liste de vœux.</a:t>
            </a: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Tout projet sérieux doit être honnête sur ses limites.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Première limite : les données sont déclaratives. Les accidents non déclarés — notamment les chutes de vélo ou de trottinette sans tiers — sont absents. Ça sous-estime le risque réel pour les VRU.</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Deuxième limite : la rupture ONISR de 2019 rend les comparaisons avant-après délicates. Notre double modèle atténue ce biais mais ne l'élimine pas complètement.</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Troisième limite : le </a:t>
            </a:r>
            <a:r>
              <a:rPr lang="fr-FR" sz="1200" kern="1200" dirty="0" err="1">
                <a:solidFill>
                  <a:schemeClr val="tx1"/>
                </a:solidFill>
                <a:effectLst/>
                <a:latin typeface="+mn-lt"/>
                <a:ea typeface="+mn-ea"/>
                <a:cs typeface="+mn-cs"/>
              </a:rPr>
              <a:t>Recall</a:t>
            </a:r>
            <a:r>
              <a:rPr lang="fr-FR" sz="1200" kern="1200" dirty="0">
                <a:solidFill>
                  <a:schemeClr val="tx1"/>
                </a:solidFill>
                <a:effectLst/>
                <a:latin typeface="+mn-lt"/>
                <a:ea typeface="+mn-ea"/>
                <a:cs typeface="+mn-cs"/>
              </a:rPr>
              <a:t> de 79% signifie que 21% des accidents graves ne sont pas détectés. Le modèle est une aide à la décision, pas un décideur autonome.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Quatrième limite : des variables importantes manquent — l'alcoolémie, la vitesse réelle, l'usage du téléphone au volant.</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En termes de perspectives, quatre pistes. L'enrichissement avec les données météo temps réel de Météo-France et les données de trafic. L'utilisation de modèles plus avancés comme </a:t>
            </a:r>
            <a:r>
              <a:rPr lang="fr-FR" sz="1200" kern="1200" dirty="0" err="1">
                <a:solidFill>
                  <a:schemeClr val="tx1"/>
                </a:solidFill>
                <a:effectLst/>
                <a:latin typeface="+mn-lt"/>
                <a:ea typeface="+mn-ea"/>
                <a:cs typeface="+mn-cs"/>
              </a:rPr>
              <a:t>XGBoost</a:t>
            </a:r>
            <a:r>
              <a:rPr lang="fr-FR" sz="1200" kern="1200" dirty="0">
                <a:solidFill>
                  <a:schemeClr val="tx1"/>
                </a:solidFill>
                <a:effectLst/>
                <a:latin typeface="+mn-lt"/>
                <a:ea typeface="+mn-ea"/>
                <a:cs typeface="+mn-cs"/>
              </a:rPr>
              <a:t> avec l'analyse SHAP pour l'explicabilité. Le déploiement via une API temps réel. Et une piste spécifique Smart City : l'exploitation de la télémétrie des capteurs embarqués pour pallier l'absence de données sur la vitesse réelle et la fatigue.</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Un modèle honnête sur ses limites est un modèle crédible.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Pour conclure, en trois points.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que nous avons fait : un pipeline complet sur 20 ans de données BAAC, soit 2,8 millions d'usagers, un double modèle de Machine Learning, et un </a:t>
            </a:r>
            <a:r>
              <a:rPr lang="fr-FR" sz="1200" kern="1200" dirty="0" err="1">
                <a:solidFill>
                  <a:schemeClr val="tx1"/>
                </a:solidFill>
                <a:effectLst/>
                <a:latin typeface="+mn-lt"/>
                <a:ea typeface="+mn-ea"/>
                <a:cs typeface="+mn-cs"/>
              </a:rPr>
              <a:t>dashboard</a:t>
            </a:r>
            <a:r>
              <a:rPr lang="fr-FR" sz="1200" kern="1200" dirty="0">
                <a:solidFill>
                  <a:schemeClr val="tx1"/>
                </a:solidFill>
                <a:effectLst/>
                <a:latin typeface="+mn-lt"/>
                <a:ea typeface="+mn-ea"/>
                <a:cs typeface="+mn-cs"/>
              </a:rPr>
              <a:t> Power BI interactif en 5 pages.</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que nous avons trouvé : 5 facteurs de risque structurels, stables sur 20 ans, avec un AUC supérieur à 0.80 et un </a:t>
            </a:r>
            <a:r>
              <a:rPr lang="fr-FR" sz="1200" kern="1200" dirty="0" err="1">
                <a:solidFill>
                  <a:schemeClr val="tx1"/>
                </a:solidFill>
                <a:effectLst/>
                <a:latin typeface="+mn-lt"/>
                <a:ea typeface="+mn-ea"/>
                <a:cs typeface="+mn-cs"/>
              </a:rPr>
              <a:t>Recall</a:t>
            </a:r>
            <a:r>
              <a:rPr lang="fr-FR" sz="1200" kern="1200" dirty="0">
                <a:solidFill>
                  <a:schemeClr val="tx1"/>
                </a:solidFill>
                <a:effectLst/>
                <a:latin typeface="+mn-lt"/>
                <a:ea typeface="+mn-ea"/>
                <a:cs typeface="+mn-cs"/>
              </a:rPr>
              <a:t> d'environ 79% — le modèle détecte correctement 4 accidents graves sur 5.</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Ce que cela permet : 5 recommandations opérationnelles avec des KPIs mesurables, directement exploitables par un acteur Smart City comme Circle </a:t>
            </a:r>
            <a:r>
              <a:rPr lang="fr-FR" sz="1200" kern="1200" dirty="0" err="1">
                <a:solidFill>
                  <a:schemeClr val="tx1"/>
                </a:solidFill>
                <a:effectLst/>
                <a:latin typeface="+mn-lt"/>
                <a:ea typeface="+mn-ea"/>
                <a:cs typeface="+mn-cs"/>
              </a:rPr>
              <a:t>Mobility</a:t>
            </a:r>
            <a:r>
              <a:rPr lang="fr-FR" sz="1200" kern="1200" dirty="0">
                <a:solidFill>
                  <a:schemeClr val="tx1"/>
                </a:solidFill>
                <a:effectLst/>
                <a:latin typeface="+mn-lt"/>
                <a:ea typeface="+mn-ea"/>
                <a:cs typeface="+mn-cs"/>
              </a:rPr>
              <a:t>.</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dirty="0">
                <a:solidFill>
                  <a:schemeClr val="tx1"/>
                </a:solidFill>
                <a:effectLst/>
                <a:latin typeface="+mn-lt"/>
                <a:ea typeface="+mn-ea"/>
                <a:cs typeface="+mn-cs"/>
              </a:rPr>
              <a:t>La data au service de la sécurité des usagers — c'est l'ambition de la Smart City.</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endParaRPr lang="fr-FR"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fr-FR"/>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1"/>
                </a:solidFill>
                <a:effectLst/>
                <a:latin typeface="+mn-lt"/>
                <a:ea typeface="+mn-ea"/>
                <a:cs typeface="+mn-cs"/>
              </a:rPr>
              <a:t>Je vous remercie pour votre attention.</a:t>
            </a:r>
            <a:br>
              <a:rPr lang="fr-FR" sz="1200" kern="1200" dirty="0">
                <a:solidFill>
                  <a:schemeClr val="tx1"/>
                </a:solidFill>
                <a:effectLst/>
                <a:latin typeface="+mn-lt"/>
                <a:ea typeface="+mn-ea"/>
                <a:cs typeface="+mn-cs"/>
              </a:rPr>
            </a:br>
            <a:br>
              <a:rPr lang="fr-FR" sz="1200" kern="1200" dirty="0">
                <a:solidFill>
                  <a:schemeClr val="tx1"/>
                </a:solidFill>
                <a:effectLst/>
                <a:latin typeface="+mn-lt"/>
                <a:ea typeface="+mn-ea"/>
                <a:cs typeface="+mn-cs"/>
              </a:rPr>
            </a:br>
            <a:r>
              <a:rPr lang="fr-FR" sz="1200" kern="1200">
                <a:solidFill>
                  <a:schemeClr val="tx1"/>
                </a:solidFill>
                <a:effectLst/>
                <a:latin typeface="+mn-lt"/>
                <a:ea typeface="+mn-ea"/>
                <a:cs typeface="+mn-cs"/>
              </a:rPr>
              <a:t>Je suis à votre disposition pour vos questions.</a:t>
            </a:r>
            <a:br>
              <a:rPr lang="fr-FR" sz="1200" kern="1200">
                <a:solidFill>
                  <a:schemeClr val="tx1"/>
                </a:solidFill>
                <a:effectLst/>
                <a:latin typeface="+mn-lt"/>
                <a:ea typeface="+mn-ea"/>
                <a:cs typeface="+mn-cs"/>
              </a:rPr>
            </a:br>
            <a:endParaRPr lang="fr-FR" sz="1200" kern="120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a:effectLst/>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142D4A"/>
          </a:solidFill>
          <a:ln/>
        </p:spPr>
        <p:txBody>
          <a:bodyPr/>
          <a:lstStyle/>
          <a:p>
            <a:endParaRPr lang="fr-FR"/>
          </a:p>
        </p:txBody>
      </p:sp>
      <p:sp>
        <p:nvSpPr>
          <p:cNvPr id="3" name="Text 1"/>
          <p:cNvSpPr/>
          <p:nvPr/>
        </p:nvSpPr>
        <p:spPr>
          <a:xfrm>
            <a:off x="731520" y="731520"/>
            <a:ext cx="7680960" cy="2011680"/>
          </a:xfrm>
          <a:prstGeom prst="rect">
            <a:avLst/>
          </a:prstGeom>
          <a:noFill/>
          <a:ln/>
        </p:spPr>
        <p:txBody>
          <a:bodyPr wrap="square" rtlCol="0" anchor="ctr"/>
          <a:lstStyle/>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ANALYSE PRÉDICTIVE</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DES ACCIDENTS ROUTIERS</a:t>
            </a:r>
            <a:endParaRPr lang="en-US" sz="3600" dirty="0"/>
          </a:p>
          <a:p>
            <a:pPr marL="0" indent="0">
              <a:lnSpc>
                <a:spcPct val="110000"/>
              </a:lnSpc>
              <a:buNone/>
            </a:pPr>
            <a:r>
              <a:rPr lang="en-US" sz="3600" b="1" dirty="0">
                <a:solidFill>
                  <a:srgbClr val="FFFFFF"/>
                </a:solidFill>
                <a:latin typeface="Trebuchet MS" pitchFamily="34" charset="0"/>
                <a:ea typeface="Trebuchet MS" pitchFamily="34" charset="-122"/>
                <a:cs typeface="Trebuchet MS" pitchFamily="34" charset="-120"/>
              </a:rPr>
              <a:t>EN FRANCE</a:t>
            </a:r>
            <a:endParaRPr lang="en-US" sz="3600" dirty="0"/>
          </a:p>
        </p:txBody>
      </p:sp>
      <p:sp>
        <p:nvSpPr>
          <p:cNvPr id="4" name="Text 2"/>
          <p:cNvSpPr/>
          <p:nvPr/>
        </p:nvSpPr>
        <p:spPr>
          <a:xfrm>
            <a:off x="731520" y="2743200"/>
            <a:ext cx="7315200" cy="457200"/>
          </a:xfrm>
          <a:prstGeom prst="rect">
            <a:avLst/>
          </a:prstGeom>
          <a:noFill/>
          <a:ln/>
        </p:spPr>
        <p:txBody>
          <a:bodyPr wrap="square" rtlCol="0" anchor="ctr"/>
          <a:lstStyle/>
          <a:p>
            <a:pPr marL="0" indent="0">
              <a:buNone/>
            </a:pPr>
            <a:r>
              <a:rPr lang="en-US" sz="2000" i="1" dirty="0">
                <a:solidFill>
                  <a:srgbClr val="14B8A6"/>
                </a:solidFill>
                <a:latin typeface="Calibri" pitchFamily="34" charset="0"/>
                <a:ea typeface="Calibri" pitchFamily="34" charset="-122"/>
                <a:cs typeface="Calibri" pitchFamily="34" charset="-120"/>
              </a:rPr>
              <a:t>Vers une Mobilité Urbaine Plus Sûre</a:t>
            </a:r>
            <a:endParaRPr lang="en-US" sz="2000" dirty="0"/>
          </a:p>
        </p:txBody>
      </p:sp>
      <p:sp>
        <p:nvSpPr>
          <p:cNvPr id="5" name="Shape 3"/>
          <p:cNvSpPr/>
          <p:nvPr/>
        </p:nvSpPr>
        <p:spPr>
          <a:xfrm>
            <a:off x="731520" y="3291840"/>
            <a:ext cx="1828800" cy="36576"/>
          </a:xfrm>
          <a:prstGeom prst="rect">
            <a:avLst/>
          </a:prstGeom>
          <a:solidFill>
            <a:srgbClr val="14B8A6"/>
          </a:solidFill>
          <a:ln/>
        </p:spPr>
        <p:txBody>
          <a:bodyPr/>
          <a:lstStyle/>
          <a:p>
            <a:endParaRPr lang="fr-FR"/>
          </a:p>
        </p:txBody>
      </p:sp>
      <p:sp>
        <p:nvSpPr>
          <p:cNvPr id="6" name="Text 4"/>
          <p:cNvSpPr/>
          <p:nvPr/>
        </p:nvSpPr>
        <p:spPr>
          <a:xfrm>
            <a:off x="657179" y="3728875"/>
            <a:ext cx="4572000" cy="365760"/>
          </a:xfrm>
          <a:prstGeom prst="rect">
            <a:avLst/>
          </a:prstGeom>
          <a:noFill/>
          <a:ln/>
        </p:spPr>
        <p:txBody>
          <a:bodyPr wrap="square" rtlCol="0" anchor="ctr"/>
          <a:lstStyle/>
          <a:p>
            <a:pPr marL="0" indent="0">
              <a:buNone/>
            </a:pPr>
            <a:r>
              <a:rPr lang="en-US" sz="1600" dirty="0">
                <a:solidFill>
                  <a:srgbClr val="FFFFFF"/>
                </a:solidFill>
              </a:rPr>
              <a:t>Hamza Yousfi — Datasuits 2026</a:t>
            </a:r>
            <a:endParaRPr lang="en-US" sz="1600" dirty="0"/>
          </a:p>
        </p:txBody>
      </p:sp>
      <p:sp>
        <p:nvSpPr>
          <p:cNvPr id="7" name="Text 5"/>
          <p:cNvSpPr/>
          <p:nvPr/>
        </p:nvSpPr>
        <p:spPr>
          <a:xfrm>
            <a:off x="657179" y="3314700"/>
            <a:ext cx="4572000" cy="320040"/>
          </a:xfrm>
          <a:prstGeom prst="rect">
            <a:avLst/>
          </a:prstGeom>
          <a:noFill/>
          <a:ln/>
        </p:spPr>
        <p:txBody>
          <a:bodyPr wrap="square" rtlCol="0" anchor="ctr"/>
          <a:lstStyle/>
          <a:p>
            <a:pPr marL="0" indent="0">
              <a:buNone/>
            </a:pPr>
            <a:r>
              <a:rPr lang="en-US" sz="1400" dirty="0">
                <a:solidFill>
                  <a:srgbClr val="E2E8F0"/>
                </a:solidFill>
              </a:rPr>
              <a:t>Smart City (ex : Circle Mobility)</a:t>
            </a:r>
            <a:endParaRPr lang="en-US" sz="1400" dirty="0"/>
          </a:p>
        </p:txBody>
      </p:sp>
      <p:sp>
        <p:nvSpPr>
          <p:cNvPr id="8" name="Text 6"/>
          <p:cNvSpPr/>
          <p:nvPr/>
        </p:nvSpPr>
        <p:spPr>
          <a:xfrm>
            <a:off x="731520" y="4297680"/>
            <a:ext cx="2743200" cy="274320"/>
          </a:xfrm>
          <a:prstGeom prst="rect">
            <a:avLst/>
          </a:prstGeom>
          <a:noFill/>
          <a:ln/>
        </p:spPr>
        <p:txBody>
          <a:bodyPr wrap="square" rtlCol="0" anchor="ctr"/>
          <a:lstStyle/>
          <a:p>
            <a:pPr marL="0" indent="0">
              <a:buNone/>
            </a:pPr>
            <a:r>
              <a:rPr lang="en-US" sz="1200" dirty="0">
                <a:solidFill>
                  <a:srgbClr val="64748B"/>
                </a:solidFill>
              </a:rPr>
              <a:t>Avril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Contexte &amp; Enjeux</a:t>
            </a:r>
            <a:endParaRPr lang="en-US" sz="2800" dirty="0"/>
          </a:p>
        </p:txBody>
      </p:sp>
      <p:sp>
        <p:nvSpPr>
          <p:cNvPr id="3" name="Shape 1"/>
          <p:cNvSpPr/>
          <p:nvPr/>
        </p:nvSpPr>
        <p:spPr>
          <a:xfrm>
            <a:off x="457200" y="1005840"/>
            <a:ext cx="2560320" cy="1463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4" name="Shape 2"/>
          <p:cNvSpPr/>
          <p:nvPr/>
        </p:nvSpPr>
        <p:spPr>
          <a:xfrm>
            <a:off x="457200" y="1005840"/>
            <a:ext cx="2560320" cy="54864"/>
          </a:xfrm>
          <a:prstGeom prst="rect">
            <a:avLst/>
          </a:prstGeom>
          <a:solidFill>
            <a:srgbClr val="DC3545"/>
          </a:solidFill>
          <a:ln/>
        </p:spPr>
        <p:txBody>
          <a:bodyPr/>
          <a:lstStyle/>
          <a:p>
            <a:endParaRPr lang="fr-FR"/>
          </a:p>
        </p:txBody>
      </p:sp>
      <p:sp>
        <p:nvSpPr>
          <p:cNvPr id="5" name="Text 3"/>
          <p:cNvSpPr/>
          <p:nvPr/>
        </p:nvSpPr>
        <p:spPr>
          <a:xfrm>
            <a:off x="457200" y="1143000"/>
            <a:ext cx="2560320" cy="548640"/>
          </a:xfrm>
          <a:prstGeom prst="rect">
            <a:avLst/>
          </a:prstGeom>
          <a:noFill/>
          <a:ln/>
        </p:spPr>
        <p:txBody>
          <a:bodyPr wrap="square" rtlCol="0" anchor="ctr"/>
          <a:lstStyle/>
          <a:p>
            <a:pPr marL="0" indent="0" algn="ctr">
              <a:buNone/>
            </a:pPr>
            <a:r>
              <a:rPr lang="en-US" sz="2600" b="1" dirty="0">
                <a:solidFill>
                  <a:srgbClr val="DC3545"/>
                </a:solidFill>
              </a:rPr>
              <a:t>~3 400</a:t>
            </a:r>
            <a:endParaRPr lang="en-US" sz="2600" dirty="0"/>
          </a:p>
        </p:txBody>
      </p:sp>
      <p:sp>
        <p:nvSpPr>
          <p:cNvPr id="6" name="Text 4"/>
          <p:cNvSpPr/>
          <p:nvPr/>
        </p:nvSpPr>
        <p:spPr>
          <a:xfrm>
            <a:off x="457200" y="1691640"/>
            <a:ext cx="2560320" cy="640080"/>
          </a:xfrm>
          <a:prstGeom prst="rect">
            <a:avLst/>
          </a:prstGeom>
          <a:noFill/>
          <a:ln/>
        </p:spPr>
        <p:txBody>
          <a:bodyPr wrap="square" rtlCol="0" anchor="ctr"/>
          <a:lstStyle/>
          <a:p>
            <a:pPr marL="0" indent="0" algn="ctr">
              <a:buNone/>
            </a:pPr>
            <a:r>
              <a:rPr lang="en-US" sz="1100" dirty="0">
                <a:solidFill>
                  <a:srgbClr val="64748B"/>
                </a:solidFill>
              </a:rPr>
              <a:t>Tués par an</a:t>
            </a:r>
            <a:endParaRPr lang="en-US" sz="1100" dirty="0"/>
          </a:p>
          <a:p>
            <a:pPr marL="0" indent="0" algn="ctr">
              <a:buNone/>
            </a:pPr>
            <a:r>
              <a:rPr lang="en-US" sz="1100" dirty="0">
                <a:solidFill>
                  <a:srgbClr val="64748B"/>
                </a:solidFill>
              </a:rPr>
              <a:t>sur les routes françaises</a:t>
            </a:r>
            <a:endParaRPr lang="en-US" sz="1100" dirty="0"/>
          </a:p>
        </p:txBody>
      </p:sp>
      <p:sp>
        <p:nvSpPr>
          <p:cNvPr id="7" name="Shape 5"/>
          <p:cNvSpPr/>
          <p:nvPr/>
        </p:nvSpPr>
        <p:spPr>
          <a:xfrm>
            <a:off x="3291840" y="1005840"/>
            <a:ext cx="2560320" cy="1463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8" name="Shape 6"/>
          <p:cNvSpPr/>
          <p:nvPr/>
        </p:nvSpPr>
        <p:spPr>
          <a:xfrm>
            <a:off x="3291840" y="1005840"/>
            <a:ext cx="2560320" cy="54864"/>
          </a:xfrm>
          <a:prstGeom prst="rect">
            <a:avLst/>
          </a:prstGeom>
          <a:solidFill>
            <a:srgbClr val="E67E22"/>
          </a:solidFill>
          <a:ln/>
        </p:spPr>
        <p:txBody>
          <a:bodyPr/>
          <a:lstStyle/>
          <a:p>
            <a:endParaRPr lang="fr-FR"/>
          </a:p>
        </p:txBody>
      </p:sp>
      <p:sp>
        <p:nvSpPr>
          <p:cNvPr id="9" name="Text 7"/>
          <p:cNvSpPr/>
          <p:nvPr/>
        </p:nvSpPr>
        <p:spPr>
          <a:xfrm>
            <a:off x="3291840" y="1143000"/>
            <a:ext cx="2560320" cy="548640"/>
          </a:xfrm>
          <a:prstGeom prst="rect">
            <a:avLst/>
          </a:prstGeom>
          <a:noFill/>
          <a:ln/>
        </p:spPr>
        <p:txBody>
          <a:bodyPr wrap="square" rtlCol="0" anchor="ctr"/>
          <a:lstStyle/>
          <a:p>
            <a:pPr marL="0" indent="0" algn="ctr">
              <a:buNone/>
            </a:pPr>
            <a:r>
              <a:rPr lang="en-US" sz="2600" b="1" dirty="0">
                <a:solidFill>
                  <a:srgbClr val="E67E22"/>
                </a:solidFill>
              </a:rPr>
              <a:t>~73 000</a:t>
            </a:r>
            <a:endParaRPr lang="en-US" sz="2600" dirty="0"/>
          </a:p>
        </p:txBody>
      </p:sp>
      <p:sp>
        <p:nvSpPr>
          <p:cNvPr id="10" name="Text 8"/>
          <p:cNvSpPr/>
          <p:nvPr/>
        </p:nvSpPr>
        <p:spPr>
          <a:xfrm>
            <a:off x="3291840" y="1691640"/>
            <a:ext cx="2560320" cy="640080"/>
          </a:xfrm>
          <a:prstGeom prst="rect">
            <a:avLst/>
          </a:prstGeom>
          <a:noFill/>
          <a:ln/>
        </p:spPr>
        <p:txBody>
          <a:bodyPr wrap="square" rtlCol="0" anchor="ctr"/>
          <a:lstStyle/>
          <a:p>
            <a:pPr marL="0" indent="0" algn="ctr">
              <a:buNone/>
            </a:pPr>
            <a:r>
              <a:rPr lang="en-US" sz="1100" dirty="0">
                <a:solidFill>
                  <a:srgbClr val="64748B"/>
                </a:solidFill>
              </a:rPr>
              <a:t>Blessés hospitalisés</a:t>
            </a:r>
            <a:endParaRPr lang="en-US" sz="1100" dirty="0"/>
          </a:p>
          <a:p>
            <a:pPr marL="0" indent="0" algn="ctr">
              <a:buNone/>
            </a:pPr>
            <a:r>
              <a:rPr lang="en-US" sz="1100" dirty="0">
                <a:solidFill>
                  <a:srgbClr val="64748B"/>
                </a:solidFill>
              </a:rPr>
              <a:t>chaque année</a:t>
            </a:r>
            <a:endParaRPr lang="en-US" sz="1100" dirty="0"/>
          </a:p>
        </p:txBody>
      </p:sp>
      <p:sp>
        <p:nvSpPr>
          <p:cNvPr id="11" name="Shape 9"/>
          <p:cNvSpPr/>
          <p:nvPr/>
        </p:nvSpPr>
        <p:spPr>
          <a:xfrm>
            <a:off x="6126480" y="1005840"/>
            <a:ext cx="2560320" cy="1463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2" name="Shape 10"/>
          <p:cNvSpPr/>
          <p:nvPr/>
        </p:nvSpPr>
        <p:spPr>
          <a:xfrm>
            <a:off x="6126480" y="1005840"/>
            <a:ext cx="2560320" cy="54864"/>
          </a:xfrm>
          <a:prstGeom prst="rect">
            <a:avLst/>
          </a:prstGeom>
          <a:solidFill>
            <a:srgbClr val="1B3A5C"/>
          </a:solidFill>
          <a:ln/>
        </p:spPr>
        <p:txBody>
          <a:bodyPr/>
          <a:lstStyle/>
          <a:p>
            <a:endParaRPr lang="fr-FR"/>
          </a:p>
        </p:txBody>
      </p:sp>
      <p:sp>
        <p:nvSpPr>
          <p:cNvPr id="13" name="Text 11"/>
          <p:cNvSpPr/>
          <p:nvPr/>
        </p:nvSpPr>
        <p:spPr>
          <a:xfrm>
            <a:off x="6126480" y="1143000"/>
            <a:ext cx="2560320" cy="548640"/>
          </a:xfrm>
          <a:prstGeom prst="rect">
            <a:avLst/>
          </a:prstGeom>
          <a:noFill/>
          <a:ln/>
        </p:spPr>
        <p:txBody>
          <a:bodyPr wrap="square" rtlCol="0" anchor="ctr"/>
          <a:lstStyle/>
          <a:p>
            <a:pPr marL="0" indent="0" algn="ctr">
              <a:buNone/>
            </a:pPr>
            <a:r>
              <a:rPr lang="en-US" sz="2600" b="1" dirty="0">
                <a:solidFill>
                  <a:srgbClr val="1B3A5C"/>
                </a:solidFill>
              </a:rPr>
              <a:t>50 Mds€</a:t>
            </a:r>
            <a:endParaRPr lang="en-US" sz="2600" dirty="0"/>
          </a:p>
        </p:txBody>
      </p:sp>
      <p:sp>
        <p:nvSpPr>
          <p:cNvPr id="14" name="Text 12"/>
          <p:cNvSpPr/>
          <p:nvPr/>
        </p:nvSpPr>
        <p:spPr>
          <a:xfrm>
            <a:off x="6126480" y="1691640"/>
            <a:ext cx="2560320" cy="640080"/>
          </a:xfrm>
          <a:prstGeom prst="rect">
            <a:avLst/>
          </a:prstGeom>
          <a:noFill/>
          <a:ln/>
        </p:spPr>
        <p:txBody>
          <a:bodyPr wrap="square" rtlCol="0" anchor="ctr"/>
          <a:lstStyle/>
          <a:p>
            <a:pPr marL="0" indent="0" algn="ctr">
              <a:buNone/>
            </a:pPr>
            <a:r>
              <a:rPr lang="en-US" sz="1100" dirty="0">
                <a:solidFill>
                  <a:srgbClr val="64748B"/>
                </a:solidFill>
              </a:rPr>
              <a:t>Coût annuel estimé</a:t>
            </a:r>
            <a:endParaRPr lang="en-US" sz="1100" dirty="0"/>
          </a:p>
          <a:p>
            <a:pPr marL="0" indent="0" algn="ctr">
              <a:buNone/>
            </a:pPr>
            <a:r>
              <a:rPr lang="en-US" sz="1100" dirty="0">
                <a:solidFill>
                  <a:srgbClr val="64748B"/>
                </a:solidFill>
              </a:rPr>
              <a:t>des accidents routiers</a:t>
            </a:r>
            <a:endParaRPr lang="en-US" sz="1100" dirty="0"/>
          </a:p>
        </p:txBody>
      </p:sp>
      <p:sp>
        <p:nvSpPr>
          <p:cNvPr id="15" name="Text 13"/>
          <p:cNvSpPr/>
          <p:nvPr/>
        </p:nvSpPr>
        <p:spPr>
          <a:xfrm>
            <a:off x="457200" y="2560320"/>
            <a:ext cx="8229600" cy="228600"/>
          </a:xfrm>
          <a:prstGeom prst="rect">
            <a:avLst/>
          </a:prstGeom>
          <a:noFill/>
          <a:ln/>
        </p:spPr>
        <p:txBody>
          <a:bodyPr wrap="square" rtlCol="0" anchor="ctr"/>
          <a:lstStyle/>
          <a:p>
            <a:pPr marL="0" indent="0">
              <a:buNone/>
            </a:pPr>
            <a:r>
              <a:rPr lang="en-US" sz="900" i="1" dirty="0">
                <a:solidFill>
                  <a:srgbClr val="64748B"/>
                </a:solidFill>
              </a:rPr>
              <a:t>Source : Statistiques nationales ONISR — Vision Macro de l'accidentalité en France</a:t>
            </a:r>
            <a:endParaRPr lang="en-US" sz="900" dirty="0"/>
          </a:p>
        </p:txBody>
      </p:sp>
      <p:sp>
        <p:nvSpPr>
          <p:cNvPr id="16" name="Text 14"/>
          <p:cNvSpPr/>
          <p:nvPr/>
        </p:nvSpPr>
        <p:spPr>
          <a:xfrm>
            <a:off x="457200" y="2834640"/>
            <a:ext cx="8229600" cy="1645920"/>
          </a:xfrm>
          <a:prstGeom prst="rect">
            <a:avLst/>
          </a:prstGeom>
          <a:noFill/>
          <a:ln/>
        </p:spPr>
        <p:txBody>
          <a:bodyPr wrap="square" rtlCol="0" anchor="ctr"/>
          <a:lstStyle/>
          <a:p>
            <a:pPr marL="0" indent="0">
              <a:buNone/>
            </a:pPr>
            <a:r>
              <a:rPr lang="en-US" sz="1400" b="1" dirty="0">
                <a:solidFill>
                  <a:srgbClr val="1B3A5C"/>
                </a:solidFill>
              </a:rPr>
              <a:t>Pourquoi la Smart City a besoin de data :</a:t>
            </a:r>
            <a:endParaRPr lang="en-US" sz="1400" dirty="0"/>
          </a:p>
          <a:p>
            <a:pPr marL="0" indent="0">
              <a:buNone/>
            </a:pPr>
            <a:r>
              <a:rPr lang="en-US" sz="1200" dirty="0">
                <a:solidFill>
                  <a:srgbClr val="1E293B"/>
                </a:solidFill>
              </a:rPr>
              <a:t>Les acteurs de la mobilité urbaine Smart City (ex : Circle Mobility) ont besoin de données fiables pour optimiser la sécurité de leurs usagers, planifier des itinéraires sûrs et anticiper les zones à risque.</a:t>
            </a:r>
            <a:endParaRPr lang="en-US" sz="1400" dirty="0"/>
          </a:p>
          <a:p>
            <a:pPr marL="0" indent="0">
              <a:buNone/>
            </a:pPr>
            <a:endParaRPr lang="en-US" sz="1400" dirty="0"/>
          </a:p>
          <a:p>
            <a:pPr marL="0" indent="0">
              <a:buNone/>
            </a:pPr>
            <a:r>
              <a:rPr lang="en-US" sz="1300" b="1" i="1" dirty="0">
                <a:solidFill>
                  <a:srgbClr val="0D9488"/>
                </a:solidFill>
              </a:rPr>
              <a:t>La donnée est au cœur de la sécurité des usagers.</a:t>
            </a:r>
            <a:endParaRPr lang="en-US" sz="1400" dirty="0"/>
          </a:p>
        </p:txBody>
      </p:sp>
      <p:sp>
        <p:nvSpPr>
          <p:cNvPr id="17" name="Text 15"/>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18" name="Text 16"/>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2 / 20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Problématique &amp; Objectifs</a:t>
            </a:r>
            <a:endParaRPr lang="en-US" sz="2800" dirty="0"/>
          </a:p>
        </p:txBody>
      </p:sp>
      <p:sp>
        <p:nvSpPr>
          <p:cNvPr id="3" name="Shape 1"/>
          <p:cNvSpPr/>
          <p:nvPr/>
        </p:nvSpPr>
        <p:spPr>
          <a:xfrm>
            <a:off x="457200" y="1005840"/>
            <a:ext cx="8229600" cy="914400"/>
          </a:xfrm>
          <a:prstGeom prst="rect">
            <a:avLst/>
          </a:prstGeom>
          <a:solidFill>
            <a:srgbClr val="1B3A5C"/>
          </a:solidFill>
          <a:ln/>
          <a:effectLst>
            <a:outerShdw blurRad="50800" dist="25400" dir="8100000" algn="bl" rotWithShape="0">
              <a:srgbClr val="000000">
                <a:alpha val="12000"/>
              </a:srgbClr>
            </a:outerShdw>
          </a:effectLst>
        </p:spPr>
        <p:txBody>
          <a:bodyPr/>
          <a:lstStyle/>
          <a:p>
            <a:endParaRPr lang="fr-FR"/>
          </a:p>
        </p:txBody>
      </p:sp>
      <p:sp>
        <p:nvSpPr>
          <p:cNvPr id="4" name="Text 2"/>
          <p:cNvSpPr/>
          <p:nvPr/>
        </p:nvSpPr>
        <p:spPr>
          <a:xfrm>
            <a:off x="640080" y="1051560"/>
            <a:ext cx="7863840" cy="822960"/>
          </a:xfrm>
          <a:prstGeom prst="rect">
            <a:avLst/>
          </a:prstGeom>
          <a:noFill/>
          <a:ln/>
        </p:spPr>
        <p:txBody>
          <a:bodyPr wrap="square" rtlCol="0" anchor="ctr"/>
          <a:lstStyle/>
          <a:p>
            <a:pPr marL="0" indent="0" algn="ctr">
              <a:buNone/>
            </a:pPr>
            <a:r>
              <a:rPr lang="en-US" sz="1600" i="1" dirty="0">
                <a:solidFill>
                  <a:srgbClr val="FFFFFF"/>
                </a:solidFill>
              </a:rPr>
              <a:t>Quels facteurs combinés augmentent le risque d'accident grave,</a:t>
            </a:r>
            <a:endParaRPr lang="en-US" sz="1600" dirty="0"/>
          </a:p>
          <a:p>
            <a:pPr marL="0" indent="0" algn="ctr">
              <a:buNone/>
            </a:pPr>
            <a:r>
              <a:rPr lang="en-US" sz="1600" i="1" dirty="0">
                <a:solidFill>
                  <a:srgbClr val="FFFFFF"/>
                </a:solidFill>
              </a:rPr>
              <a:t>et comment un acteur Smart City peut-il les anticiper ?</a:t>
            </a:r>
            <a:endParaRPr lang="en-US" sz="1600" dirty="0"/>
          </a:p>
        </p:txBody>
      </p:sp>
      <p:sp>
        <p:nvSpPr>
          <p:cNvPr id="5" name="Shape 3"/>
          <p:cNvSpPr/>
          <p:nvPr/>
        </p:nvSpPr>
        <p:spPr>
          <a:xfrm>
            <a:off x="457200" y="2286000"/>
            <a:ext cx="2560320" cy="21945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6" name="Shape 4"/>
          <p:cNvSpPr/>
          <p:nvPr/>
        </p:nvSpPr>
        <p:spPr>
          <a:xfrm>
            <a:off x="1371600" y="2423160"/>
            <a:ext cx="640080" cy="640080"/>
          </a:xfrm>
          <a:prstGeom prst="ellipse">
            <a:avLst/>
          </a:prstGeom>
          <a:solidFill>
            <a:srgbClr val="2E75B6"/>
          </a:solidFill>
          <a:ln/>
        </p:spPr>
        <p:txBody>
          <a:bodyPr/>
          <a:lstStyle/>
          <a:p>
            <a:endParaRPr lang="fr-FR"/>
          </a:p>
        </p:txBody>
      </p:sp>
      <p:sp>
        <p:nvSpPr>
          <p:cNvPr id="7" name="Text 5"/>
          <p:cNvSpPr/>
          <p:nvPr/>
        </p:nvSpPr>
        <p:spPr>
          <a:xfrm>
            <a:off x="1371600" y="2423160"/>
            <a:ext cx="640080" cy="640080"/>
          </a:xfrm>
          <a:prstGeom prst="rect">
            <a:avLst/>
          </a:prstGeom>
          <a:noFill/>
          <a:ln/>
        </p:spPr>
        <p:txBody>
          <a:bodyPr wrap="square" rtlCol="0" anchor="ctr"/>
          <a:lstStyle/>
          <a:p>
            <a:pPr marL="0" indent="0" algn="ctr">
              <a:buNone/>
            </a:pPr>
            <a:r>
              <a:rPr lang="en-US" sz="2200" b="1" dirty="0">
                <a:solidFill>
                  <a:srgbClr val="FFFFFF"/>
                </a:solidFill>
              </a:rPr>
              <a:t>1</a:t>
            </a:r>
            <a:endParaRPr lang="en-US" sz="2200" dirty="0"/>
          </a:p>
        </p:txBody>
      </p:sp>
      <p:sp>
        <p:nvSpPr>
          <p:cNvPr id="8" name="Text 6"/>
          <p:cNvSpPr/>
          <p:nvPr/>
        </p:nvSpPr>
        <p:spPr>
          <a:xfrm>
            <a:off x="457200" y="3200400"/>
            <a:ext cx="2560320" cy="365760"/>
          </a:xfrm>
          <a:prstGeom prst="rect">
            <a:avLst/>
          </a:prstGeom>
          <a:noFill/>
          <a:ln/>
        </p:spPr>
        <p:txBody>
          <a:bodyPr wrap="square" rtlCol="0" anchor="ctr"/>
          <a:lstStyle/>
          <a:p>
            <a:pPr marL="0" indent="0" algn="ctr">
              <a:buNone/>
            </a:pPr>
            <a:r>
              <a:rPr lang="en-US" sz="1400" b="1" dirty="0">
                <a:solidFill>
                  <a:srgbClr val="2E75B6"/>
                </a:solidFill>
              </a:rPr>
              <a:t>IDENTIFIER</a:t>
            </a:r>
            <a:endParaRPr lang="en-US" sz="1400" dirty="0"/>
          </a:p>
        </p:txBody>
      </p:sp>
      <p:sp>
        <p:nvSpPr>
          <p:cNvPr id="9" name="Text 7"/>
          <p:cNvSpPr/>
          <p:nvPr/>
        </p:nvSpPr>
        <p:spPr>
          <a:xfrm>
            <a:off x="457200" y="3566160"/>
            <a:ext cx="2560320" cy="731520"/>
          </a:xfrm>
          <a:prstGeom prst="rect">
            <a:avLst/>
          </a:prstGeom>
          <a:noFill/>
          <a:ln/>
        </p:spPr>
        <p:txBody>
          <a:bodyPr wrap="square" rtlCol="0" anchor="ctr"/>
          <a:lstStyle/>
          <a:p>
            <a:pPr marL="0" indent="0" algn="ctr">
              <a:buNone/>
            </a:pPr>
            <a:r>
              <a:rPr lang="en-US" sz="1100" dirty="0">
                <a:solidFill>
                  <a:srgbClr val="64748B"/>
                </a:solidFill>
              </a:rPr>
              <a:t>Les facteurs de gravité</a:t>
            </a:r>
            <a:endParaRPr lang="en-US" sz="1100" dirty="0"/>
          </a:p>
          <a:p>
            <a:pPr marL="0" indent="0" algn="ctr">
              <a:buNone/>
            </a:pPr>
            <a:r>
              <a:rPr lang="en-US" sz="1100" dirty="0">
                <a:solidFill>
                  <a:srgbClr val="64748B"/>
                </a:solidFill>
              </a:rPr>
              <a:t>(EDA + Feature Importance)</a:t>
            </a:r>
            <a:endParaRPr lang="en-US" sz="1100" dirty="0"/>
          </a:p>
        </p:txBody>
      </p:sp>
      <p:sp>
        <p:nvSpPr>
          <p:cNvPr id="10" name="Shape 8"/>
          <p:cNvSpPr/>
          <p:nvPr/>
        </p:nvSpPr>
        <p:spPr>
          <a:xfrm>
            <a:off x="3291840" y="2286000"/>
            <a:ext cx="2560320" cy="21945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4206240" y="2423160"/>
            <a:ext cx="640080" cy="640080"/>
          </a:xfrm>
          <a:prstGeom prst="ellipse">
            <a:avLst/>
          </a:prstGeom>
          <a:solidFill>
            <a:srgbClr val="0D9488"/>
          </a:solidFill>
          <a:ln/>
        </p:spPr>
        <p:txBody>
          <a:bodyPr/>
          <a:lstStyle/>
          <a:p>
            <a:endParaRPr lang="fr-FR"/>
          </a:p>
        </p:txBody>
      </p:sp>
      <p:sp>
        <p:nvSpPr>
          <p:cNvPr id="12" name="Text 10"/>
          <p:cNvSpPr/>
          <p:nvPr/>
        </p:nvSpPr>
        <p:spPr>
          <a:xfrm>
            <a:off x="4206240" y="2423160"/>
            <a:ext cx="640080" cy="640080"/>
          </a:xfrm>
          <a:prstGeom prst="rect">
            <a:avLst/>
          </a:prstGeom>
          <a:noFill/>
          <a:ln/>
        </p:spPr>
        <p:txBody>
          <a:bodyPr wrap="square" rtlCol="0" anchor="ctr"/>
          <a:lstStyle/>
          <a:p>
            <a:pPr marL="0" indent="0" algn="ctr">
              <a:buNone/>
            </a:pPr>
            <a:r>
              <a:rPr lang="en-US" sz="2200" b="1" dirty="0">
                <a:solidFill>
                  <a:srgbClr val="FFFFFF"/>
                </a:solidFill>
              </a:rPr>
              <a:t>2</a:t>
            </a:r>
            <a:endParaRPr lang="en-US" sz="2200" dirty="0"/>
          </a:p>
        </p:txBody>
      </p:sp>
      <p:sp>
        <p:nvSpPr>
          <p:cNvPr id="13" name="Text 11"/>
          <p:cNvSpPr/>
          <p:nvPr/>
        </p:nvSpPr>
        <p:spPr>
          <a:xfrm>
            <a:off x="3291840" y="3200400"/>
            <a:ext cx="2560320" cy="365760"/>
          </a:xfrm>
          <a:prstGeom prst="rect">
            <a:avLst/>
          </a:prstGeom>
          <a:noFill/>
          <a:ln/>
        </p:spPr>
        <p:txBody>
          <a:bodyPr wrap="square" rtlCol="0" anchor="ctr"/>
          <a:lstStyle/>
          <a:p>
            <a:pPr marL="0" indent="0" algn="ctr">
              <a:buNone/>
            </a:pPr>
            <a:r>
              <a:rPr lang="en-US" sz="1400" b="1" dirty="0">
                <a:solidFill>
                  <a:srgbClr val="0D9488"/>
                </a:solidFill>
              </a:rPr>
              <a:t>PRÉDIRE</a:t>
            </a:r>
            <a:endParaRPr lang="en-US" sz="1400" dirty="0"/>
          </a:p>
        </p:txBody>
      </p:sp>
      <p:sp>
        <p:nvSpPr>
          <p:cNvPr id="14" name="Text 12"/>
          <p:cNvSpPr/>
          <p:nvPr/>
        </p:nvSpPr>
        <p:spPr>
          <a:xfrm>
            <a:off x="3291840" y="3566160"/>
            <a:ext cx="2560320" cy="731520"/>
          </a:xfrm>
          <a:prstGeom prst="rect">
            <a:avLst/>
          </a:prstGeom>
          <a:noFill/>
          <a:ln/>
        </p:spPr>
        <p:txBody>
          <a:bodyPr wrap="square" rtlCol="0" anchor="ctr"/>
          <a:lstStyle/>
          <a:p>
            <a:pPr marL="0" indent="0" algn="ctr">
              <a:buNone/>
            </a:pPr>
            <a:r>
              <a:rPr lang="en-US" sz="1100" dirty="0">
                <a:solidFill>
                  <a:srgbClr val="64748B"/>
                </a:solidFill>
              </a:rPr>
              <a:t>La gravité des accidents</a:t>
            </a:r>
            <a:endParaRPr lang="en-US" sz="1100" dirty="0"/>
          </a:p>
          <a:p>
            <a:pPr marL="0" indent="0" algn="ctr">
              <a:buNone/>
            </a:pPr>
            <a:r>
              <a:rPr lang="en-US" sz="1100" dirty="0">
                <a:solidFill>
                  <a:srgbClr val="64748B"/>
                </a:solidFill>
              </a:rPr>
              <a:t>(Double Modèle ML)</a:t>
            </a:r>
            <a:endParaRPr lang="en-US" sz="1100" dirty="0"/>
          </a:p>
        </p:txBody>
      </p:sp>
      <p:sp>
        <p:nvSpPr>
          <p:cNvPr id="15" name="Shape 13"/>
          <p:cNvSpPr/>
          <p:nvPr/>
        </p:nvSpPr>
        <p:spPr>
          <a:xfrm>
            <a:off x="6126480" y="2286000"/>
            <a:ext cx="2560320" cy="21945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6" name="Shape 14"/>
          <p:cNvSpPr/>
          <p:nvPr/>
        </p:nvSpPr>
        <p:spPr>
          <a:xfrm>
            <a:off x="7040880" y="2423160"/>
            <a:ext cx="640080" cy="640080"/>
          </a:xfrm>
          <a:prstGeom prst="ellipse">
            <a:avLst/>
          </a:prstGeom>
          <a:solidFill>
            <a:srgbClr val="28A745"/>
          </a:solidFill>
          <a:ln/>
        </p:spPr>
        <p:txBody>
          <a:bodyPr/>
          <a:lstStyle/>
          <a:p>
            <a:endParaRPr lang="fr-FR"/>
          </a:p>
        </p:txBody>
      </p:sp>
      <p:sp>
        <p:nvSpPr>
          <p:cNvPr id="17" name="Text 15"/>
          <p:cNvSpPr/>
          <p:nvPr/>
        </p:nvSpPr>
        <p:spPr>
          <a:xfrm>
            <a:off x="7040880" y="2423160"/>
            <a:ext cx="640080" cy="640080"/>
          </a:xfrm>
          <a:prstGeom prst="rect">
            <a:avLst/>
          </a:prstGeom>
          <a:noFill/>
          <a:ln/>
        </p:spPr>
        <p:txBody>
          <a:bodyPr wrap="square" rtlCol="0" anchor="ctr"/>
          <a:lstStyle/>
          <a:p>
            <a:pPr marL="0" indent="0" algn="ctr">
              <a:buNone/>
            </a:pPr>
            <a:r>
              <a:rPr lang="en-US" sz="2200" b="1" dirty="0">
                <a:solidFill>
                  <a:srgbClr val="FFFFFF"/>
                </a:solidFill>
              </a:rPr>
              <a:t>3</a:t>
            </a:r>
            <a:endParaRPr lang="en-US" sz="2200" dirty="0"/>
          </a:p>
        </p:txBody>
      </p:sp>
      <p:sp>
        <p:nvSpPr>
          <p:cNvPr id="18" name="Text 16"/>
          <p:cNvSpPr/>
          <p:nvPr/>
        </p:nvSpPr>
        <p:spPr>
          <a:xfrm>
            <a:off x="6126480" y="3200400"/>
            <a:ext cx="2560320" cy="365760"/>
          </a:xfrm>
          <a:prstGeom prst="rect">
            <a:avLst/>
          </a:prstGeom>
          <a:noFill/>
          <a:ln/>
        </p:spPr>
        <p:txBody>
          <a:bodyPr wrap="square" rtlCol="0" anchor="ctr"/>
          <a:lstStyle/>
          <a:p>
            <a:pPr marL="0" indent="0" algn="ctr">
              <a:buNone/>
            </a:pPr>
            <a:r>
              <a:rPr lang="en-US" sz="1400" b="1" dirty="0">
                <a:solidFill>
                  <a:srgbClr val="28A745"/>
                </a:solidFill>
              </a:rPr>
              <a:t>RECOMMANDER</a:t>
            </a:r>
            <a:endParaRPr lang="en-US" sz="1400" dirty="0"/>
          </a:p>
        </p:txBody>
      </p:sp>
      <p:sp>
        <p:nvSpPr>
          <p:cNvPr id="19" name="Text 17"/>
          <p:cNvSpPr/>
          <p:nvPr/>
        </p:nvSpPr>
        <p:spPr>
          <a:xfrm>
            <a:off x="6126480" y="3566160"/>
            <a:ext cx="2560320" cy="731520"/>
          </a:xfrm>
          <a:prstGeom prst="rect">
            <a:avLst/>
          </a:prstGeom>
          <a:noFill/>
          <a:ln/>
        </p:spPr>
        <p:txBody>
          <a:bodyPr wrap="square" rtlCol="0" anchor="ctr"/>
          <a:lstStyle/>
          <a:p>
            <a:pPr marL="0" indent="0" algn="ctr">
              <a:buNone/>
            </a:pPr>
            <a:r>
              <a:rPr lang="en-US" sz="1100" dirty="0">
                <a:solidFill>
                  <a:srgbClr val="64748B"/>
                </a:solidFill>
              </a:rPr>
              <a:t>Des actions concrètes</a:t>
            </a:r>
            <a:endParaRPr lang="en-US" sz="1100" dirty="0"/>
          </a:p>
          <a:p>
            <a:pPr marL="0" indent="0" algn="ctr">
              <a:buNone/>
            </a:pPr>
            <a:r>
              <a:rPr lang="en-US" sz="1100" dirty="0">
                <a:solidFill>
                  <a:srgbClr val="64748B"/>
                </a:solidFill>
              </a:rPr>
              <a:t>(5 recommandations + KPIs)</a:t>
            </a:r>
            <a:endParaRPr lang="en-US" sz="1100" dirty="0"/>
          </a:p>
        </p:txBody>
      </p:sp>
      <p:sp>
        <p:nvSpPr>
          <p:cNvPr id="20" name="Text 18"/>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21" name="Text 19"/>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3 / 20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Les Données BAAC</a:t>
            </a:r>
            <a:endParaRPr lang="en-US" sz="2800" dirty="0"/>
          </a:p>
        </p:txBody>
      </p:sp>
      <p:sp>
        <p:nvSpPr>
          <p:cNvPr id="3" name="Text 1"/>
          <p:cNvSpPr/>
          <p:nvPr/>
        </p:nvSpPr>
        <p:spPr>
          <a:xfrm>
            <a:off x="457200" y="777240"/>
            <a:ext cx="8229600" cy="274320"/>
          </a:xfrm>
          <a:prstGeom prst="rect">
            <a:avLst/>
          </a:prstGeom>
          <a:noFill/>
          <a:ln/>
        </p:spPr>
        <p:txBody>
          <a:bodyPr wrap="square" rtlCol="0" anchor="ctr"/>
          <a:lstStyle/>
          <a:p>
            <a:pPr marL="0" indent="0">
              <a:buNone/>
            </a:pPr>
            <a:r>
              <a:rPr lang="en-US" sz="1100" i="1" dirty="0">
                <a:solidFill>
                  <a:srgbClr val="64748B"/>
                </a:solidFill>
              </a:rPr>
              <a:t>Source : ONISR — data.gouv.fr | Fichier national des accidents corporels</a:t>
            </a:r>
            <a:endParaRPr lang="en-US" sz="1100" dirty="0"/>
          </a:p>
        </p:txBody>
      </p:sp>
      <p:sp>
        <p:nvSpPr>
          <p:cNvPr id="4" name="Shape 2"/>
          <p:cNvSpPr/>
          <p:nvPr/>
        </p:nvSpPr>
        <p:spPr>
          <a:xfrm>
            <a:off x="457200" y="118872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5" name="Text 3"/>
          <p:cNvSpPr/>
          <p:nvPr/>
        </p:nvSpPr>
        <p:spPr>
          <a:xfrm>
            <a:off x="457200" y="1234440"/>
            <a:ext cx="1920240" cy="548640"/>
          </a:xfrm>
          <a:prstGeom prst="rect">
            <a:avLst/>
          </a:prstGeom>
          <a:noFill/>
          <a:ln/>
        </p:spPr>
        <p:txBody>
          <a:bodyPr wrap="square" rtlCol="0" anchor="ctr"/>
          <a:lstStyle/>
          <a:p>
            <a:pPr marL="0" indent="0" algn="ctr">
              <a:buNone/>
            </a:pPr>
            <a:r>
              <a:rPr lang="en-US" sz="2400" b="1" dirty="0">
                <a:solidFill>
                  <a:srgbClr val="1B3A5C"/>
                </a:solidFill>
              </a:rPr>
              <a:t>80</a:t>
            </a:r>
            <a:endParaRPr lang="en-US" sz="2400" dirty="0"/>
          </a:p>
        </p:txBody>
      </p:sp>
      <p:sp>
        <p:nvSpPr>
          <p:cNvPr id="6" name="Text 4"/>
          <p:cNvSpPr/>
          <p:nvPr/>
        </p:nvSpPr>
        <p:spPr>
          <a:xfrm>
            <a:off x="457200" y="1783080"/>
            <a:ext cx="1920240" cy="365760"/>
          </a:xfrm>
          <a:prstGeom prst="rect">
            <a:avLst/>
          </a:prstGeom>
          <a:noFill/>
          <a:ln/>
        </p:spPr>
        <p:txBody>
          <a:bodyPr wrap="square" rtlCol="0" anchor="ctr"/>
          <a:lstStyle/>
          <a:p>
            <a:pPr marL="0" indent="0" algn="ctr">
              <a:buNone/>
            </a:pPr>
            <a:r>
              <a:rPr lang="en-US" sz="1100" dirty="0">
                <a:solidFill>
                  <a:srgbClr val="64748B"/>
                </a:solidFill>
              </a:rPr>
              <a:t>Fichiers CSV</a:t>
            </a:r>
            <a:endParaRPr lang="en-US" sz="1100" dirty="0"/>
          </a:p>
        </p:txBody>
      </p:sp>
      <p:sp>
        <p:nvSpPr>
          <p:cNvPr id="7" name="Shape 5"/>
          <p:cNvSpPr/>
          <p:nvPr/>
        </p:nvSpPr>
        <p:spPr>
          <a:xfrm>
            <a:off x="2560320" y="118872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8" name="Text 6"/>
          <p:cNvSpPr/>
          <p:nvPr/>
        </p:nvSpPr>
        <p:spPr>
          <a:xfrm>
            <a:off x="2560320" y="1234440"/>
            <a:ext cx="1920240" cy="548640"/>
          </a:xfrm>
          <a:prstGeom prst="rect">
            <a:avLst/>
          </a:prstGeom>
          <a:noFill/>
          <a:ln/>
        </p:spPr>
        <p:txBody>
          <a:bodyPr wrap="square" rtlCol="0" anchor="ctr"/>
          <a:lstStyle/>
          <a:p>
            <a:pPr marL="0" indent="0" algn="ctr">
              <a:buNone/>
            </a:pPr>
            <a:r>
              <a:rPr lang="en-US" sz="2400" b="1" dirty="0">
                <a:solidFill>
                  <a:srgbClr val="1B3A5C"/>
                </a:solidFill>
              </a:rPr>
              <a:t>20 ans</a:t>
            </a:r>
            <a:endParaRPr lang="en-US" sz="2400" dirty="0"/>
          </a:p>
        </p:txBody>
      </p:sp>
      <p:sp>
        <p:nvSpPr>
          <p:cNvPr id="9" name="Text 7"/>
          <p:cNvSpPr/>
          <p:nvPr/>
        </p:nvSpPr>
        <p:spPr>
          <a:xfrm>
            <a:off x="2560320" y="1783080"/>
            <a:ext cx="1920240" cy="365760"/>
          </a:xfrm>
          <a:prstGeom prst="rect">
            <a:avLst/>
          </a:prstGeom>
          <a:noFill/>
          <a:ln/>
        </p:spPr>
        <p:txBody>
          <a:bodyPr wrap="square" rtlCol="0" anchor="ctr"/>
          <a:lstStyle/>
          <a:p>
            <a:pPr marL="0" indent="0" algn="ctr">
              <a:buNone/>
            </a:pPr>
            <a:r>
              <a:rPr lang="en-US" sz="1100" dirty="0">
                <a:solidFill>
                  <a:srgbClr val="64748B"/>
                </a:solidFill>
              </a:rPr>
              <a:t>2005 — 2024</a:t>
            </a:r>
            <a:endParaRPr lang="en-US" sz="1100" dirty="0"/>
          </a:p>
        </p:txBody>
      </p:sp>
      <p:sp>
        <p:nvSpPr>
          <p:cNvPr id="10" name="Shape 8"/>
          <p:cNvSpPr/>
          <p:nvPr/>
        </p:nvSpPr>
        <p:spPr>
          <a:xfrm>
            <a:off x="4663440" y="118872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1" name="Text 9"/>
          <p:cNvSpPr/>
          <p:nvPr/>
        </p:nvSpPr>
        <p:spPr>
          <a:xfrm>
            <a:off x="4663440" y="1234440"/>
            <a:ext cx="1920240" cy="548640"/>
          </a:xfrm>
          <a:prstGeom prst="rect">
            <a:avLst/>
          </a:prstGeom>
          <a:noFill/>
          <a:ln/>
        </p:spPr>
        <p:txBody>
          <a:bodyPr wrap="square" rtlCol="0" anchor="ctr"/>
          <a:lstStyle/>
          <a:p>
            <a:pPr marL="0" indent="0" algn="ctr">
              <a:buNone/>
            </a:pPr>
            <a:r>
              <a:rPr lang="en-US" sz="2400" b="1" dirty="0">
                <a:solidFill>
                  <a:srgbClr val="1B3A5C"/>
                </a:solidFill>
              </a:rPr>
              <a:t>4 tables</a:t>
            </a:r>
            <a:endParaRPr lang="en-US" sz="2400" dirty="0"/>
          </a:p>
        </p:txBody>
      </p:sp>
      <p:sp>
        <p:nvSpPr>
          <p:cNvPr id="12" name="Text 10"/>
          <p:cNvSpPr/>
          <p:nvPr/>
        </p:nvSpPr>
        <p:spPr>
          <a:xfrm>
            <a:off x="4663440" y="1783080"/>
            <a:ext cx="1920240" cy="365760"/>
          </a:xfrm>
          <a:prstGeom prst="rect">
            <a:avLst/>
          </a:prstGeom>
          <a:noFill/>
          <a:ln/>
        </p:spPr>
        <p:txBody>
          <a:bodyPr wrap="square" rtlCol="0" anchor="ctr"/>
          <a:lstStyle/>
          <a:p>
            <a:pPr marL="0" indent="0" algn="ctr">
              <a:buNone/>
            </a:pPr>
            <a:r>
              <a:rPr lang="en-US" sz="1100" dirty="0">
                <a:solidFill>
                  <a:srgbClr val="64748B"/>
                </a:solidFill>
              </a:rPr>
              <a:t>Jointure relationnelle</a:t>
            </a:r>
            <a:endParaRPr lang="en-US" sz="1100" dirty="0"/>
          </a:p>
        </p:txBody>
      </p:sp>
      <p:sp>
        <p:nvSpPr>
          <p:cNvPr id="13" name="Shape 11"/>
          <p:cNvSpPr/>
          <p:nvPr/>
        </p:nvSpPr>
        <p:spPr>
          <a:xfrm>
            <a:off x="6766560" y="118872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4" name="Text 12"/>
          <p:cNvSpPr/>
          <p:nvPr/>
        </p:nvSpPr>
        <p:spPr>
          <a:xfrm>
            <a:off x="6766560" y="1234440"/>
            <a:ext cx="1920240" cy="548640"/>
          </a:xfrm>
          <a:prstGeom prst="rect">
            <a:avLst/>
          </a:prstGeom>
          <a:noFill/>
          <a:ln/>
        </p:spPr>
        <p:txBody>
          <a:bodyPr wrap="square" rtlCol="0" anchor="ctr"/>
          <a:lstStyle/>
          <a:p>
            <a:pPr marL="0" indent="0" algn="ctr">
              <a:buNone/>
            </a:pPr>
            <a:r>
              <a:rPr lang="en-US" sz="2400" b="1" dirty="0">
                <a:solidFill>
                  <a:srgbClr val="1B3A5C"/>
                </a:solidFill>
              </a:rPr>
              <a:t>2,8 M</a:t>
            </a:r>
            <a:endParaRPr lang="en-US" sz="2400" dirty="0"/>
          </a:p>
        </p:txBody>
      </p:sp>
      <p:sp>
        <p:nvSpPr>
          <p:cNvPr id="15" name="Text 13"/>
          <p:cNvSpPr/>
          <p:nvPr/>
        </p:nvSpPr>
        <p:spPr>
          <a:xfrm>
            <a:off x="6766560" y="1783080"/>
            <a:ext cx="1920240" cy="365760"/>
          </a:xfrm>
          <a:prstGeom prst="rect">
            <a:avLst/>
          </a:prstGeom>
          <a:noFill/>
          <a:ln/>
        </p:spPr>
        <p:txBody>
          <a:bodyPr wrap="square" rtlCol="0" anchor="ctr"/>
          <a:lstStyle/>
          <a:p>
            <a:pPr marL="0" indent="0" algn="ctr">
              <a:buNone/>
            </a:pPr>
            <a:r>
              <a:rPr lang="en-US" sz="1100" dirty="0">
                <a:solidFill>
                  <a:srgbClr val="64748B"/>
                </a:solidFill>
              </a:rPr>
              <a:t>Usagers accidentés</a:t>
            </a:r>
            <a:endParaRPr lang="en-US" sz="1100" dirty="0"/>
          </a:p>
        </p:txBody>
      </p:sp>
      <p:sp>
        <p:nvSpPr>
          <p:cNvPr id="16" name="Text 14"/>
          <p:cNvSpPr/>
          <p:nvPr/>
        </p:nvSpPr>
        <p:spPr>
          <a:xfrm>
            <a:off x="457200" y="2468880"/>
            <a:ext cx="3657600" cy="320040"/>
          </a:xfrm>
          <a:prstGeom prst="rect">
            <a:avLst/>
          </a:prstGeom>
          <a:noFill/>
          <a:ln/>
        </p:spPr>
        <p:txBody>
          <a:bodyPr wrap="square" rtlCol="0" anchor="ctr"/>
          <a:lstStyle/>
          <a:p>
            <a:pPr marL="0" indent="0">
              <a:buNone/>
            </a:pPr>
            <a:r>
              <a:rPr lang="en-US" sz="1400" b="1" dirty="0">
                <a:solidFill>
                  <a:srgbClr val="1B3A5C"/>
                </a:solidFill>
              </a:rPr>
              <a:t>Schéma Relationnel</a:t>
            </a:r>
            <a:endParaRPr lang="en-US" sz="1400" dirty="0"/>
          </a:p>
        </p:txBody>
      </p:sp>
      <p:sp>
        <p:nvSpPr>
          <p:cNvPr id="17" name="Shape 15"/>
          <p:cNvSpPr/>
          <p:nvPr/>
        </p:nvSpPr>
        <p:spPr>
          <a:xfrm>
            <a:off x="457200" y="2880360"/>
            <a:ext cx="393192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8" name="Shape 16"/>
          <p:cNvSpPr/>
          <p:nvPr/>
        </p:nvSpPr>
        <p:spPr>
          <a:xfrm>
            <a:off x="457200" y="2880360"/>
            <a:ext cx="3931920" cy="54864"/>
          </a:xfrm>
          <a:prstGeom prst="rect">
            <a:avLst/>
          </a:prstGeom>
          <a:solidFill>
            <a:srgbClr val="2E75B6"/>
          </a:solidFill>
          <a:ln/>
        </p:spPr>
        <p:txBody>
          <a:bodyPr/>
          <a:lstStyle/>
          <a:p>
            <a:endParaRPr lang="fr-FR"/>
          </a:p>
        </p:txBody>
      </p:sp>
      <p:sp>
        <p:nvSpPr>
          <p:cNvPr id="19" name="Text 17"/>
          <p:cNvSpPr/>
          <p:nvPr/>
        </p:nvSpPr>
        <p:spPr>
          <a:xfrm>
            <a:off x="548640" y="2953512"/>
            <a:ext cx="3749040" cy="274320"/>
          </a:xfrm>
          <a:prstGeom prst="rect">
            <a:avLst/>
          </a:prstGeom>
          <a:noFill/>
          <a:ln/>
        </p:spPr>
        <p:txBody>
          <a:bodyPr wrap="square" rtlCol="0" anchor="ctr"/>
          <a:lstStyle/>
          <a:p>
            <a:pPr marL="0" indent="0">
              <a:buNone/>
            </a:pPr>
            <a:r>
              <a:rPr lang="en-US" sz="1100" b="1" dirty="0">
                <a:solidFill>
                  <a:srgbClr val="1B3A5C"/>
                </a:solidFill>
              </a:rPr>
              <a:t>CARACTÉRISTIQUES</a:t>
            </a:r>
            <a:endParaRPr lang="en-US" sz="1100" dirty="0"/>
          </a:p>
        </p:txBody>
      </p:sp>
      <p:sp>
        <p:nvSpPr>
          <p:cNvPr id="20" name="Text 18"/>
          <p:cNvSpPr/>
          <p:nvPr/>
        </p:nvSpPr>
        <p:spPr>
          <a:xfrm>
            <a:off x="548640" y="3246120"/>
            <a:ext cx="3749040" cy="274320"/>
          </a:xfrm>
          <a:prstGeom prst="rect">
            <a:avLst/>
          </a:prstGeom>
          <a:noFill/>
          <a:ln/>
        </p:spPr>
        <p:txBody>
          <a:bodyPr wrap="square" rtlCol="0" anchor="ctr"/>
          <a:lstStyle/>
          <a:p>
            <a:pPr marL="0" indent="0">
              <a:buNone/>
            </a:pPr>
            <a:r>
              <a:rPr lang="en-US" sz="900" dirty="0">
                <a:solidFill>
                  <a:srgbClr val="64748B"/>
                </a:solidFill>
              </a:rPr>
              <a:t>Num_Acc, lum, agg, atm, col, dep</a:t>
            </a:r>
            <a:endParaRPr lang="en-US" sz="900" dirty="0"/>
          </a:p>
        </p:txBody>
      </p:sp>
      <p:sp>
        <p:nvSpPr>
          <p:cNvPr id="21" name="Shape 19"/>
          <p:cNvSpPr/>
          <p:nvPr/>
        </p:nvSpPr>
        <p:spPr>
          <a:xfrm>
            <a:off x="4572000" y="2880360"/>
            <a:ext cx="393192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2" name="Shape 20"/>
          <p:cNvSpPr/>
          <p:nvPr/>
        </p:nvSpPr>
        <p:spPr>
          <a:xfrm>
            <a:off x="4572000" y="2880360"/>
            <a:ext cx="3931920" cy="54864"/>
          </a:xfrm>
          <a:prstGeom prst="rect">
            <a:avLst/>
          </a:prstGeom>
          <a:solidFill>
            <a:srgbClr val="2E75B6"/>
          </a:solidFill>
          <a:ln/>
        </p:spPr>
        <p:txBody>
          <a:bodyPr/>
          <a:lstStyle/>
          <a:p>
            <a:endParaRPr lang="fr-FR"/>
          </a:p>
        </p:txBody>
      </p:sp>
      <p:sp>
        <p:nvSpPr>
          <p:cNvPr id="23" name="Text 21"/>
          <p:cNvSpPr/>
          <p:nvPr/>
        </p:nvSpPr>
        <p:spPr>
          <a:xfrm>
            <a:off x="4663440" y="2953512"/>
            <a:ext cx="3749040" cy="274320"/>
          </a:xfrm>
          <a:prstGeom prst="rect">
            <a:avLst/>
          </a:prstGeom>
          <a:noFill/>
          <a:ln/>
        </p:spPr>
        <p:txBody>
          <a:bodyPr wrap="square" rtlCol="0" anchor="ctr"/>
          <a:lstStyle/>
          <a:p>
            <a:pPr marL="0" indent="0">
              <a:buNone/>
            </a:pPr>
            <a:r>
              <a:rPr lang="en-US" sz="1100" b="1" dirty="0">
                <a:solidFill>
                  <a:srgbClr val="1B3A5C"/>
                </a:solidFill>
              </a:rPr>
              <a:t>LIEUX</a:t>
            </a:r>
            <a:endParaRPr lang="en-US" sz="1100" dirty="0"/>
          </a:p>
        </p:txBody>
      </p:sp>
      <p:sp>
        <p:nvSpPr>
          <p:cNvPr id="24" name="Text 22"/>
          <p:cNvSpPr/>
          <p:nvPr/>
        </p:nvSpPr>
        <p:spPr>
          <a:xfrm>
            <a:off x="4663440" y="3246120"/>
            <a:ext cx="3749040" cy="274320"/>
          </a:xfrm>
          <a:prstGeom prst="rect">
            <a:avLst/>
          </a:prstGeom>
          <a:noFill/>
          <a:ln/>
        </p:spPr>
        <p:txBody>
          <a:bodyPr wrap="square" rtlCol="0" anchor="ctr"/>
          <a:lstStyle/>
          <a:p>
            <a:pPr marL="0" indent="0">
              <a:buNone/>
            </a:pPr>
            <a:r>
              <a:rPr lang="en-US" sz="900" dirty="0">
                <a:solidFill>
                  <a:srgbClr val="64748B"/>
                </a:solidFill>
              </a:rPr>
              <a:t>Num_Acc, catr, surf, vma (2019+)</a:t>
            </a:r>
            <a:endParaRPr lang="en-US" sz="900" dirty="0"/>
          </a:p>
        </p:txBody>
      </p:sp>
      <p:sp>
        <p:nvSpPr>
          <p:cNvPr id="25" name="Shape 23"/>
          <p:cNvSpPr/>
          <p:nvPr/>
        </p:nvSpPr>
        <p:spPr>
          <a:xfrm>
            <a:off x="457200" y="3794760"/>
            <a:ext cx="393192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6" name="Shape 24"/>
          <p:cNvSpPr/>
          <p:nvPr/>
        </p:nvSpPr>
        <p:spPr>
          <a:xfrm>
            <a:off x="457200" y="3794760"/>
            <a:ext cx="3931920" cy="54864"/>
          </a:xfrm>
          <a:prstGeom prst="rect">
            <a:avLst/>
          </a:prstGeom>
          <a:solidFill>
            <a:srgbClr val="2E75B6"/>
          </a:solidFill>
          <a:ln/>
        </p:spPr>
        <p:txBody>
          <a:bodyPr/>
          <a:lstStyle/>
          <a:p>
            <a:endParaRPr lang="fr-FR"/>
          </a:p>
        </p:txBody>
      </p:sp>
      <p:sp>
        <p:nvSpPr>
          <p:cNvPr id="27" name="Text 25"/>
          <p:cNvSpPr/>
          <p:nvPr/>
        </p:nvSpPr>
        <p:spPr>
          <a:xfrm>
            <a:off x="548640" y="3867912"/>
            <a:ext cx="3749040" cy="274320"/>
          </a:xfrm>
          <a:prstGeom prst="rect">
            <a:avLst/>
          </a:prstGeom>
          <a:noFill/>
          <a:ln/>
        </p:spPr>
        <p:txBody>
          <a:bodyPr wrap="square" rtlCol="0" anchor="ctr"/>
          <a:lstStyle/>
          <a:p>
            <a:pPr marL="0" indent="0">
              <a:buNone/>
            </a:pPr>
            <a:r>
              <a:rPr lang="en-US" sz="1100" b="1" dirty="0">
                <a:solidFill>
                  <a:srgbClr val="1B3A5C"/>
                </a:solidFill>
              </a:rPr>
              <a:t>VÉHICULES</a:t>
            </a:r>
            <a:endParaRPr lang="en-US" sz="1100" dirty="0"/>
          </a:p>
        </p:txBody>
      </p:sp>
      <p:sp>
        <p:nvSpPr>
          <p:cNvPr id="28" name="Text 26"/>
          <p:cNvSpPr/>
          <p:nvPr/>
        </p:nvSpPr>
        <p:spPr>
          <a:xfrm>
            <a:off x="548640" y="4160520"/>
            <a:ext cx="3749040" cy="274320"/>
          </a:xfrm>
          <a:prstGeom prst="rect">
            <a:avLst/>
          </a:prstGeom>
          <a:noFill/>
          <a:ln/>
        </p:spPr>
        <p:txBody>
          <a:bodyPr wrap="square" rtlCol="0" anchor="ctr"/>
          <a:lstStyle/>
          <a:p>
            <a:pPr marL="0" indent="0">
              <a:buNone/>
            </a:pPr>
            <a:r>
              <a:rPr lang="en-US" sz="900" dirty="0">
                <a:solidFill>
                  <a:srgbClr val="64748B"/>
                </a:solidFill>
              </a:rPr>
              <a:t>Num_Acc, catv, motor (2019+)</a:t>
            </a:r>
            <a:endParaRPr lang="en-US" sz="900" dirty="0"/>
          </a:p>
        </p:txBody>
      </p:sp>
      <p:sp>
        <p:nvSpPr>
          <p:cNvPr id="29" name="Shape 27"/>
          <p:cNvSpPr/>
          <p:nvPr/>
        </p:nvSpPr>
        <p:spPr>
          <a:xfrm>
            <a:off x="4572000" y="3794760"/>
            <a:ext cx="3931920" cy="7315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30" name="Shape 28"/>
          <p:cNvSpPr/>
          <p:nvPr/>
        </p:nvSpPr>
        <p:spPr>
          <a:xfrm>
            <a:off x="4572000" y="3794760"/>
            <a:ext cx="3931920" cy="54864"/>
          </a:xfrm>
          <a:prstGeom prst="rect">
            <a:avLst/>
          </a:prstGeom>
          <a:solidFill>
            <a:srgbClr val="2E75B6"/>
          </a:solidFill>
          <a:ln/>
        </p:spPr>
        <p:txBody>
          <a:bodyPr/>
          <a:lstStyle/>
          <a:p>
            <a:endParaRPr lang="fr-FR"/>
          </a:p>
        </p:txBody>
      </p:sp>
      <p:sp>
        <p:nvSpPr>
          <p:cNvPr id="31" name="Text 29"/>
          <p:cNvSpPr/>
          <p:nvPr/>
        </p:nvSpPr>
        <p:spPr>
          <a:xfrm>
            <a:off x="4663440" y="3867912"/>
            <a:ext cx="3749040" cy="274320"/>
          </a:xfrm>
          <a:prstGeom prst="rect">
            <a:avLst/>
          </a:prstGeom>
          <a:noFill/>
          <a:ln/>
        </p:spPr>
        <p:txBody>
          <a:bodyPr wrap="square" rtlCol="0" anchor="ctr"/>
          <a:lstStyle/>
          <a:p>
            <a:pPr marL="0" indent="0">
              <a:buNone/>
            </a:pPr>
            <a:r>
              <a:rPr lang="en-US" sz="1100" b="1" dirty="0">
                <a:solidFill>
                  <a:srgbClr val="1B3A5C"/>
                </a:solidFill>
              </a:rPr>
              <a:t>USAGERS</a:t>
            </a:r>
            <a:endParaRPr lang="en-US" sz="1100" dirty="0"/>
          </a:p>
        </p:txBody>
      </p:sp>
      <p:sp>
        <p:nvSpPr>
          <p:cNvPr id="32" name="Text 30"/>
          <p:cNvSpPr/>
          <p:nvPr/>
        </p:nvSpPr>
        <p:spPr>
          <a:xfrm>
            <a:off x="4663440" y="4160520"/>
            <a:ext cx="3749040" cy="274320"/>
          </a:xfrm>
          <a:prstGeom prst="rect">
            <a:avLst/>
          </a:prstGeom>
          <a:noFill/>
          <a:ln/>
        </p:spPr>
        <p:txBody>
          <a:bodyPr wrap="square" rtlCol="0" anchor="ctr"/>
          <a:lstStyle/>
          <a:p>
            <a:pPr marL="0" indent="0">
              <a:buNone/>
            </a:pPr>
            <a:r>
              <a:rPr lang="en-US" sz="900" dirty="0">
                <a:solidFill>
                  <a:srgbClr val="64748B"/>
                </a:solidFill>
              </a:rPr>
              <a:t>Num_Acc, grav (cible ML), age, sexe</a:t>
            </a:r>
            <a:endParaRPr lang="en-US" sz="900" dirty="0"/>
          </a:p>
        </p:txBody>
      </p:sp>
      <p:sp>
        <p:nvSpPr>
          <p:cNvPr id="33" name="Text 31"/>
          <p:cNvSpPr/>
          <p:nvPr/>
        </p:nvSpPr>
        <p:spPr>
          <a:xfrm>
            <a:off x="457200" y="4617720"/>
            <a:ext cx="8229600" cy="274320"/>
          </a:xfrm>
          <a:prstGeom prst="rect">
            <a:avLst/>
          </a:prstGeom>
          <a:noFill/>
          <a:ln/>
        </p:spPr>
        <p:txBody>
          <a:bodyPr wrap="square" rtlCol="0" anchor="ctr"/>
          <a:lstStyle/>
          <a:p>
            <a:pPr marL="0" indent="0" algn="ctr">
              <a:buNone/>
            </a:pPr>
            <a:r>
              <a:rPr lang="en-US" sz="1200" b="1" i="1" dirty="0">
                <a:solidFill>
                  <a:srgbClr val="0D9488"/>
                </a:solidFill>
              </a:rPr>
              <a:t>20 ans de données réelles, fiables et géolocalisées</a:t>
            </a:r>
            <a:endParaRPr lang="en-US" sz="1200" dirty="0"/>
          </a:p>
        </p:txBody>
      </p:sp>
      <p:sp>
        <p:nvSpPr>
          <p:cNvPr id="34" name="Text 32"/>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4 / 20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Méthodologie : Pipeline Complet</a:t>
            </a:r>
            <a:endParaRPr lang="en-US" sz="2800" dirty="0"/>
          </a:p>
        </p:txBody>
      </p:sp>
      <p:sp>
        <p:nvSpPr>
          <p:cNvPr id="3" name="Shape 1"/>
          <p:cNvSpPr/>
          <p:nvPr/>
        </p:nvSpPr>
        <p:spPr>
          <a:xfrm>
            <a:off x="274320" y="1097280"/>
            <a:ext cx="868680" cy="914400"/>
          </a:xfrm>
          <a:prstGeom prst="rect">
            <a:avLst/>
          </a:prstGeom>
          <a:solidFill>
            <a:srgbClr val="2E75B6"/>
          </a:solidFill>
          <a:ln/>
          <a:effectLst>
            <a:outerShdw blurRad="50800" dist="25400" dir="8100000" algn="bl" rotWithShape="0">
              <a:srgbClr val="000000">
                <a:alpha val="12000"/>
              </a:srgbClr>
            </a:outerShdw>
          </a:effectLst>
        </p:spPr>
        <p:txBody>
          <a:bodyPr/>
          <a:lstStyle/>
          <a:p>
            <a:endParaRPr lang="fr-FR"/>
          </a:p>
        </p:txBody>
      </p:sp>
      <p:sp>
        <p:nvSpPr>
          <p:cNvPr id="4" name="Text 2"/>
          <p:cNvSpPr/>
          <p:nvPr/>
        </p:nvSpPr>
        <p:spPr>
          <a:xfrm>
            <a:off x="274320" y="1097280"/>
            <a:ext cx="868680" cy="914400"/>
          </a:xfrm>
          <a:prstGeom prst="rect">
            <a:avLst/>
          </a:prstGeom>
          <a:noFill/>
          <a:ln/>
        </p:spPr>
        <p:txBody>
          <a:bodyPr wrap="square" rtlCol="0" anchor="ctr"/>
          <a:lstStyle/>
          <a:p>
            <a:pPr marL="0" indent="0" algn="ctr">
              <a:buNone/>
            </a:pPr>
            <a:r>
              <a:rPr lang="en-US" sz="850" b="1" dirty="0">
                <a:solidFill>
                  <a:srgbClr val="FFFFFF"/>
                </a:solidFill>
              </a:rPr>
              <a:t>Chargement</a:t>
            </a:r>
            <a:endParaRPr lang="en-US" sz="850" dirty="0"/>
          </a:p>
          <a:p>
            <a:pPr marL="0" indent="0" algn="ctr">
              <a:buNone/>
            </a:pPr>
            <a:r>
              <a:rPr lang="en-US" sz="850" b="1" dirty="0">
                <a:solidFill>
                  <a:srgbClr val="FFFFFF"/>
                </a:solidFill>
              </a:rPr>
              <a:t>80 CSV</a:t>
            </a:r>
            <a:endParaRPr lang="en-US" sz="850" dirty="0"/>
          </a:p>
        </p:txBody>
      </p:sp>
      <p:sp>
        <p:nvSpPr>
          <p:cNvPr id="5" name="Text 3"/>
          <p:cNvSpPr/>
          <p:nvPr/>
        </p:nvSpPr>
        <p:spPr>
          <a:xfrm>
            <a:off x="111556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6" name="Shape 4"/>
          <p:cNvSpPr/>
          <p:nvPr/>
        </p:nvSpPr>
        <p:spPr>
          <a:xfrm>
            <a:off x="1234440" y="1097280"/>
            <a:ext cx="868680" cy="914400"/>
          </a:xfrm>
          <a:prstGeom prst="rect">
            <a:avLst/>
          </a:prstGeom>
          <a:solidFill>
            <a:srgbClr val="2E75B6"/>
          </a:solidFill>
          <a:ln/>
          <a:effectLst>
            <a:outerShdw blurRad="50800" dist="25400" dir="8100000" algn="bl" rotWithShape="0">
              <a:srgbClr val="000000">
                <a:alpha val="12000"/>
              </a:srgbClr>
            </a:outerShdw>
          </a:effectLst>
        </p:spPr>
        <p:txBody>
          <a:bodyPr/>
          <a:lstStyle/>
          <a:p>
            <a:endParaRPr lang="fr-FR"/>
          </a:p>
        </p:txBody>
      </p:sp>
      <p:sp>
        <p:nvSpPr>
          <p:cNvPr id="7" name="Text 5"/>
          <p:cNvSpPr/>
          <p:nvPr/>
        </p:nvSpPr>
        <p:spPr>
          <a:xfrm>
            <a:off x="1234440" y="1097280"/>
            <a:ext cx="868680" cy="914400"/>
          </a:xfrm>
          <a:prstGeom prst="rect">
            <a:avLst/>
          </a:prstGeom>
          <a:noFill/>
          <a:ln/>
        </p:spPr>
        <p:txBody>
          <a:bodyPr wrap="square" rtlCol="0" anchor="ctr"/>
          <a:lstStyle/>
          <a:p>
            <a:pPr marL="0" indent="0" algn="ctr">
              <a:buNone/>
            </a:pPr>
            <a:r>
              <a:rPr lang="en-US" sz="850" b="1" dirty="0">
                <a:solidFill>
                  <a:srgbClr val="FFFFFF"/>
                </a:solidFill>
              </a:rPr>
              <a:t>Jointure</a:t>
            </a:r>
            <a:endParaRPr lang="en-US" sz="850" dirty="0"/>
          </a:p>
          <a:p>
            <a:pPr marL="0" indent="0" algn="ctr">
              <a:buNone/>
            </a:pPr>
            <a:r>
              <a:rPr lang="en-US" sz="850" b="1" dirty="0">
                <a:solidFill>
                  <a:srgbClr val="FFFFFF"/>
                </a:solidFill>
              </a:rPr>
              <a:t>4 tables</a:t>
            </a:r>
            <a:endParaRPr lang="en-US" sz="850" dirty="0"/>
          </a:p>
        </p:txBody>
      </p:sp>
      <p:sp>
        <p:nvSpPr>
          <p:cNvPr id="8" name="Text 6"/>
          <p:cNvSpPr/>
          <p:nvPr/>
        </p:nvSpPr>
        <p:spPr>
          <a:xfrm>
            <a:off x="207568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9" name="Shape 7"/>
          <p:cNvSpPr/>
          <p:nvPr/>
        </p:nvSpPr>
        <p:spPr>
          <a:xfrm>
            <a:off x="2194560" y="1097280"/>
            <a:ext cx="868680" cy="914400"/>
          </a:xfrm>
          <a:prstGeom prst="rect">
            <a:avLst/>
          </a:prstGeom>
          <a:solidFill>
            <a:srgbClr val="2E75B6"/>
          </a:solidFill>
          <a:ln/>
          <a:effectLst>
            <a:outerShdw blurRad="50800" dist="25400" dir="8100000" algn="bl" rotWithShape="0">
              <a:srgbClr val="000000">
                <a:alpha val="12000"/>
              </a:srgbClr>
            </a:outerShdw>
          </a:effectLst>
        </p:spPr>
        <p:txBody>
          <a:bodyPr/>
          <a:lstStyle/>
          <a:p>
            <a:endParaRPr lang="fr-FR"/>
          </a:p>
        </p:txBody>
      </p:sp>
      <p:sp>
        <p:nvSpPr>
          <p:cNvPr id="10" name="Text 8"/>
          <p:cNvSpPr/>
          <p:nvPr/>
        </p:nvSpPr>
        <p:spPr>
          <a:xfrm>
            <a:off x="2194560" y="1097280"/>
            <a:ext cx="868680" cy="914400"/>
          </a:xfrm>
          <a:prstGeom prst="rect">
            <a:avLst/>
          </a:prstGeom>
          <a:noFill/>
          <a:ln/>
        </p:spPr>
        <p:txBody>
          <a:bodyPr wrap="square" rtlCol="0" anchor="ctr"/>
          <a:lstStyle/>
          <a:p>
            <a:pPr marL="0" indent="0" algn="ctr">
              <a:buNone/>
            </a:pPr>
            <a:r>
              <a:rPr lang="en-US" sz="850" b="1" dirty="0">
                <a:solidFill>
                  <a:srgbClr val="FFFFFF"/>
                </a:solidFill>
              </a:rPr>
              <a:t>Filtre</a:t>
            </a:r>
            <a:endParaRPr lang="en-US" sz="850" dirty="0"/>
          </a:p>
          <a:p>
            <a:pPr marL="0" indent="0" algn="ctr">
              <a:buNone/>
            </a:pPr>
            <a:r>
              <a:rPr lang="en-US" sz="850" b="1" dirty="0">
                <a:solidFill>
                  <a:srgbClr val="FFFFFF"/>
                </a:solidFill>
              </a:rPr>
              <a:t>Métropole</a:t>
            </a:r>
            <a:endParaRPr lang="en-US" sz="850" dirty="0"/>
          </a:p>
        </p:txBody>
      </p:sp>
      <p:sp>
        <p:nvSpPr>
          <p:cNvPr id="11" name="Text 9"/>
          <p:cNvSpPr/>
          <p:nvPr/>
        </p:nvSpPr>
        <p:spPr>
          <a:xfrm>
            <a:off x="303580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12" name="Shape 10"/>
          <p:cNvSpPr/>
          <p:nvPr/>
        </p:nvSpPr>
        <p:spPr>
          <a:xfrm>
            <a:off x="3154680" y="1097280"/>
            <a:ext cx="868680" cy="914400"/>
          </a:xfrm>
          <a:prstGeom prst="rect">
            <a:avLst/>
          </a:prstGeom>
          <a:solidFill>
            <a:srgbClr val="2E75B6"/>
          </a:solidFill>
          <a:ln/>
          <a:effectLst>
            <a:outerShdw blurRad="50800" dist="25400" dir="8100000" algn="bl" rotWithShape="0">
              <a:srgbClr val="000000">
                <a:alpha val="12000"/>
              </a:srgbClr>
            </a:outerShdw>
          </a:effectLst>
        </p:spPr>
        <p:txBody>
          <a:bodyPr/>
          <a:lstStyle/>
          <a:p>
            <a:endParaRPr lang="fr-FR"/>
          </a:p>
        </p:txBody>
      </p:sp>
      <p:sp>
        <p:nvSpPr>
          <p:cNvPr id="13" name="Text 11"/>
          <p:cNvSpPr/>
          <p:nvPr/>
        </p:nvSpPr>
        <p:spPr>
          <a:xfrm>
            <a:off x="3154680" y="1097280"/>
            <a:ext cx="868680" cy="914400"/>
          </a:xfrm>
          <a:prstGeom prst="rect">
            <a:avLst/>
          </a:prstGeom>
          <a:noFill/>
          <a:ln/>
        </p:spPr>
        <p:txBody>
          <a:bodyPr wrap="square" rtlCol="0" anchor="ctr"/>
          <a:lstStyle/>
          <a:p>
            <a:pPr marL="0" indent="0" algn="ctr">
              <a:buNone/>
            </a:pPr>
            <a:r>
              <a:rPr lang="en-US" sz="850" b="1" dirty="0">
                <a:solidFill>
                  <a:srgbClr val="FFFFFF"/>
                </a:solidFill>
              </a:rPr>
              <a:t>Nettoyage</a:t>
            </a:r>
            <a:endParaRPr lang="en-US" sz="850" dirty="0"/>
          </a:p>
          <a:p>
            <a:pPr marL="0" indent="0" algn="ctr">
              <a:buNone/>
            </a:pPr>
            <a:r>
              <a:rPr lang="en-US" sz="850" b="1" dirty="0">
                <a:solidFill>
                  <a:srgbClr val="FFFFFF"/>
                </a:solidFill>
              </a:rPr>
              <a:t>7 étapes</a:t>
            </a:r>
            <a:endParaRPr lang="en-US" sz="850" dirty="0"/>
          </a:p>
        </p:txBody>
      </p:sp>
      <p:sp>
        <p:nvSpPr>
          <p:cNvPr id="14" name="Text 12"/>
          <p:cNvSpPr/>
          <p:nvPr/>
        </p:nvSpPr>
        <p:spPr>
          <a:xfrm>
            <a:off x="399592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15" name="Shape 13"/>
          <p:cNvSpPr/>
          <p:nvPr/>
        </p:nvSpPr>
        <p:spPr>
          <a:xfrm>
            <a:off x="4114800" y="1097280"/>
            <a:ext cx="868680" cy="914400"/>
          </a:xfrm>
          <a:prstGeom prst="rect">
            <a:avLst/>
          </a:prstGeom>
          <a:solidFill>
            <a:srgbClr val="0D9488"/>
          </a:solidFill>
          <a:ln/>
          <a:effectLst>
            <a:outerShdw blurRad="50800" dist="25400" dir="8100000" algn="bl" rotWithShape="0">
              <a:srgbClr val="000000">
                <a:alpha val="12000"/>
              </a:srgbClr>
            </a:outerShdw>
          </a:effectLst>
        </p:spPr>
        <p:txBody>
          <a:bodyPr/>
          <a:lstStyle/>
          <a:p>
            <a:endParaRPr lang="fr-FR"/>
          </a:p>
        </p:txBody>
      </p:sp>
      <p:sp>
        <p:nvSpPr>
          <p:cNvPr id="16" name="Text 14"/>
          <p:cNvSpPr/>
          <p:nvPr/>
        </p:nvSpPr>
        <p:spPr>
          <a:xfrm>
            <a:off x="4114800" y="1097280"/>
            <a:ext cx="868680" cy="914400"/>
          </a:xfrm>
          <a:prstGeom prst="rect">
            <a:avLst/>
          </a:prstGeom>
          <a:noFill/>
          <a:ln/>
        </p:spPr>
        <p:txBody>
          <a:bodyPr wrap="square" rtlCol="0" anchor="ctr"/>
          <a:lstStyle/>
          <a:p>
            <a:pPr marL="0" indent="0" algn="ctr">
              <a:buNone/>
            </a:pPr>
            <a:r>
              <a:rPr lang="en-US" sz="850" b="1" dirty="0">
                <a:solidFill>
                  <a:srgbClr val="FFFFFF"/>
                </a:solidFill>
              </a:rPr>
              <a:t>EDA</a:t>
            </a:r>
            <a:endParaRPr lang="en-US" sz="850" dirty="0"/>
          </a:p>
        </p:txBody>
      </p:sp>
      <p:sp>
        <p:nvSpPr>
          <p:cNvPr id="17" name="Text 15"/>
          <p:cNvSpPr/>
          <p:nvPr/>
        </p:nvSpPr>
        <p:spPr>
          <a:xfrm>
            <a:off x="495604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18" name="Shape 16"/>
          <p:cNvSpPr/>
          <p:nvPr/>
        </p:nvSpPr>
        <p:spPr>
          <a:xfrm>
            <a:off x="5074920" y="1097280"/>
            <a:ext cx="868680" cy="914400"/>
          </a:xfrm>
          <a:prstGeom prst="rect">
            <a:avLst/>
          </a:prstGeom>
          <a:solidFill>
            <a:srgbClr val="0D9488"/>
          </a:solidFill>
          <a:ln/>
          <a:effectLst>
            <a:outerShdw blurRad="50800" dist="25400" dir="8100000" algn="bl" rotWithShape="0">
              <a:srgbClr val="000000">
                <a:alpha val="12000"/>
              </a:srgbClr>
            </a:outerShdw>
          </a:effectLst>
        </p:spPr>
        <p:txBody>
          <a:bodyPr/>
          <a:lstStyle/>
          <a:p>
            <a:endParaRPr lang="fr-FR"/>
          </a:p>
        </p:txBody>
      </p:sp>
      <p:sp>
        <p:nvSpPr>
          <p:cNvPr id="19" name="Text 17"/>
          <p:cNvSpPr/>
          <p:nvPr/>
        </p:nvSpPr>
        <p:spPr>
          <a:xfrm>
            <a:off x="5074920" y="1097280"/>
            <a:ext cx="868680" cy="914400"/>
          </a:xfrm>
          <a:prstGeom prst="rect">
            <a:avLst/>
          </a:prstGeom>
          <a:noFill/>
          <a:ln/>
        </p:spPr>
        <p:txBody>
          <a:bodyPr wrap="square" rtlCol="0" anchor="ctr"/>
          <a:lstStyle/>
          <a:p>
            <a:pPr marL="0" indent="0" algn="ctr">
              <a:buNone/>
            </a:pPr>
            <a:r>
              <a:rPr lang="en-US" sz="850" b="1" dirty="0">
                <a:solidFill>
                  <a:srgbClr val="FFFFFF"/>
                </a:solidFill>
              </a:rPr>
              <a:t>Feature</a:t>
            </a:r>
            <a:endParaRPr lang="en-US" sz="850" dirty="0"/>
          </a:p>
          <a:p>
            <a:pPr marL="0" indent="0" algn="ctr">
              <a:buNone/>
            </a:pPr>
            <a:r>
              <a:rPr lang="en-US" sz="850" b="1" dirty="0">
                <a:solidFill>
                  <a:srgbClr val="FFFFFF"/>
                </a:solidFill>
              </a:rPr>
              <a:t>Engineering</a:t>
            </a:r>
            <a:endParaRPr lang="en-US" sz="850" dirty="0"/>
          </a:p>
        </p:txBody>
      </p:sp>
      <p:sp>
        <p:nvSpPr>
          <p:cNvPr id="20" name="Text 18"/>
          <p:cNvSpPr/>
          <p:nvPr/>
        </p:nvSpPr>
        <p:spPr>
          <a:xfrm>
            <a:off x="591616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21" name="Shape 19"/>
          <p:cNvSpPr/>
          <p:nvPr/>
        </p:nvSpPr>
        <p:spPr>
          <a:xfrm>
            <a:off x="6035040" y="1097280"/>
            <a:ext cx="868680" cy="914400"/>
          </a:xfrm>
          <a:prstGeom prst="rect">
            <a:avLst/>
          </a:prstGeom>
          <a:solidFill>
            <a:srgbClr val="0D9488"/>
          </a:solidFill>
          <a:ln/>
          <a:effectLst>
            <a:outerShdw blurRad="50800" dist="25400" dir="8100000" algn="bl" rotWithShape="0">
              <a:srgbClr val="000000">
                <a:alpha val="12000"/>
              </a:srgbClr>
            </a:outerShdw>
          </a:effectLst>
        </p:spPr>
        <p:txBody>
          <a:bodyPr/>
          <a:lstStyle/>
          <a:p>
            <a:endParaRPr lang="fr-FR"/>
          </a:p>
        </p:txBody>
      </p:sp>
      <p:sp>
        <p:nvSpPr>
          <p:cNvPr id="22" name="Text 20"/>
          <p:cNvSpPr/>
          <p:nvPr/>
        </p:nvSpPr>
        <p:spPr>
          <a:xfrm>
            <a:off x="6035040" y="1097280"/>
            <a:ext cx="868680" cy="914400"/>
          </a:xfrm>
          <a:prstGeom prst="rect">
            <a:avLst/>
          </a:prstGeom>
          <a:noFill/>
          <a:ln/>
        </p:spPr>
        <p:txBody>
          <a:bodyPr wrap="square" rtlCol="0" anchor="ctr"/>
          <a:lstStyle/>
          <a:p>
            <a:pPr marL="0" indent="0" algn="ctr">
              <a:buNone/>
            </a:pPr>
            <a:r>
              <a:rPr lang="en-US" sz="850" b="1" dirty="0">
                <a:solidFill>
                  <a:srgbClr val="FFFFFF"/>
                </a:solidFill>
              </a:rPr>
              <a:t>Double</a:t>
            </a:r>
            <a:endParaRPr lang="en-US" sz="850" dirty="0"/>
          </a:p>
          <a:p>
            <a:pPr marL="0" indent="0" algn="ctr">
              <a:buNone/>
            </a:pPr>
            <a:r>
              <a:rPr lang="en-US" sz="850" b="1" dirty="0">
                <a:solidFill>
                  <a:srgbClr val="FFFFFF"/>
                </a:solidFill>
              </a:rPr>
              <a:t>Modèle ML</a:t>
            </a:r>
            <a:endParaRPr lang="en-US" sz="850" dirty="0"/>
          </a:p>
        </p:txBody>
      </p:sp>
      <p:sp>
        <p:nvSpPr>
          <p:cNvPr id="23" name="Text 21"/>
          <p:cNvSpPr/>
          <p:nvPr/>
        </p:nvSpPr>
        <p:spPr>
          <a:xfrm>
            <a:off x="687628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24" name="Shape 22"/>
          <p:cNvSpPr/>
          <p:nvPr/>
        </p:nvSpPr>
        <p:spPr>
          <a:xfrm>
            <a:off x="6995160" y="1097280"/>
            <a:ext cx="868680" cy="914400"/>
          </a:xfrm>
          <a:prstGeom prst="rect">
            <a:avLst/>
          </a:prstGeom>
          <a:solidFill>
            <a:srgbClr val="1B3A5C"/>
          </a:solidFill>
          <a:ln/>
          <a:effectLst>
            <a:outerShdw blurRad="50800" dist="25400" dir="8100000" algn="bl" rotWithShape="0">
              <a:srgbClr val="000000">
                <a:alpha val="12000"/>
              </a:srgbClr>
            </a:outerShdw>
          </a:effectLst>
        </p:spPr>
        <p:txBody>
          <a:bodyPr/>
          <a:lstStyle/>
          <a:p>
            <a:endParaRPr lang="fr-FR"/>
          </a:p>
        </p:txBody>
      </p:sp>
      <p:sp>
        <p:nvSpPr>
          <p:cNvPr id="25" name="Text 23"/>
          <p:cNvSpPr/>
          <p:nvPr/>
        </p:nvSpPr>
        <p:spPr>
          <a:xfrm>
            <a:off x="6995160" y="1097280"/>
            <a:ext cx="868680" cy="914400"/>
          </a:xfrm>
          <a:prstGeom prst="rect">
            <a:avLst/>
          </a:prstGeom>
          <a:noFill/>
          <a:ln/>
        </p:spPr>
        <p:txBody>
          <a:bodyPr wrap="square" rtlCol="0" anchor="ctr"/>
          <a:lstStyle/>
          <a:p>
            <a:pPr marL="0" indent="0" algn="ctr">
              <a:buNone/>
            </a:pPr>
            <a:r>
              <a:rPr lang="en-US" sz="850" b="1" dirty="0">
                <a:solidFill>
                  <a:srgbClr val="FFFFFF"/>
                </a:solidFill>
              </a:rPr>
              <a:t>Dashboard</a:t>
            </a:r>
            <a:endParaRPr lang="en-US" sz="850" dirty="0"/>
          </a:p>
          <a:p>
            <a:pPr marL="0" indent="0" algn="ctr">
              <a:buNone/>
            </a:pPr>
            <a:r>
              <a:rPr lang="en-US" sz="850" b="1" dirty="0">
                <a:solidFill>
                  <a:srgbClr val="FFFFFF"/>
                </a:solidFill>
              </a:rPr>
              <a:t>Power BI</a:t>
            </a:r>
            <a:endParaRPr lang="en-US" sz="850" dirty="0"/>
          </a:p>
        </p:txBody>
      </p:sp>
      <p:sp>
        <p:nvSpPr>
          <p:cNvPr id="26" name="Text 24"/>
          <p:cNvSpPr/>
          <p:nvPr/>
        </p:nvSpPr>
        <p:spPr>
          <a:xfrm>
            <a:off x="7836408" y="1325880"/>
            <a:ext cx="182880" cy="365760"/>
          </a:xfrm>
          <a:prstGeom prst="rect">
            <a:avLst/>
          </a:prstGeom>
          <a:noFill/>
          <a:ln/>
        </p:spPr>
        <p:txBody>
          <a:bodyPr wrap="square" rtlCol="0" anchor="ctr"/>
          <a:lstStyle/>
          <a:p>
            <a:pPr marL="0" indent="0" algn="ctr">
              <a:buNone/>
            </a:pPr>
            <a:r>
              <a:rPr lang="en-US" sz="1600" dirty="0">
                <a:solidFill>
                  <a:srgbClr val="64748B"/>
                </a:solidFill>
              </a:rPr>
              <a:t>→</a:t>
            </a:r>
            <a:endParaRPr lang="en-US" sz="1600" dirty="0"/>
          </a:p>
        </p:txBody>
      </p:sp>
      <p:sp>
        <p:nvSpPr>
          <p:cNvPr id="27" name="Shape 25"/>
          <p:cNvSpPr/>
          <p:nvPr/>
        </p:nvSpPr>
        <p:spPr>
          <a:xfrm>
            <a:off x="7955280" y="1097280"/>
            <a:ext cx="868680" cy="914400"/>
          </a:xfrm>
          <a:prstGeom prst="rect">
            <a:avLst/>
          </a:prstGeom>
          <a:solidFill>
            <a:srgbClr val="1B3A5C"/>
          </a:solidFill>
          <a:ln/>
          <a:effectLst>
            <a:outerShdw blurRad="50800" dist="25400" dir="8100000" algn="bl" rotWithShape="0">
              <a:srgbClr val="000000">
                <a:alpha val="12000"/>
              </a:srgbClr>
            </a:outerShdw>
          </a:effectLst>
        </p:spPr>
        <p:txBody>
          <a:bodyPr/>
          <a:lstStyle/>
          <a:p>
            <a:endParaRPr lang="fr-FR"/>
          </a:p>
        </p:txBody>
      </p:sp>
      <p:sp>
        <p:nvSpPr>
          <p:cNvPr id="28" name="Text 26"/>
          <p:cNvSpPr/>
          <p:nvPr/>
        </p:nvSpPr>
        <p:spPr>
          <a:xfrm>
            <a:off x="7955280" y="1097280"/>
            <a:ext cx="868680" cy="914400"/>
          </a:xfrm>
          <a:prstGeom prst="rect">
            <a:avLst/>
          </a:prstGeom>
          <a:noFill/>
          <a:ln/>
        </p:spPr>
        <p:txBody>
          <a:bodyPr wrap="square" rtlCol="0" anchor="ctr"/>
          <a:lstStyle/>
          <a:p>
            <a:pPr marL="0" indent="0" algn="ctr">
              <a:buNone/>
            </a:pPr>
            <a:r>
              <a:rPr lang="en-US" sz="850" b="1" dirty="0">
                <a:solidFill>
                  <a:srgbClr val="FFFFFF"/>
                </a:solidFill>
              </a:rPr>
              <a:t>Recomman-</a:t>
            </a:r>
            <a:endParaRPr lang="en-US" sz="850" dirty="0"/>
          </a:p>
          <a:p>
            <a:pPr marL="0" indent="0" algn="ctr">
              <a:buNone/>
            </a:pPr>
            <a:r>
              <a:rPr lang="en-US" sz="850" b="1" dirty="0">
                <a:solidFill>
                  <a:srgbClr val="FFFFFF"/>
                </a:solidFill>
              </a:rPr>
              <a:t>dations</a:t>
            </a:r>
            <a:endParaRPr lang="en-US" sz="850" dirty="0"/>
          </a:p>
        </p:txBody>
      </p:sp>
      <p:sp>
        <p:nvSpPr>
          <p:cNvPr id="29" name="Text 27"/>
          <p:cNvSpPr/>
          <p:nvPr/>
        </p:nvSpPr>
        <p:spPr>
          <a:xfrm>
            <a:off x="457200" y="2286000"/>
            <a:ext cx="8229600" cy="320040"/>
          </a:xfrm>
          <a:prstGeom prst="rect">
            <a:avLst/>
          </a:prstGeom>
          <a:noFill/>
          <a:ln/>
        </p:spPr>
        <p:txBody>
          <a:bodyPr wrap="square" rtlCol="0" anchor="ctr"/>
          <a:lstStyle/>
          <a:p>
            <a:pPr marL="0" indent="0">
              <a:buNone/>
            </a:pPr>
            <a:r>
              <a:rPr lang="en-US" sz="1400" b="1" dirty="0">
                <a:solidFill>
                  <a:srgbClr val="1B3A5C"/>
                </a:solidFill>
              </a:rPr>
              <a:t>Stratégie Double Modèle — Choix de la Rigueur Scientifique</a:t>
            </a:r>
            <a:endParaRPr lang="en-US" sz="1400" dirty="0"/>
          </a:p>
        </p:txBody>
      </p:sp>
      <p:sp>
        <p:nvSpPr>
          <p:cNvPr id="30" name="Text 28"/>
          <p:cNvSpPr/>
          <p:nvPr/>
        </p:nvSpPr>
        <p:spPr>
          <a:xfrm>
            <a:off x="457200" y="2606040"/>
            <a:ext cx="8229600" cy="274320"/>
          </a:xfrm>
          <a:prstGeom prst="rect">
            <a:avLst/>
          </a:prstGeom>
          <a:noFill/>
          <a:ln/>
        </p:spPr>
        <p:txBody>
          <a:bodyPr wrap="square" rtlCol="0" anchor="ctr"/>
          <a:lstStyle/>
          <a:p>
            <a:pPr marL="0" indent="0">
              <a:buNone/>
            </a:pPr>
            <a:r>
              <a:rPr lang="en-US" sz="1100" i="1" dirty="0">
                <a:solidFill>
                  <a:srgbClr val="64748B"/>
                </a:solidFill>
              </a:rPr>
              <a:t>Séparation des périodes due à la rupture de nomenclature ONISR 2019 pour garantir l'absence de biais statistique.</a:t>
            </a:r>
            <a:endParaRPr lang="en-US" sz="1100" dirty="0"/>
          </a:p>
        </p:txBody>
      </p:sp>
      <p:sp>
        <p:nvSpPr>
          <p:cNvPr id="31" name="Shape 29"/>
          <p:cNvSpPr/>
          <p:nvPr/>
        </p:nvSpPr>
        <p:spPr>
          <a:xfrm>
            <a:off x="457200" y="2971800"/>
            <a:ext cx="393192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32" name="Shape 30"/>
          <p:cNvSpPr/>
          <p:nvPr/>
        </p:nvSpPr>
        <p:spPr>
          <a:xfrm>
            <a:off x="457200" y="2971800"/>
            <a:ext cx="3931920" cy="54864"/>
          </a:xfrm>
          <a:prstGeom prst="rect">
            <a:avLst/>
          </a:prstGeom>
          <a:solidFill>
            <a:srgbClr val="2E75B6"/>
          </a:solidFill>
          <a:ln/>
        </p:spPr>
        <p:txBody>
          <a:bodyPr/>
          <a:lstStyle/>
          <a:p>
            <a:endParaRPr lang="fr-FR"/>
          </a:p>
        </p:txBody>
      </p:sp>
      <p:sp>
        <p:nvSpPr>
          <p:cNvPr id="33" name="Text 31"/>
          <p:cNvSpPr/>
          <p:nvPr/>
        </p:nvSpPr>
        <p:spPr>
          <a:xfrm>
            <a:off x="640080" y="3063240"/>
            <a:ext cx="3566160" cy="274320"/>
          </a:xfrm>
          <a:prstGeom prst="rect">
            <a:avLst/>
          </a:prstGeom>
          <a:noFill/>
          <a:ln/>
        </p:spPr>
        <p:txBody>
          <a:bodyPr wrap="square" rtlCol="0" anchor="ctr"/>
          <a:lstStyle/>
          <a:p>
            <a:pPr marL="0" indent="0">
              <a:buNone/>
            </a:pPr>
            <a:r>
              <a:rPr lang="en-US" sz="1300" b="1" dirty="0">
                <a:solidFill>
                  <a:srgbClr val="2E75B6"/>
                </a:solidFill>
              </a:rPr>
              <a:t>Modèle A — 2005-2018</a:t>
            </a:r>
            <a:endParaRPr lang="en-US" sz="1300" dirty="0"/>
          </a:p>
        </p:txBody>
      </p:sp>
      <p:sp>
        <p:nvSpPr>
          <p:cNvPr id="34" name="Text 32"/>
          <p:cNvSpPr/>
          <p:nvPr/>
        </p:nvSpPr>
        <p:spPr>
          <a:xfrm>
            <a:off x="640080" y="3383280"/>
            <a:ext cx="3566160" cy="1097280"/>
          </a:xfrm>
          <a:prstGeom prst="rect">
            <a:avLst/>
          </a:prstGeom>
          <a:noFill/>
          <a:ln/>
        </p:spPr>
        <p:txBody>
          <a:bodyPr wrap="square" rtlCol="0" anchor="ctr"/>
          <a:lstStyle/>
          <a:p>
            <a:pPr marL="0" indent="0">
              <a:buNone/>
            </a:pPr>
            <a:r>
              <a:rPr lang="en-US" sz="1100" dirty="0">
                <a:solidFill>
                  <a:srgbClr val="1E293B"/>
                </a:solidFill>
              </a:rPr>
              <a:t>Cible : Tué (grav = 2)</a:t>
            </a:r>
            <a:endParaRPr lang="en-US" sz="1100" dirty="0"/>
          </a:p>
          <a:p>
            <a:pPr marL="0" indent="0">
              <a:buNone/>
            </a:pPr>
            <a:r>
              <a:rPr lang="en-US" sz="1100" dirty="0">
                <a:solidFill>
                  <a:srgbClr val="1E293B"/>
                </a:solidFill>
              </a:rPr>
              <a:t>12 features | 2 071 425 usagers</a:t>
            </a:r>
            <a:endParaRPr lang="en-US" sz="1100" dirty="0"/>
          </a:p>
          <a:p>
            <a:pPr marL="0" indent="0">
              <a:buNone/>
            </a:pPr>
            <a:r>
              <a:rPr lang="en-US" sz="1100" dirty="0">
                <a:solidFill>
                  <a:srgbClr val="1E293B"/>
                </a:solidFill>
              </a:rPr>
              <a:t>Classe Tué = 2.7% (ratio 1:36)</a:t>
            </a:r>
            <a:endParaRPr lang="en-US" sz="1100" dirty="0"/>
          </a:p>
          <a:p>
            <a:pPr marL="0" indent="0">
              <a:buNone/>
            </a:pPr>
            <a:r>
              <a:rPr lang="en-US" sz="1100" dirty="0">
                <a:solidFill>
                  <a:srgbClr val="1E293B"/>
                </a:solidFill>
              </a:rPr>
              <a:t>class_weight = 'balanced'</a:t>
            </a:r>
            <a:endParaRPr lang="en-US" sz="1100" dirty="0"/>
          </a:p>
        </p:txBody>
      </p:sp>
      <p:sp>
        <p:nvSpPr>
          <p:cNvPr id="35" name="Shape 33"/>
          <p:cNvSpPr/>
          <p:nvPr/>
        </p:nvSpPr>
        <p:spPr>
          <a:xfrm>
            <a:off x="4754880" y="2971800"/>
            <a:ext cx="3931920" cy="173736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36" name="Shape 34"/>
          <p:cNvSpPr/>
          <p:nvPr/>
        </p:nvSpPr>
        <p:spPr>
          <a:xfrm>
            <a:off x="4754880" y="2971800"/>
            <a:ext cx="3931920" cy="54864"/>
          </a:xfrm>
          <a:prstGeom prst="rect">
            <a:avLst/>
          </a:prstGeom>
          <a:solidFill>
            <a:srgbClr val="0D9488"/>
          </a:solidFill>
          <a:ln/>
        </p:spPr>
        <p:txBody>
          <a:bodyPr/>
          <a:lstStyle/>
          <a:p>
            <a:endParaRPr lang="fr-FR"/>
          </a:p>
        </p:txBody>
      </p:sp>
      <p:sp>
        <p:nvSpPr>
          <p:cNvPr id="37" name="Text 35"/>
          <p:cNvSpPr/>
          <p:nvPr/>
        </p:nvSpPr>
        <p:spPr>
          <a:xfrm>
            <a:off x="4937760" y="3063240"/>
            <a:ext cx="3566160" cy="274320"/>
          </a:xfrm>
          <a:prstGeom prst="rect">
            <a:avLst/>
          </a:prstGeom>
          <a:noFill/>
          <a:ln/>
        </p:spPr>
        <p:txBody>
          <a:bodyPr wrap="square" rtlCol="0" anchor="ctr"/>
          <a:lstStyle/>
          <a:p>
            <a:pPr marL="0" indent="0">
              <a:buNone/>
            </a:pPr>
            <a:r>
              <a:rPr lang="en-US" sz="1300" b="1" dirty="0">
                <a:solidFill>
                  <a:srgbClr val="0D9488"/>
                </a:solidFill>
              </a:rPr>
              <a:t>Modèle B — 2019-2024</a:t>
            </a:r>
            <a:endParaRPr lang="en-US" sz="1300" dirty="0"/>
          </a:p>
        </p:txBody>
      </p:sp>
      <p:sp>
        <p:nvSpPr>
          <p:cNvPr id="38" name="Text 36"/>
          <p:cNvSpPr/>
          <p:nvPr/>
        </p:nvSpPr>
        <p:spPr>
          <a:xfrm>
            <a:off x="4937760" y="3383280"/>
            <a:ext cx="3566160" cy="1097280"/>
          </a:xfrm>
          <a:prstGeom prst="rect">
            <a:avLst/>
          </a:prstGeom>
          <a:noFill/>
          <a:ln/>
        </p:spPr>
        <p:txBody>
          <a:bodyPr wrap="square" rtlCol="0" anchor="ctr"/>
          <a:lstStyle/>
          <a:p>
            <a:pPr marL="0" indent="0">
              <a:buNone/>
            </a:pPr>
            <a:r>
              <a:rPr lang="en-US" sz="1100" dirty="0">
                <a:solidFill>
                  <a:srgbClr val="1E293B"/>
                </a:solidFill>
              </a:rPr>
              <a:t>Cible : Grave (Tué + Hospitalisé)</a:t>
            </a:r>
            <a:endParaRPr lang="en-US" sz="1100" dirty="0"/>
          </a:p>
          <a:p>
            <a:pPr marL="0" indent="0">
              <a:buNone/>
            </a:pPr>
            <a:r>
              <a:rPr lang="en-US" sz="1100" dirty="0">
                <a:solidFill>
                  <a:srgbClr val="1E293B"/>
                </a:solidFill>
              </a:rPr>
              <a:t>14 features (+motor_electrique, +vma_risque)</a:t>
            </a:r>
            <a:endParaRPr lang="en-US" sz="1100" dirty="0"/>
          </a:p>
          <a:p>
            <a:pPr marL="0" indent="0">
              <a:buNone/>
            </a:pPr>
            <a:r>
              <a:rPr lang="en-US" sz="1100" dirty="0">
                <a:solidFill>
                  <a:srgbClr val="1E293B"/>
                </a:solidFill>
              </a:rPr>
              <a:t>Classe Grave = 17.4%</a:t>
            </a:r>
            <a:endParaRPr lang="en-US" sz="1100" dirty="0"/>
          </a:p>
          <a:p>
            <a:pPr marL="0" indent="0">
              <a:buNone/>
            </a:pPr>
            <a:r>
              <a:rPr lang="en-US" sz="1100" dirty="0">
                <a:solidFill>
                  <a:srgbClr val="1E293B"/>
                </a:solidFill>
              </a:rPr>
              <a:t>Rupture ONISR 2019 : label hospitalisé non comparable</a:t>
            </a:r>
            <a:endParaRPr lang="en-US" sz="1100" dirty="0"/>
          </a:p>
        </p:txBody>
      </p:sp>
      <p:sp>
        <p:nvSpPr>
          <p:cNvPr id="39" name="Text 37"/>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40" name="Text 38"/>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5 / 20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Nettoyage des Données — 7 Étapes</a:t>
            </a:r>
            <a:endParaRPr lang="en-US" sz="2800" dirty="0"/>
          </a:p>
        </p:txBody>
      </p:sp>
      <p:sp>
        <p:nvSpPr>
          <p:cNvPr id="3" name="Text 1"/>
          <p:cNvSpPr/>
          <p:nvPr/>
        </p:nvSpPr>
        <p:spPr>
          <a:xfrm>
            <a:off x="457200" y="777240"/>
            <a:ext cx="8229600" cy="228600"/>
          </a:xfrm>
          <a:prstGeom prst="rect">
            <a:avLst/>
          </a:prstGeom>
          <a:noFill/>
          <a:ln/>
        </p:spPr>
        <p:txBody>
          <a:bodyPr wrap="square" rtlCol="0" anchor="ctr"/>
          <a:lstStyle/>
          <a:p>
            <a:pPr marL="0" indent="0">
              <a:buNone/>
            </a:pPr>
            <a:r>
              <a:rPr lang="en-US" sz="1000" i="1" dirty="0">
                <a:solidFill>
                  <a:srgbClr val="64748B"/>
                </a:solidFill>
              </a:rPr>
              <a:t>Chiffres exacts issus de l'exécution du Notebook — Aucune approximation</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3161442022"/>
              </p:ext>
            </p:extLst>
          </p:nvPr>
        </p:nvGraphicFramePr>
        <p:xfrm>
          <a:off x="457200" y="1097280"/>
          <a:ext cx="8229600" cy="1950720"/>
        </p:xfrm>
        <a:graphic>
          <a:graphicData uri="http://schemas.openxmlformats.org/drawingml/2006/table">
            <a:tbl>
              <a:tblPr/>
              <a:tblGrid>
                <a:gridCol w="4572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0">
                <a:tc>
                  <a:txBody>
                    <a:bodyPr/>
                    <a:lstStyle/>
                    <a:p>
                      <a:pPr marL="0" indent="0" algn="ctr">
                        <a:buNone/>
                      </a:pPr>
                      <a:r>
                        <a:rPr lang="en-US" sz="1000" b="1" dirty="0">
                          <a:solidFill>
                            <a:srgbClr val="FFFFFF"/>
                          </a:solidFill>
                        </a:rPr>
                        <a: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Étape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Résultat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lgn="ctr">
                        <a:buNone/>
                      </a:pPr>
                      <a:r>
                        <a:rPr lang="en-US" sz="1000" dirty="0">
                          <a:solidFill>
                            <a:srgbClr val="000000"/>
                          </a:solidFill>
                        </a:rPr>
                        <a:t>1</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Suppression doublons exacts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2 610 supprimés (0.126%)</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000" dirty="0">
                          <a:solidFill>
                            <a:srgbClr val="000000"/>
                          </a:solidFill>
                        </a:rPr>
                        <a:t>2</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fr-FR" sz="1000" dirty="0"/>
                        <a:t>Suppression </a:t>
                      </a:r>
                      <a:r>
                        <a:rPr lang="fr-FR" sz="1000" dirty="0" err="1"/>
                        <a:t>grav</a:t>
                      </a:r>
                      <a:r>
                        <a:rPr lang="fr-FR" sz="1000" dirty="0"/>
                        <a:t> = -1 et valeurs manquantes </a:t>
                      </a:r>
                      <a:r>
                        <a:rPr lang="en-US" sz="1000" dirty="0" err="1">
                          <a:solidFill>
                            <a:srgbClr val="000000"/>
                          </a:solidFill>
                        </a:rPr>
                        <a:t>NaN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fr-FR" sz="1000" dirty="0"/>
                        <a:t>398 usagers supprimés (période 2019-2024)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0">
                <a:tc>
                  <a:txBody>
                    <a:bodyPr/>
                    <a:lstStyle/>
                    <a:p>
                      <a:pPr marL="0" indent="0" algn="ctr">
                        <a:buNone/>
                      </a:pPr>
                      <a:r>
                        <a:rPr lang="en-US" sz="1000" dirty="0">
                          <a:solidFill>
                            <a:srgbClr val="000000"/>
                          </a:solidFill>
                        </a:rPr>
                        <a:t>3</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Colonnes quasi-vides (&gt;90% NaN)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9 colonnes supprimées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000" dirty="0">
                          <a:solidFill>
                            <a:srgbClr val="000000"/>
                          </a:solidFill>
                        </a:rPr>
                        <a:t>4</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Imputation âge par médiane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1000" dirty="0">
                          <a:solidFill>
                            <a:srgbClr val="000000"/>
                          </a:solidFill>
                        </a:rPr>
                        <a:t>2 296 NaN → médiane 34 ans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0">
                <a:tc>
                  <a:txBody>
                    <a:bodyPr/>
                    <a:lstStyle/>
                    <a:p>
                      <a:pPr marL="0" indent="0" algn="ctr">
                        <a:buNone/>
                      </a:pPr>
                      <a:r>
                        <a:rPr lang="en-US" sz="1000" dirty="0">
                          <a:solidFill>
                            <a:srgbClr val="000000"/>
                          </a:solidFill>
                        </a:rPr>
                        <a:t>5</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Capping outliers âge &gt;100</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250 usagers cappés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lgn="ctr">
                        <a:buNone/>
                      </a:pPr>
                      <a:r>
                        <a:rPr lang="en-US" sz="1000" dirty="0">
                          <a:solidFill>
                            <a:srgbClr val="000000"/>
                          </a:solidFill>
                        </a:rPr>
                        <a:t>6</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fr-FR" sz="1000" dirty="0">
                          <a:solidFill>
                            <a:srgbClr val="000000"/>
                          </a:solidFill>
                        </a:rPr>
                        <a:t>Remplacement des -1 par le mode</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fr-FR" sz="1000" dirty="0">
                          <a:solidFill>
                            <a:srgbClr val="000000"/>
                          </a:solidFill>
                        </a:rPr>
                        <a:t>115 740 valeurs corrigées (Période 2019-2024)</a:t>
                      </a: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0">
                <a:tc>
                  <a:txBody>
                    <a:bodyPr/>
                    <a:lstStyle/>
                    <a:p>
                      <a:pPr marL="0" indent="0" algn="ctr">
                        <a:buNone/>
                      </a:pPr>
                      <a:r>
                        <a:rPr lang="en-US" sz="1000" dirty="0">
                          <a:solidFill>
                            <a:srgbClr val="000000"/>
                          </a:solidFill>
                        </a:rPr>
                        <a:t>7</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Standardisation types numériques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00000"/>
                          </a:solidFill>
                        </a:rPr>
                        <a:t>24 colonnes converties</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457200" y="402336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6" name="Text 3"/>
          <p:cNvSpPr/>
          <p:nvPr/>
        </p:nvSpPr>
        <p:spPr>
          <a:xfrm>
            <a:off x="640080" y="4069080"/>
            <a:ext cx="7863840" cy="548640"/>
          </a:xfrm>
          <a:prstGeom prst="rect">
            <a:avLst/>
          </a:prstGeom>
          <a:noFill/>
          <a:ln/>
        </p:spPr>
        <p:txBody>
          <a:bodyPr wrap="square" rtlCol="0" anchor="ctr"/>
          <a:lstStyle/>
          <a:p>
            <a:pPr marL="0" indent="0">
              <a:buNone/>
            </a:pPr>
            <a:r>
              <a:rPr lang="en-US" sz="1300" b="1" dirty="0">
                <a:solidFill>
                  <a:srgbClr val="28A745"/>
                </a:solidFill>
              </a:rPr>
              <a:t>Perte de données totale &lt; 1% </a:t>
            </a:r>
            <a:r>
              <a:rPr lang="en-US" sz="1200" dirty="0">
                <a:solidFill>
                  <a:srgbClr val="1E293B"/>
                </a:solidFill>
              </a:rPr>
              <a:t>— Le nettoyage préserve la représentativité statistique. Qualité BAAC confirmée.</a:t>
            </a:r>
            <a:endParaRPr lang="en-US" sz="1300" dirty="0"/>
          </a:p>
        </p:txBody>
      </p:sp>
      <p:sp>
        <p:nvSpPr>
          <p:cNvPr id="4" name="Text 4"/>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8" name="Text 5"/>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6 / 20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EDA : Facteurs Environnementaux</a:t>
            </a:r>
            <a:endParaRPr lang="en-US" sz="2800" dirty="0"/>
          </a:p>
        </p:txBody>
      </p:sp>
      <p:pic>
        <p:nvPicPr>
          <p:cNvPr id="3" name="Image 0" descr="/home/claude/img_luminosite.png"/>
          <p:cNvPicPr>
            <a:picLocks noChangeAspect="1"/>
          </p:cNvPicPr>
          <p:nvPr/>
        </p:nvPicPr>
        <p:blipFill>
          <a:blip r:embed="rId3"/>
          <a:stretch>
            <a:fillRect/>
          </a:stretch>
        </p:blipFill>
        <p:spPr>
          <a:xfrm>
            <a:off x="274320" y="914400"/>
            <a:ext cx="4754880" cy="2286000"/>
          </a:xfrm>
          <a:prstGeom prst="rect">
            <a:avLst/>
          </a:prstGeom>
        </p:spPr>
      </p:pic>
      <p:sp>
        <p:nvSpPr>
          <p:cNvPr id="4" name="Shape 1"/>
          <p:cNvSpPr/>
          <p:nvPr/>
        </p:nvSpPr>
        <p:spPr>
          <a:xfrm>
            <a:off x="5212080" y="914400"/>
            <a:ext cx="3657600" cy="7772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5" name="Shape 2"/>
          <p:cNvSpPr/>
          <p:nvPr/>
        </p:nvSpPr>
        <p:spPr>
          <a:xfrm>
            <a:off x="5212080" y="914400"/>
            <a:ext cx="54864" cy="777240"/>
          </a:xfrm>
          <a:prstGeom prst="rect">
            <a:avLst/>
          </a:prstGeom>
          <a:solidFill>
            <a:srgbClr val="DC3545"/>
          </a:solidFill>
          <a:ln/>
        </p:spPr>
        <p:txBody>
          <a:bodyPr/>
          <a:lstStyle/>
          <a:p>
            <a:endParaRPr lang="fr-FR"/>
          </a:p>
        </p:txBody>
      </p:sp>
      <p:sp>
        <p:nvSpPr>
          <p:cNvPr id="6" name="Text 3"/>
          <p:cNvSpPr/>
          <p:nvPr/>
        </p:nvSpPr>
        <p:spPr>
          <a:xfrm>
            <a:off x="5394960" y="914400"/>
            <a:ext cx="1828800" cy="320040"/>
          </a:xfrm>
          <a:prstGeom prst="rect">
            <a:avLst/>
          </a:prstGeom>
          <a:noFill/>
          <a:ln/>
        </p:spPr>
        <p:txBody>
          <a:bodyPr wrap="square" rtlCol="0" anchor="ctr"/>
          <a:lstStyle/>
          <a:p>
            <a:pPr marL="0" indent="0">
              <a:buNone/>
            </a:pPr>
            <a:r>
              <a:rPr lang="en-US" sz="1100" b="1" dirty="0">
                <a:solidFill>
                  <a:srgbClr val="1B3A5C"/>
                </a:solidFill>
              </a:rPr>
              <a:t>Nuit sans éclairage</a:t>
            </a:r>
            <a:endParaRPr lang="en-US" sz="1100" dirty="0"/>
          </a:p>
        </p:txBody>
      </p:sp>
      <p:sp>
        <p:nvSpPr>
          <p:cNvPr id="7" name="Text 4"/>
          <p:cNvSpPr/>
          <p:nvPr/>
        </p:nvSpPr>
        <p:spPr>
          <a:xfrm>
            <a:off x="7315200" y="914400"/>
            <a:ext cx="1371600" cy="320040"/>
          </a:xfrm>
          <a:prstGeom prst="rect">
            <a:avLst/>
          </a:prstGeom>
          <a:noFill/>
          <a:ln/>
        </p:spPr>
        <p:txBody>
          <a:bodyPr wrap="square" rtlCol="0" anchor="ctr"/>
          <a:lstStyle/>
          <a:p>
            <a:pPr marL="0" indent="0" algn="r">
              <a:buNone/>
            </a:pPr>
            <a:r>
              <a:rPr lang="en-US" sz="1300" b="1" dirty="0">
                <a:solidFill>
                  <a:srgbClr val="DC3545"/>
                </a:solidFill>
              </a:rPr>
              <a:t>Risque de gravité ×2</a:t>
            </a:r>
            <a:endParaRPr lang="en-US" sz="1300" dirty="0"/>
          </a:p>
        </p:txBody>
      </p:sp>
      <p:sp>
        <p:nvSpPr>
          <p:cNvPr id="8" name="Text 5"/>
          <p:cNvSpPr/>
          <p:nvPr/>
        </p:nvSpPr>
        <p:spPr>
          <a:xfrm>
            <a:off x="5394960" y="1234440"/>
            <a:ext cx="3291840" cy="365760"/>
          </a:xfrm>
          <a:prstGeom prst="rect">
            <a:avLst/>
          </a:prstGeom>
          <a:noFill/>
          <a:ln/>
        </p:spPr>
        <p:txBody>
          <a:bodyPr wrap="square" rtlCol="0" anchor="ctr"/>
          <a:lstStyle/>
          <a:p>
            <a:pPr marL="0" indent="0">
              <a:buNone/>
            </a:pPr>
            <a:r>
              <a:rPr lang="en-US" sz="900" dirty="0">
                <a:solidFill>
                  <a:srgbClr val="64748B"/>
                </a:solidFill>
              </a:rPr>
              <a:t>Taux gravité 28.1% vs 12.7% en nuit éclairée</a:t>
            </a:r>
            <a:endParaRPr lang="en-US" sz="900" dirty="0"/>
          </a:p>
        </p:txBody>
      </p:sp>
      <p:sp>
        <p:nvSpPr>
          <p:cNvPr id="9" name="Shape 6"/>
          <p:cNvSpPr/>
          <p:nvPr/>
        </p:nvSpPr>
        <p:spPr>
          <a:xfrm>
            <a:off x="5212080" y="1828800"/>
            <a:ext cx="3657600" cy="7772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0" name="Shape 7"/>
          <p:cNvSpPr/>
          <p:nvPr/>
        </p:nvSpPr>
        <p:spPr>
          <a:xfrm>
            <a:off x="5212080" y="1828800"/>
            <a:ext cx="54864" cy="777240"/>
          </a:xfrm>
          <a:prstGeom prst="rect">
            <a:avLst/>
          </a:prstGeom>
          <a:solidFill>
            <a:srgbClr val="E67E22"/>
          </a:solidFill>
          <a:ln/>
        </p:spPr>
        <p:txBody>
          <a:bodyPr/>
          <a:lstStyle/>
          <a:p>
            <a:endParaRPr lang="fr-FR"/>
          </a:p>
        </p:txBody>
      </p:sp>
      <p:sp>
        <p:nvSpPr>
          <p:cNvPr id="11" name="Text 8"/>
          <p:cNvSpPr/>
          <p:nvPr/>
        </p:nvSpPr>
        <p:spPr>
          <a:xfrm>
            <a:off x="5394960" y="1828800"/>
            <a:ext cx="1828800" cy="320040"/>
          </a:xfrm>
          <a:prstGeom prst="rect">
            <a:avLst/>
          </a:prstGeom>
          <a:noFill/>
          <a:ln/>
        </p:spPr>
        <p:txBody>
          <a:bodyPr wrap="square" rtlCol="0" anchor="ctr"/>
          <a:lstStyle/>
          <a:p>
            <a:pPr marL="0" indent="0">
              <a:buNone/>
            </a:pPr>
            <a:r>
              <a:rPr lang="en-US" sz="1100" b="1" dirty="0">
                <a:solidFill>
                  <a:srgbClr val="1B3A5C"/>
                </a:solidFill>
              </a:rPr>
              <a:t>Hors agglomération</a:t>
            </a:r>
            <a:endParaRPr lang="en-US" sz="1100" dirty="0"/>
          </a:p>
        </p:txBody>
      </p:sp>
      <p:sp>
        <p:nvSpPr>
          <p:cNvPr id="12" name="Text 9"/>
          <p:cNvSpPr/>
          <p:nvPr/>
        </p:nvSpPr>
        <p:spPr>
          <a:xfrm>
            <a:off x="7315200" y="1828800"/>
            <a:ext cx="1371600" cy="320040"/>
          </a:xfrm>
          <a:prstGeom prst="rect">
            <a:avLst/>
          </a:prstGeom>
          <a:noFill/>
          <a:ln/>
        </p:spPr>
        <p:txBody>
          <a:bodyPr wrap="square" rtlCol="0" anchor="ctr"/>
          <a:lstStyle/>
          <a:p>
            <a:pPr marL="0" indent="0" algn="r">
              <a:buNone/>
            </a:pPr>
            <a:r>
              <a:rPr lang="en-US" sz="1300" b="1" dirty="0">
                <a:solidFill>
                  <a:srgbClr val="FF0000"/>
                </a:solidFill>
              </a:rPr>
              <a:t>Gravité ×2</a:t>
            </a:r>
            <a:endParaRPr lang="en-US" sz="1300" dirty="0">
              <a:solidFill>
                <a:srgbClr val="FF0000"/>
              </a:solidFill>
            </a:endParaRPr>
          </a:p>
        </p:txBody>
      </p:sp>
      <p:sp>
        <p:nvSpPr>
          <p:cNvPr id="13" name="Text 10"/>
          <p:cNvSpPr/>
          <p:nvPr/>
        </p:nvSpPr>
        <p:spPr>
          <a:xfrm>
            <a:off x="5394960" y="2148840"/>
            <a:ext cx="3291840" cy="365760"/>
          </a:xfrm>
          <a:prstGeom prst="rect">
            <a:avLst/>
          </a:prstGeom>
          <a:noFill/>
          <a:ln/>
        </p:spPr>
        <p:txBody>
          <a:bodyPr wrap="square" rtlCol="0" anchor="ctr"/>
          <a:lstStyle/>
          <a:p>
            <a:pPr marL="0" indent="0">
              <a:buNone/>
            </a:pPr>
            <a:r>
              <a:rPr lang="en-US" sz="900" dirty="0">
                <a:solidFill>
                  <a:srgbClr val="64748B"/>
                </a:solidFill>
              </a:rPr>
              <a:t>agg = Feature Importance #1 Modèle A (0.235)</a:t>
            </a:r>
            <a:endParaRPr lang="en-US" sz="900" dirty="0"/>
          </a:p>
        </p:txBody>
      </p:sp>
      <p:sp>
        <p:nvSpPr>
          <p:cNvPr id="14" name="Shape 11"/>
          <p:cNvSpPr/>
          <p:nvPr/>
        </p:nvSpPr>
        <p:spPr>
          <a:xfrm>
            <a:off x="5266944" y="2743200"/>
            <a:ext cx="3657600" cy="7772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5" name="Shape 12"/>
          <p:cNvSpPr/>
          <p:nvPr/>
        </p:nvSpPr>
        <p:spPr>
          <a:xfrm>
            <a:off x="5212080" y="2743200"/>
            <a:ext cx="54864" cy="777240"/>
          </a:xfrm>
          <a:prstGeom prst="rect">
            <a:avLst/>
          </a:prstGeom>
          <a:solidFill>
            <a:srgbClr val="2E75B6"/>
          </a:solidFill>
          <a:ln/>
        </p:spPr>
        <p:txBody>
          <a:bodyPr/>
          <a:lstStyle/>
          <a:p>
            <a:endParaRPr lang="fr-FR"/>
          </a:p>
        </p:txBody>
      </p:sp>
      <p:sp>
        <p:nvSpPr>
          <p:cNvPr id="16" name="Text 13"/>
          <p:cNvSpPr/>
          <p:nvPr/>
        </p:nvSpPr>
        <p:spPr>
          <a:xfrm>
            <a:off x="5394960" y="2743200"/>
            <a:ext cx="1828800" cy="320040"/>
          </a:xfrm>
          <a:prstGeom prst="rect">
            <a:avLst/>
          </a:prstGeom>
          <a:noFill/>
          <a:ln/>
        </p:spPr>
        <p:txBody>
          <a:bodyPr wrap="square" rtlCol="0" anchor="ctr"/>
          <a:lstStyle/>
          <a:p>
            <a:pPr marL="0" indent="0">
              <a:buNone/>
            </a:pPr>
            <a:r>
              <a:rPr lang="en-US" sz="1100" b="1" dirty="0">
                <a:solidFill>
                  <a:srgbClr val="1B3A5C"/>
                </a:solidFill>
              </a:rPr>
              <a:t>Conditions météo</a:t>
            </a:r>
            <a:endParaRPr lang="en-US" sz="1100" dirty="0"/>
          </a:p>
        </p:txBody>
      </p:sp>
      <p:sp>
        <p:nvSpPr>
          <p:cNvPr id="17" name="Text 14"/>
          <p:cNvSpPr/>
          <p:nvPr/>
        </p:nvSpPr>
        <p:spPr>
          <a:xfrm>
            <a:off x="6900872" y="2743200"/>
            <a:ext cx="2023672" cy="320040"/>
          </a:xfrm>
          <a:prstGeom prst="rect">
            <a:avLst/>
          </a:prstGeom>
          <a:noFill/>
          <a:ln/>
        </p:spPr>
        <p:txBody>
          <a:bodyPr wrap="square" rtlCol="0" anchor="ctr"/>
          <a:lstStyle/>
          <a:p>
            <a:r>
              <a:rPr lang="en-US" sz="1200" b="1" dirty="0">
                <a:solidFill>
                  <a:srgbClr val="C00000"/>
                </a:solidFill>
              </a:rPr>
              <a:t>Danger : Vent &amp; Brouillard</a:t>
            </a:r>
            <a:endParaRPr lang="en-US" sz="1200" dirty="0">
              <a:solidFill>
                <a:srgbClr val="C00000"/>
              </a:solidFill>
            </a:endParaRPr>
          </a:p>
        </p:txBody>
      </p:sp>
      <p:sp>
        <p:nvSpPr>
          <p:cNvPr id="18" name="Text 15"/>
          <p:cNvSpPr/>
          <p:nvPr/>
        </p:nvSpPr>
        <p:spPr>
          <a:xfrm>
            <a:off x="5394960" y="3063240"/>
            <a:ext cx="3291840" cy="365760"/>
          </a:xfrm>
          <a:prstGeom prst="rect">
            <a:avLst/>
          </a:prstGeom>
          <a:noFill/>
          <a:ln/>
        </p:spPr>
        <p:txBody>
          <a:bodyPr wrap="square" rtlCol="0" anchor="ctr"/>
          <a:lstStyle/>
          <a:p>
            <a:r>
              <a:rPr lang="fr-FR" sz="900" dirty="0">
                <a:solidFill>
                  <a:srgbClr val="64748B"/>
                </a:solidFill>
              </a:rPr>
              <a:t> Le vent fort et le brouillard multiplient le risque par </a:t>
            </a:r>
            <a:r>
              <a:rPr lang="en-US" sz="900" b="1" dirty="0">
                <a:solidFill>
                  <a:srgbClr val="FF0000"/>
                </a:solidFill>
              </a:rPr>
              <a:t>×</a:t>
            </a:r>
            <a:r>
              <a:rPr lang="fr-FR" sz="900" dirty="0">
                <a:solidFill>
                  <a:srgbClr val="64748B"/>
                </a:solidFill>
              </a:rPr>
              <a:t> </a:t>
            </a:r>
            <a:r>
              <a:rPr lang="fr-FR" sz="900" dirty="0">
                <a:solidFill>
                  <a:srgbClr val="FF0000"/>
                </a:solidFill>
              </a:rPr>
              <a:t>1.6</a:t>
            </a:r>
            <a:r>
              <a:rPr lang="fr-FR" sz="900" dirty="0">
                <a:solidFill>
                  <a:srgbClr val="64748B"/>
                </a:solidFill>
              </a:rPr>
              <a:t> </a:t>
            </a:r>
            <a:endParaRPr lang="en-US" sz="900" dirty="0"/>
          </a:p>
        </p:txBody>
      </p:sp>
      <p:sp>
        <p:nvSpPr>
          <p:cNvPr id="19" name="Shape 16"/>
          <p:cNvSpPr/>
          <p:nvPr/>
        </p:nvSpPr>
        <p:spPr>
          <a:xfrm>
            <a:off x="274320" y="3383280"/>
            <a:ext cx="859536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0" name="Text 17"/>
          <p:cNvSpPr/>
          <p:nvPr/>
        </p:nvSpPr>
        <p:spPr>
          <a:xfrm>
            <a:off x="457200" y="3429000"/>
            <a:ext cx="8229600" cy="548640"/>
          </a:xfrm>
          <a:prstGeom prst="rect">
            <a:avLst/>
          </a:prstGeom>
          <a:noFill/>
          <a:ln/>
        </p:spPr>
        <p:txBody>
          <a:bodyPr wrap="square" rtlCol="0" anchor="ctr"/>
          <a:lstStyle/>
          <a:p>
            <a:pPr marL="0" indent="0">
              <a:buNone/>
            </a:pPr>
            <a:r>
              <a:rPr lang="en-US" sz="1000" b="1" dirty="0">
                <a:solidFill>
                  <a:srgbClr val="1B3A5C"/>
                </a:solidFill>
              </a:rPr>
              <a:t>Note statistique : </a:t>
            </a:r>
            <a:r>
              <a:rPr lang="en-US" sz="1000" dirty="0">
                <a:solidFill>
                  <a:srgbClr val="1E293B"/>
                </a:solidFill>
              </a:rPr>
              <a:t>Le taux de gravité en nuit sans éclairage (28.1%) est plus de deux fois supérieur à la moyenne en nuit éclairée (12.7%). </a:t>
            </a:r>
            <a:r>
              <a:rPr lang="en-US" sz="1000" i="1" dirty="0">
                <a:solidFill>
                  <a:srgbClr val="0D9488"/>
                </a:solidFill>
              </a:rPr>
              <a:t>Un système d'éclairage intelligent réduirait significativement la gravité.</a:t>
            </a:r>
            <a:endParaRPr lang="en-US" sz="1000" dirty="0"/>
          </a:p>
        </p:txBody>
      </p:sp>
      <p:sp>
        <p:nvSpPr>
          <p:cNvPr id="21" name="Text 18"/>
          <p:cNvSpPr/>
          <p:nvPr/>
        </p:nvSpPr>
        <p:spPr>
          <a:xfrm>
            <a:off x="457200" y="4160520"/>
            <a:ext cx="8229600" cy="274320"/>
          </a:xfrm>
          <a:prstGeom prst="rect">
            <a:avLst/>
          </a:prstGeom>
          <a:noFill/>
          <a:ln/>
        </p:spPr>
        <p:txBody>
          <a:bodyPr wrap="square" rtlCol="0" anchor="ctr"/>
          <a:lstStyle/>
          <a:p>
            <a:pPr marL="0" indent="0" algn="ctr">
              <a:buNone/>
            </a:pPr>
            <a:r>
              <a:rPr lang="en-US" sz="1100" i="1" dirty="0">
                <a:solidFill>
                  <a:srgbClr val="0D9488"/>
                </a:solidFill>
              </a:rPr>
              <a:t>Insight Smart City : déployer des alertes géolocalisées sur les tronçons non éclairés identifiés comme à risque.</a:t>
            </a:r>
            <a:endParaRPr lang="en-US" sz="1100" dirty="0"/>
          </a:p>
        </p:txBody>
      </p:sp>
      <p:sp>
        <p:nvSpPr>
          <p:cNvPr id="22" name="Text 19"/>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23" name="Text 2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7 / 20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EDA : Profils à Risque</a:t>
            </a:r>
            <a:endParaRPr lang="en-US" sz="2800" dirty="0"/>
          </a:p>
        </p:txBody>
      </p:sp>
      <p:sp>
        <p:nvSpPr>
          <p:cNvPr id="3" name="Shape 1"/>
          <p:cNvSpPr/>
          <p:nvPr/>
        </p:nvSpPr>
        <p:spPr>
          <a:xfrm>
            <a:off x="274320" y="1005840"/>
            <a:ext cx="201168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4" name="Shape 2"/>
          <p:cNvSpPr/>
          <p:nvPr/>
        </p:nvSpPr>
        <p:spPr>
          <a:xfrm>
            <a:off x="274320" y="1005840"/>
            <a:ext cx="2011680" cy="54864"/>
          </a:xfrm>
          <a:prstGeom prst="rect">
            <a:avLst/>
          </a:prstGeom>
          <a:solidFill>
            <a:srgbClr val="DC3545"/>
          </a:solidFill>
          <a:ln/>
        </p:spPr>
        <p:txBody>
          <a:bodyPr/>
          <a:lstStyle/>
          <a:p>
            <a:endParaRPr lang="fr-FR"/>
          </a:p>
        </p:txBody>
      </p:sp>
      <p:sp>
        <p:nvSpPr>
          <p:cNvPr id="5" name="Text 3"/>
          <p:cNvSpPr/>
          <p:nvPr/>
        </p:nvSpPr>
        <p:spPr>
          <a:xfrm>
            <a:off x="274320" y="1188720"/>
            <a:ext cx="2011680" cy="640080"/>
          </a:xfrm>
          <a:prstGeom prst="rect">
            <a:avLst/>
          </a:prstGeom>
          <a:noFill/>
          <a:ln/>
        </p:spPr>
        <p:txBody>
          <a:bodyPr wrap="square" rtlCol="0" anchor="ctr"/>
          <a:lstStyle/>
          <a:p>
            <a:pPr marL="0" indent="0" algn="ctr">
              <a:buNone/>
            </a:pPr>
            <a:r>
              <a:rPr lang="en-US" sz="3000" b="1" dirty="0">
                <a:solidFill>
                  <a:srgbClr val="DC3545"/>
                </a:solidFill>
              </a:rPr>
              <a:t>30 %</a:t>
            </a:r>
            <a:endParaRPr lang="en-US" sz="3000" dirty="0"/>
          </a:p>
        </p:txBody>
      </p:sp>
      <p:sp>
        <p:nvSpPr>
          <p:cNvPr id="6" name="Text 4"/>
          <p:cNvSpPr/>
          <p:nvPr/>
        </p:nvSpPr>
        <p:spPr>
          <a:xfrm>
            <a:off x="274320" y="1920240"/>
            <a:ext cx="2011680" cy="640080"/>
          </a:xfrm>
          <a:prstGeom prst="rect">
            <a:avLst/>
          </a:prstGeom>
          <a:noFill/>
          <a:ln/>
        </p:spPr>
        <p:txBody>
          <a:bodyPr wrap="square" rtlCol="0" anchor="ctr"/>
          <a:lstStyle/>
          <a:p>
            <a:pPr marL="0" indent="0" algn="ctr">
              <a:buNone/>
            </a:pPr>
            <a:r>
              <a:rPr lang="en-US" sz="1200" b="1" dirty="0">
                <a:solidFill>
                  <a:srgbClr val="1B3A5C"/>
                </a:solidFill>
              </a:rPr>
              <a:t>des usagers accidentés</a:t>
            </a:r>
            <a:endParaRPr lang="en-US" sz="1200" dirty="0"/>
          </a:p>
          <a:p>
            <a:pPr marL="0" indent="0" algn="ctr">
              <a:buNone/>
            </a:pPr>
            <a:r>
              <a:rPr lang="en-US" sz="1200" b="1" dirty="0">
                <a:solidFill>
                  <a:srgbClr val="1B3A5C"/>
                </a:solidFill>
              </a:rPr>
              <a:t>sont des VRU</a:t>
            </a:r>
            <a:endParaRPr lang="en-US" sz="1200" dirty="0"/>
          </a:p>
        </p:txBody>
      </p:sp>
      <p:sp>
        <p:nvSpPr>
          <p:cNvPr id="7" name="Text 5"/>
          <p:cNvSpPr/>
          <p:nvPr/>
        </p:nvSpPr>
        <p:spPr>
          <a:xfrm>
            <a:off x="365760" y="2651760"/>
            <a:ext cx="1828800" cy="1371600"/>
          </a:xfrm>
          <a:prstGeom prst="rect">
            <a:avLst/>
          </a:prstGeom>
          <a:noFill/>
          <a:ln/>
        </p:spPr>
        <p:txBody>
          <a:bodyPr wrap="square" rtlCol="0" anchor="ctr"/>
          <a:lstStyle/>
          <a:p>
            <a:pPr marL="0" indent="0" algn="ctr">
              <a:buNone/>
            </a:pPr>
            <a:r>
              <a:rPr lang="en-US" sz="1000" dirty="0">
                <a:solidFill>
                  <a:srgbClr val="64748B"/>
                </a:solidFill>
              </a:rPr>
              <a:t>613 820 usagers vulnérables</a:t>
            </a:r>
          </a:p>
          <a:p>
            <a:pPr marL="0" indent="0" algn="ctr">
              <a:buNone/>
            </a:pPr>
            <a:endParaRPr lang="en-US" sz="1000" dirty="0"/>
          </a:p>
          <a:p>
            <a:pPr algn="ctr"/>
            <a:r>
              <a:rPr lang="fr-FR" sz="1000" dirty="0">
                <a:solidFill>
                  <a:srgbClr val="64748B"/>
                </a:solidFill>
              </a:rPr>
              <a:t>Risque de gravité multiplié par</a:t>
            </a:r>
          </a:p>
          <a:p>
            <a:pPr algn="ctr"/>
            <a:r>
              <a:rPr lang="fr-FR" sz="1000" dirty="0">
                <a:solidFill>
                  <a:srgbClr val="64748B"/>
                </a:solidFill>
              </a:rPr>
              <a:t> 3 pour les 2-roues</a:t>
            </a:r>
          </a:p>
          <a:p>
            <a:pPr algn="ctr"/>
            <a:endParaRPr lang="fr-FR" sz="1000" dirty="0">
              <a:solidFill>
                <a:srgbClr val="64748B"/>
              </a:solidFill>
            </a:endParaRPr>
          </a:p>
          <a:p>
            <a:pPr algn="ctr"/>
            <a:r>
              <a:rPr lang="fr-FR" sz="1000" dirty="0"/>
              <a:t>42% de gravité pour les motos vs 14% pour les voitures</a:t>
            </a:r>
            <a:endParaRPr lang="en-US" sz="1000" dirty="0"/>
          </a:p>
        </p:txBody>
      </p:sp>
      <p:sp>
        <p:nvSpPr>
          <p:cNvPr id="8" name="Shape 6"/>
          <p:cNvSpPr/>
          <p:nvPr/>
        </p:nvSpPr>
        <p:spPr>
          <a:xfrm>
            <a:off x="2468880" y="1005840"/>
            <a:ext cx="201168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9" name="Shape 7"/>
          <p:cNvSpPr/>
          <p:nvPr/>
        </p:nvSpPr>
        <p:spPr>
          <a:xfrm>
            <a:off x="2468880" y="1005840"/>
            <a:ext cx="2011680" cy="54864"/>
          </a:xfrm>
          <a:prstGeom prst="rect">
            <a:avLst/>
          </a:prstGeom>
          <a:solidFill>
            <a:srgbClr val="E67E22"/>
          </a:solidFill>
          <a:ln/>
        </p:spPr>
        <p:txBody>
          <a:bodyPr/>
          <a:lstStyle/>
          <a:p>
            <a:endParaRPr lang="fr-FR"/>
          </a:p>
        </p:txBody>
      </p:sp>
      <p:sp>
        <p:nvSpPr>
          <p:cNvPr id="10" name="Text 8"/>
          <p:cNvSpPr/>
          <p:nvPr/>
        </p:nvSpPr>
        <p:spPr>
          <a:xfrm>
            <a:off x="2468880" y="1188720"/>
            <a:ext cx="2011680" cy="640080"/>
          </a:xfrm>
          <a:prstGeom prst="rect">
            <a:avLst/>
          </a:prstGeom>
          <a:noFill/>
          <a:ln/>
        </p:spPr>
        <p:txBody>
          <a:bodyPr wrap="square" rtlCol="0" anchor="ctr"/>
          <a:lstStyle/>
          <a:p>
            <a:pPr marL="0" indent="0" algn="ctr">
              <a:buNone/>
            </a:pPr>
            <a:r>
              <a:rPr lang="en-US" sz="3000" b="1" dirty="0">
                <a:solidFill>
                  <a:srgbClr val="E67E22"/>
                </a:solidFill>
              </a:rPr>
              <a:t>18-24 </a:t>
            </a:r>
            <a:r>
              <a:rPr lang="en-US" sz="3000" b="1" dirty="0" err="1">
                <a:solidFill>
                  <a:srgbClr val="E67E22"/>
                </a:solidFill>
              </a:rPr>
              <a:t>ans</a:t>
            </a:r>
            <a:endParaRPr lang="en-US" sz="3000" dirty="0"/>
          </a:p>
        </p:txBody>
      </p:sp>
      <p:sp>
        <p:nvSpPr>
          <p:cNvPr id="11" name="Text 9"/>
          <p:cNvSpPr/>
          <p:nvPr/>
        </p:nvSpPr>
        <p:spPr>
          <a:xfrm>
            <a:off x="2468880" y="1920240"/>
            <a:ext cx="2011680" cy="640080"/>
          </a:xfrm>
          <a:prstGeom prst="rect">
            <a:avLst/>
          </a:prstGeom>
          <a:noFill/>
          <a:ln/>
        </p:spPr>
        <p:txBody>
          <a:bodyPr wrap="square" rtlCol="0" anchor="ctr"/>
          <a:lstStyle/>
          <a:p>
            <a:pPr marL="0" indent="0" algn="ctr">
              <a:buNone/>
            </a:pPr>
            <a:r>
              <a:rPr lang="en-US" sz="1200" b="1" dirty="0">
                <a:solidFill>
                  <a:srgbClr val="1B3A5C"/>
                </a:solidFill>
              </a:rPr>
              <a:t>tranche</a:t>
            </a:r>
            <a:endParaRPr lang="en-US" sz="1200" dirty="0"/>
          </a:p>
          <a:p>
            <a:pPr marL="0" indent="0" algn="ctr">
              <a:buNone/>
            </a:pPr>
            <a:r>
              <a:rPr lang="en-US" sz="1200" b="1" dirty="0">
                <a:solidFill>
                  <a:srgbClr val="1B3A5C"/>
                </a:solidFill>
              </a:rPr>
              <a:t>la plus touchée</a:t>
            </a:r>
            <a:endParaRPr lang="en-US" sz="1200" dirty="0"/>
          </a:p>
        </p:txBody>
      </p:sp>
      <p:sp>
        <p:nvSpPr>
          <p:cNvPr id="12" name="Text 10"/>
          <p:cNvSpPr/>
          <p:nvPr/>
        </p:nvSpPr>
        <p:spPr>
          <a:xfrm>
            <a:off x="2560320" y="2651760"/>
            <a:ext cx="1828800" cy="1371600"/>
          </a:xfrm>
          <a:prstGeom prst="rect">
            <a:avLst/>
          </a:prstGeom>
          <a:noFill/>
          <a:ln/>
        </p:spPr>
        <p:txBody>
          <a:bodyPr wrap="square" rtlCol="0" anchor="ctr"/>
          <a:lstStyle/>
          <a:p>
            <a:pPr marL="0" indent="0" algn="ctr">
              <a:buNone/>
            </a:pPr>
            <a:r>
              <a:rPr lang="en-US" sz="1000" dirty="0">
                <a:solidFill>
                  <a:srgbClr val="64748B"/>
                </a:solidFill>
              </a:rPr>
              <a:t>Surreprésentation dans les</a:t>
            </a:r>
            <a:endParaRPr lang="en-US" sz="1000" dirty="0"/>
          </a:p>
          <a:p>
            <a:pPr marL="0" indent="0" algn="ctr">
              <a:buNone/>
            </a:pPr>
            <a:r>
              <a:rPr lang="en-US" sz="1000" dirty="0">
                <a:solidFill>
                  <a:srgbClr val="64748B"/>
                </a:solidFill>
              </a:rPr>
              <a:t>accidents graves</a:t>
            </a:r>
            <a:endParaRPr lang="en-US" sz="1000" dirty="0"/>
          </a:p>
        </p:txBody>
      </p:sp>
      <p:sp>
        <p:nvSpPr>
          <p:cNvPr id="13" name="Shape 11"/>
          <p:cNvSpPr/>
          <p:nvPr/>
        </p:nvSpPr>
        <p:spPr>
          <a:xfrm>
            <a:off x="4663440" y="1005840"/>
            <a:ext cx="201168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4" name="Shape 12"/>
          <p:cNvSpPr/>
          <p:nvPr/>
        </p:nvSpPr>
        <p:spPr>
          <a:xfrm>
            <a:off x="4663440" y="1005840"/>
            <a:ext cx="2011680" cy="54864"/>
          </a:xfrm>
          <a:prstGeom prst="rect">
            <a:avLst/>
          </a:prstGeom>
          <a:solidFill>
            <a:srgbClr val="2E75B6"/>
          </a:solidFill>
          <a:ln/>
        </p:spPr>
        <p:txBody>
          <a:bodyPr/>
          <a:lstStyle/>
          <a:p>
            <a:endParaRPr lang="fr-FR"/>
          </a:p>
        </p:txBody>
      </p:sp>
      <p:sp>
        <p:nvSpPr>
          <p:cNvPr id="15" name="Text 13"/>
          <p:cNvSpPr/>
          <p:nvPr/>
        </p:nvSpPr>
        <p:spPr>
          <a:xfrm>
            <a:off x="4663440" y="1188720"/>
            <a:ext cx="2011680" cy="640080"/>
          </a:xfrm>
          <a:prstGeom prst="rect">
            <a:avLst/>
          </a:prstGeom>
          <a:noFill/>
          <a:ln/>
        </p:spPr>
        <p:txBody>
          <a:bodyPr wrap="square" rtlCol="0" anchor="ctr"/>
          <a:lstStyle/>
          <a:p>
            <a:pPr marL="0" indent="0" algn="ctr">
              <a:buNone/>
            </a:pPr>
            <a:r>
              <a:rPr lang="en-US" sz="3000" b="1" dirty="0">
                <a:solidFill>
                  <a:srgbClr val="2E75B6"/>
                </a:solidFill>
              </a:rPr>
              <a:t>+ 65 </a:t>
            </a:r>
            <a:r>
              <a:rPr lang="en-US" sz="3000" b="1" dirty="0" err="1">
                <a:solidFill>
                  <a:srgbClr val="2E75B6"/>
                </a:solidFill>
              </a:rPr>
              <a:t>ans</a:t>
            </a:r>
            <a:endParaRPr lang="en-US" sz="3000" dirty="0"/>
          </a:p>
        </p:txBody>
      </p:sp>
      <p:sp>
        <p:nvSpPr>
          <p:cNvPr id="16" name="Text 14"/>
          <p:cNvSpPr/>
          <p:nvPr/>
        </p:nvSpPr>
        <p:spPr>
          <a:xfrm>
            <a:off x="4663440" y="1920240"/>
            <a:ext cx="2011680" cy="640080"/>
          </a:xfrm>
          <a:prstGeom prst="rect">
            <a:avLst/>
          </a:prstGeom>
          <a:noFill/>
          <a:ln/>
        </p:spPr>
        <p:txBody>
          <a:bodyPr wrap="square" rtlCol="0" anchor="ctr"/>
          <a:lstStyle/>
          <a:p>
            <a:pPr algn="ctr"/>
            <a:r>
              <a:rPr lang="fr-FR" sz="1200" dirty="0"/>
              <a:t>les plus exposés en taux de gravité</a:t>
            </a:r>
            <a:endParaRPr lang="en-US" sz="1200" dirty="0"/>
          </a:p>
        </p:txBody>
      </p:sp>
      <p:sp>
        <p:nvSpPr>
          <p:cNvPr id="17" name="Text 15"/>
          <p:cNvSpPr/>
          <p:nvPr/>
        </p:nvSpPr>
        <p:spPr>
          <a:xfrm>
            <a:off x="4754880" y="2651760"/>
            <a:ext cx="1828800" cy="1371600"/>
          </a:xfrm>
          <a:prstGeom prst="rect">
            <a:avLst/>
          </a:prstGeom>
          <a:noFill/>
          <a:ln/>
        </p:spPr>
        <p:txBody>
          <a:bodyPr wrap="square" rtlCol="0" anchor="ctr"/>
          <a:lstStyle/>
          <a:p>
            <a:pPr marL="0" indent="0" algn="ctr">
              <a:buNone/>
            </a:pPr>
            <a:r>
              <a:rPr lang="en-US" sz="1000" dirty="0">
                <a:solidFill>
                  <a:srgbClr val="64748B"/>
                </a:solidFill>
              </a:rPr>
              <a:t>Population fragile</a:t>
            </a:r>
            <a:endParaRPr lang="en-US" sz="1000" dirty="0"/>
          </a:p>
          <a:p>
            <a:pPr marL="0" indent="0" algn="ctr">
              <a:buNone/>
            </a:pPr>
            <a:r>
              <a:rPr lang="en-US" sz="1000" dirty="0">
                <a:solidFill>
                  <a:srgbClr val="64748B"/>
                </a:solidFill>
              </a:rPr>
              <a:t>Parcours adaptés nécessaires</a:t>
            </a:r>
            <a:endParaRPr lang="en-US" sz="1000" dirty="0"/>
          </a:p>
        </p:txBody>
      </p:sp>
      <p:sp>
        <p:nvSpPr>
          <p:cNvPr id="18" name="Shape 16"/>
          <p:cNvSpPr/>
          <p:nvPr/>
        </p:nvSpPr>
        <p:spPr>
          <a:xfrm>
            <a:off x="6858000" y="1005840"/>
            <a:ext cx="201168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9" name="Shape 17"/>
          <p:cNvSpPr/>
          <p:nvPr/>
        </p:nvSpPr>
        <p:spPr>
          <a:xfrm>
            <a:off x="6858000" y="1005840"/>
            <a:ext cx="2011680" cy="54864"/>
          </a:xfrm>
          <a:prstGeom prst="rect">
            <a:avLst/>
          </a:prstGeom>
          <a:solidFill>
            <a:srgbClr val="1B3A5C"/>
          </a:solidFill>
          <a:ln/>
        </p:spPr>
        <p:txBody>
          <a:bodyPr/>
          <a:lstStyle/>
          <a:p>
            <a:endParaRPr lang="fr-FR"/>
          </a:p>
        </p:txBody>
      </p:sp>
      <p:sp>
        <p:nvSpPr>
          <p:cNvPr id="20" name="Text 18"/>
          <p:cNvSpPr/>
          <p:nvPr/>
        </p:nvSpPr>
        <p:spPr>
          <a:xfrm>
            <a:off x="6858000" y="1188720"/>
            <a:ext cx="2011680" cy="640080"/>
          </a:xfrm>
          <a:prstGeom prst="rect">
            <a:avLst/>
          </a:prstGeom>
          <a:noFill/>
          <a:ln/>
        </p:spPr>
        <p:txBody>
          <a:bodyPr wrap="square" rtlCol="0" anchor="ctr"/>
          <a:lstStyle/>
          <a:p>
            <a:pPr marL="0" indent="0" algn="ctr">
              <a:buNone/>
            </a:pPr>
            <a:r>
              <a:rPr lang="en-US" sz="3000" b="1" dirty="0">
                <a:solidFill>
                  <a:srgbClr val="1B3A5C"/>
                </a:solidFill>
              </a:rPr>
              <a:t>×1.5</a:t>
            </a:r>
            <a:endParaRPr lang="en-US" sz="3000" dirty="0"/>
          </a:p>
        </p:txBody>
      </p:sp>
      <p:sp>
        <p:nvSpPr>
          <p:cNvPr id="21" name="Text 19"/>
          <p:cNvSpPr/>
          <p:nvPr/>
        </p:nvSpPr>
        <p:spPr>
          <a:xfrm>
            <a:off x="6858000" y="1920240"/>
            <a:ext cx="2011680" cy="640080"/>
          </a:xfrm>
          <a:prstGeom prst="rect">
            <a:avLst/>
          </a:prstGeom>
          <a:noFill/>
          <a:ln/>
        </p:spPr>
        <p:txBody>
          <a:bodyPr wrap="square" rtlCol="0" anchor="ctr"/>
          <a:lstStyle/>
          <a:p>
            <a:pPr marL="0" indent="0" algn="ctr">
              <a:buNone/>
            </a:pPr>
            <a:r>
              <a:rPr lang="en-US" sz="1200" b="1" dirty="0">
                <a:solidFill>
                  <a:srgbClr val="1B3A5C"/>
                </a:solidFill>
              </a:rPr>
              <a:t>gravité le</a:t>
            </a:r>
            <a:endParaRPr lang="en-US" sz="1200" dirty="0"/>
          </a:p>
          <a:p>
            <a:pPr marL="0" indent="0" algn="ctr">
              <a:buNone/>
            </a:pPr>
            <a:r>
              <a:rPr lang="en-US" sz="1200" b="1" dirty="0">
                <a:solidFill>
                  <a:srgbClr val="1B3A5C"/>
                </a:solidFill>
              </a:rPr>
              <a:t>weekend nocturne</a:t>
            </a:r>
            <a:endParaRPr lang="en-US" sz="1200" dirty="0"/>
          </a:p>
        </p:txBody>
      </p:sp>
      <p:sp>
        <p:nvSpPr>
          <p:cNvPr id="22" name="Text 20"/>
          <p:cNvSpPr/>
          <p:nvPr/>
        </p:nvSpPr>
        <p:spPr>
          <a:xfrm>
            <a:off x="6949440" y="2651760"/>
            <a:ext cx="1828800" cy="1371600"/>
          </a:xfrm>
          <a:prstGeom prst="rect">
            <a:avLst/>
          </a:prstGeom>
          <a:noFill/>
          <a:ln/>
        </p:spPr>
        <p:txBody>
          <a:bodyPr wrap="square" rtlCol="0" anchor="ctr"/>
          <a:lstStyle/>
          <a:p>
            <a:pPr marL="0" indent="0" algn="ctr">
              <a:buNone/>
            </a:pPr>
            <a:r>
              <a:rPr lang="en-US" sz="1000" dirty="0">
                <a:solidFill>
                  <a:srgbClr val="64748B"/>
                </a:solidFill>
              </a:rPr>
              <a:t>Vendredi/samedi soir 0h-5h</a:t>
            </a:r>
            <a:endParaRPr lang="en-US" sz="1000" dirty="0"/>
          </a:p>
          <a:p>
            <a:pPr marL="0" indent="0" algn="ctr">
              <a:buNone/>
            </a:pPr>
            <a:r>
              <a:rPr lang="en-US" sz="1000" dirty="0">
                <a:solidFill>
                  <a:srgbClr val="64748B"/>
                </a:solidFill>
              </a:rPr>
              <a:t>Période la plus dangereuse</a:t>
            </a:r>
            <a:endParaRPr lang="en-US" sz="1000" dirty="0"/>
          </a:p>
        </p:txBody>
      </p:sp>
      <p:sp>
        <p:nvSpPr>
          <p:cNvPr id="23" name="Text 21"/>
          <p:cNvSpPr/>
          <p:nvPr/>
        </p:nvSpPr>
        <p:spPr>
          <a:xfrm>
            <a:off x="457200" y="4617720"/>
            <a:ext cx="8229600" cy="228600"/>
          </a:xfrm>
          <a:prstGeom prst="rect">
            <a:avLst/>
          </a:prstGeom>
          <a:noFill/>
          <a:ln/>
        </p:spPr>
        <p:txBody>
          <a:bodyPr wrap="square" rtlCol="0" anchor="ctr"/>
          <a:lstStyle/>
          <a:p>
            <a:pPr marL="0" indent="0" algn="ctr">
              <a:buNone/>
            </a:pPr>
            <a:r>
              <a:rPr lang="en-US" sz="1100" i="1" dirty="0">
                <a:solidFill>
                  <a:srgbClr val="0D9488"/>
                </a:solidFill>
              </a:rPr>
              <a:t>Les VRU = enjeu direct pour les constructeurs de véhicules électriques urbains Smart City (ex : Circle Mobility)</a:t>
            </a:r>
            <a:endParaRPr lang="en-US" sz="1100" dirty="0"/>
          </a:p>
        </p:txBody>
      </p:sp>
      <p:sp>
        <p:nvSpPr>
          <p:cNvPr id="24" name="Text 22"/>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25" name="Text 23"/>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8 / 20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EDA : Analyses Temporelles</a:t>
            </a:r>
            <a:endParaRPr lang="en-US" sz="2800" dirty="0"/>
          </a:p>
        </p:txBody>
      </p:sp>
      <p:pic>
        <p:nvPicPr>
          <p:cNvPr id="3" name="Image 0" descr="/home/claude/img_courbe_evolution.png"/>
          <p:cNvPicPr>
            <a:picLocks noChangeAspect="1"/>
          </p:cNvPicPr>
          <p:nvPr/>
        </p:nvPicPr>
        <p:blipFill>
          <a:blip r:embed="rId3"/>
          <a:stretch>
            <a:fillRect/>
          </a:stretch>
        </p:blipFill>
        <p:spPr>
          <a:xfrm>
            <a:off x="203479" y="822960"/>
            <a:ext cx="4206741" cy="1978801"/>
          </a:xfrm>
          <a:prstGeom prst="rect">
            <a:avLst/>
          </a:prstGeom>
        </p:spPr>
      </p:pic>
      <p:sp>
        <p:nvSpPr>
          <p:cNvPr id="4" name="Shape 1"/>
          <p:cNvSpPr/>
          <p:nvPr/>
        </p:nvSpPr>
        <p:spPr>
          <a:xfrm>
            <a:off x="203478" y="2907182"/>
            <a:ext cx="4206741" cy="1847698"/>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5" name="Text 2"/>
          <p:cNvSpPr/>
          <p:nvPr/>
        </p:nvSpPr>
        <p:spPr>
          <a:xfrm>
            <a:off x="534572" y="2864288"/>
            <a:ext cx="3580228" cy="1847698"/>
          </a:xfrm>
          <a:prstGeom prst="rect">
            <a:avLst/>
          </a:prstGeom>
          <a:noFill/>
          <a:ln/>
        </p:spPr>
        <p:txBody>
          <a:bodyPr wrap="square" rtlCol="0" anchor="ctr"/>
          <a:lstStyle/>
          <a:p>
            <a:pPr marL="0" indent="0">
              <a:buNone/>
            </a:pPr>
            <a:r>
              <a:rPr lang="en-US" sz="1300" b="1" dirty="0">
                <a:solidFill>
                  <a:srgbClr val="1B3A5C"/>
                </a:solidFill>
              </a:rPr>
              <a:t>Tendance historique</a:t>
            </a:r>
            <a:endParaRPr lang="en-US" sz="1300" dirty="0"/>
          </a:p>
          <a:p>
            <a:pPr marL="0" indent="0">
              <a:buNone/>
            </a:pPr>
            <a:r>
              <a:rPr lang="en-US" sz="1000" dirty="0">
                <a:solidFill>
                  <a:srgbClr val="1E293B"/>
                </a:solidFill>
              </a:rPr>
              <a:t>Baisse de</a:t>
            </a:r>
            <a:r>
              <a:rPr lang="en-US" sz="1000" b="1" dirty="0">
                <a:solidFill>
                  <a:srgbClr val="1E293B"/>
                </a:solidFill>
              </a:rPr>
              <a:t> ~39% </a:t>
            </a:r>
            <a:r>
              <a:rPr lang="en-US" sz="1000" dirty="0">
                <a:solidFill>
                  <a:srgbClr val="1E293B"/>
                </a:solidFill>
              </a:rPr>
              <a:t>de la mortalité </a:t>
            </a:r>
            <a:r>
              <a:rPr lang="en-US" sz="1000" b="1" dirty="0">
                <a:solidFill>
                  <a:srgbClr val="1E293B"/>
                </a:solidFill>
              </a:rPr>
              <a:t>(2005-2018)</a:t>
            </a:r>
            <a:r>
              <a:rPr lang="en-US" sz="1000" dirty="0">
                <a:solidFill>
                  <a:srgbClr val="1E293B"/>
                </a:solidFill>
              </a:rPr>
              <a:t> grâce aux politiques </a:t>
            </a:r>
            <a:r>
              <a:rPr lang="en-US" sz="1000" dirty="0" err="1">
                <a:solidFill>
                  <a:srgbClr val="1E293B"/>
                </a:solidFill>
              </a:rPr>
              <a:t>publiques</a:t>
            </a:r>
            <a:r>
              <a:rPr lang="en-US" sz="1000" dirty="0">
                <a:solidFill>
                  <a:srgbClr val="1E293B"/>
                </a:solidFill>
              </a:rPr>
              <a:t>.</a:t>
            </a:r>
            <a:endParaRPr lang="en-US" sz="1300" dirty="0"/>
          </a:p>
          <a:p>
            <a:pPr marL="0" indent="0">
              <a:buNone/>
            </a:pPr>
            <a:endParaRPr lang="en-US" sz="1300" dirty="0"/>
          </a:p>
          <a:p>
            <a:pPr marL="0" indent="0">
              <a:buNone/>
            </a:pPr>
            <a:r>
              <a:rPr lang="en-US" sz="1300" b="1" dirty="0">
                <a:solidFill>
                  <a:srgbClr val="1B3A5C"/>
                </a:solidFill>
              </a:rPr>
              <a:t>Moments critiques</a:t>
            </a:r>
            <a:endParaRPr lang="en-US" sz="1300" dirty="0"/>
          </a:p>
          <a:p>
            <a:pPr marL="0" indent="0">
              <a:buNone/>
            </a:pPr>
            <a:r>
              <a:rPr lang="en-US" sz="1000" dirty="0">
                <a:solidFill>
                  <a:srgbClr val="1E293B"/>
                </a:solidFill>
              </a:rPr>
              <a:t>Nuit </a:t>
            </a:r>
            <a:r>
              <a:rPr lang="en-US" sz="1000" b="1" dirty="0">
                <a:solidFill>
                  <a:srgbClr val="1E293B"/>
                </a:solidFill>
              </a:rPr>
              <a:t>(0h-5h) </a:t>
            </a:r>
            <a:r>
              <a:rPr lang="en-US" sz="1000" dirty="0">
                <a:solidFill>
                  <a:srgbClr val="1E293B"/>
                </a:solidFill>
              </a:rPr>
              <a:t>et soir </a:t>
            </a:r>
            <a:r>
              <a:rPr lang="en-US" sz="1000" b="1" dirty="0">
                <a:solidFill>
                  <a:srgbClr val="1E293B"/>
                </a:solidFill>
              </a:rPr>
              <a:t>(18h-23h) </a:t>
            </a:r>
            <a:r>
              <a:rPr lang="en-US" sz="1000" dirty="0">
                <a:solidFill>
                  <a:srgbClr val="1E293B"/>
                </a:solidFill>
              </a:rPr>
              <a:t>concentrent les accidents les plus graves.</a:t>
            </a:r>
            <a:endParaRPr lang="en-US" sz="1300" dirty="0"/>
          </a:p>
          <a:p>
            <a:pPr marL="0" indent="0">
              <a:buNone/>
            </a:pPr>
            <a:endParaRPr lang="en-US" sz="1300" dirty="0"/>
          </a:p>
          <a:p>
            <a:pPr marL="0" indent="0">
              <a:buNone/>
            </a:pPr>
            <a:r>
              <a:rPr lang="en-US" sz="1100" b="1" dirty="0">
                <a:solidFill>
                  <a:srgbClr val="E67E22"/>
                </a:solidFill>
              </a:rPr>
              <a:t>COVID-19 : chute marquée en 2020</a:t>
            </a:r>
            <a:endParaRPr lang="en-US" sz="1300" dirty="0"/>
          </a:p>
        </p:txBody>
      </p:sp>
      <p:sp>
        <p:nvSpPr>
          <p:cNvPr id="6" name="Text 3"/>
          <p:cNvSpPr/>
          <p:nvPr/>
        </p:nvSpPr>
        <p:spPr>
          <a:xfrm>
            <a:off x="4723229" y="3181690"/>
            <a:ext cx="3580228" cy="1298682"/>
          </a:xfrm>
          <a:prstGeom prst="rect">
            <a:avLst/>
          </a:prstGeom>
          <a:noFill/>
          <a:ln/>
        </p:spPr>
        <p:txBody>
          <a:bodyPr wrap="square" rtlCol="0" anchor="ctr"/>
          <a:lstStyle/>
          <a:p>
            <a:pPr marL="0" indent="0" algn="ctr">
              <a:buNone/>
            </a:pPr>
            <a:r>
              <a:rPr lang="en-US" i="1" dirty="0">
                <a:solidFill>
                  <a:srgbClr val="0D9488"/>
                </a:solidFill>
              </a:rPr>
              <a:t>Planification Smart City : éviter les créneaux 22h-5h sur les routes non éclairées</a:t>
            </a:r>
            <a:endParaRPr lang="en-US" dirty="0"/>
          </a:p>
        </p:txBody>
      </p:sp>
      <p:sp>
        <p:nvSpPr>
          <p:cNvPr id="7" name="Text 4"/>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8" name="Text 5"/>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9 / 20</a:t>
            </a:r>
            <a:endParaRPr lang="en-US" sz="900" dirty="0"/>
          </a:p>
        </p:txBody>
      </p:sp>
      <p:pic>
        <p:nvPicPr>
          <p:cNvPr id="10" name="Image 9">
            <a:extLst>
              <a:ext uri="{FF2B5EF4-FFF2-40B4-BE49-F238E27FC236}">
                <a16:creationId xmlns:a16="http://schemas.microsoft.com/office/drawing/2014/main" id="{74EF018D-41E7-4EA5-173C-438D0A8F9E9F}"/>
              </a:ext>
            </a:extLst>
          </p:cNvPr>
          <p:cNvPicPr>
            <a:picLocks noChangeAspect="1"/>
          </p:cNvPicPr>
          <p:nvPr/>
        </p:nvPicPr>
        <p:blipFill>
          <a:blip r:embed="rId4"/>
          <a:stretch>
            <a:fillRect/>
          </a:stretch>
        </p:blipFill>
        <p:spPr>
          <a:xfrm>
            <a:off x="4522764" y="822961"/>
            <a:ext cx="3981158" cy="1978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Feature Engineering — 8 Variables Créées</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914400"/>
          <a:ext cx="8229600" cy="2057400"/>
        </p:xfrm>
        <a:graphic>
          <a:graphicData uri="http://schemas.openxmlformats.org/drawingml/2006/table">
            <a:tbl>
              <a:tblPr/>
              <a:tblGrid>
                <a:gridCol w="20116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indent="0">
                        <a:buNone/>
                      </a:pPr>
                      <a:r>
                        <a:rPr lang="en-US" sz="900" b="1" dirty="0">
                          <a:solidFill>
                            <a:srgbClr val="FFFFFF"/>
                          </a:solidFill>
                        </a:rPr>
                        <a:t>Feature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rPr>
                        <a:t>Définition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900" b="1" dirty="0">
                          <a:solidFill>
                            <a:srgbClr val="FFFFFF"/>
                          </a:solidFill>
                        </a:rPr>
                        <a:t>Justification Métier</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buNone/>
                      </a:pPr>
                      <a:r>
                        <a:rPr lang="en-US" sz="900" b="1" dirty="0">
                          <a:solidFill>
                            <a:srgbClr val="1B3A5C"/>
                          </a:solidFill>
                        </a:rPr>
                        <a:t>is_vru</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VRU (2-roues, EDP, VAE, piétons)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D9488"/>
                          </a:solidFill>
                        </a:rPr>
                        <a:t>Cible directe Smart City</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00" b="1" dirty="0">
                          <a:solidFill>
                            <a:srgbClr val="1B3A5C"/>
                          </a:solidFill>
                        </a:rPr>
                        <a:t>moment_journee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00000"/>
                          </a:solidFill>
                        </a:rPr>
                        <a:t>Nuit / Matin / Après-midi / Soir</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D9488"/>
                          </a:solidFill>
                        </a:rPr>
                        <a:t>Planification itinéraires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0">
                <a:tc>
                  <a:txBody>
                    <a:bodyPr/>
                    <a:lstStyle/>
                    <a:p>
                      <a:pPr marL="0" indent="0">
                        <a:buNone/>
                      </a:pPr>
                      <a:r>
                        <a:rPr lang="en-US" sz="900" b="1" dirty="0">
                          <a:solidFill>
                            <a:srgbClr val="1B3A5C"/>
                          </a:solidFill>
                        </a:rPr>
                        <a:t>is_weekend</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Samedi-Dimanche = 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D9488"/>
                          </a:solidFill>
                        </a:rPr>
                        <a:t>Patterns de risque différents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00" b="1" dirty="0">
                          <a:solidFill>
                            <a:srgbClr val="1B3A5C"/>
                          </a:solidFill>
                        </a:rPr>
                        <a:t>tranche_age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00000"/>
                          </a:solidFill>
                        </a:rPr>
                        <a:t>6 tranches (0-17 à 65+)</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D9488"/>
                          </a:solidFill>
                        </a:rPr>
                        <a:t>Profils de prévention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0">
                <a:tc>
                  <a:txBody>
                    <a:bodyPr/>
                    <a:lstStyle/>
                    <a:p>
                      <a:pPr marL="0" indent="0">
                        <a:buNone/>
                      </a:pPr>
                      <a:r>
                        <a:rPr lang="en-US" sz="900" b="1" dirty="0">
                          <a:solidFill>
                            <a:srgbClr val="1B3A5C"/>
                          </a:solidFill>
                        </a:rPr>
                        <a:t>is_nuit_sans_eclairage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lum = 3</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D9488"/>
                          </a:solidFill>
                        </a:rPr>
                        <a:t>Éclairage intelligent</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00" b="1" dirty="0">
                          <a:solidFill>
                            <a:srgbClr val="1B3A5C"/>
                          </a:solidFill>
                        </a:rPr>
                        <a:t>is_hors_agglo</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00000"/>
                          </a:solidFill>
                        </a:rPr>
                        <a:t>agg = 1</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D9488"/>
                          </a:solidFill>
                        </a:rPr>
                        <a:t>Priorisation zones rurales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0">
                <a:tc>
                  <a:txBody>
                    <a:bodyPr/>
                    <a:lstStyle/>
                    <a:p>
                      <a:pPr marL="0" indent="0">
                        <a:buNone/>
                      </a:pPr>
                      <a:r>
                        <a:rPr lang="en-US" sz="900" b="1" dirty="0">
                          <a:solidFill>
                            <a:srgbClr val="1B3A5C"/>
                          </a:solidFill>
                        </a:rPr>
                        <a:t>motor_electrique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00000"/>
                          </a:solidFill>
                        </a:rPr>
                        <a:t>Hybride/Électrique (2019+)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900" dirty="0">
                          <a:solidFill>
                            <a:srgbClr val="0D9488"/>
                          </a:solidFill>
                        </a:rPr>
                        <a:t>Monitoring nouvelles mobilités</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900" b="1" dirty="0">
                          <a:solidFill>
                            <a:srgbClr val="1B3A5C"/>
                          </a:solidFill>
                        </a:rPr>
                        <a:t>vma_risque</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00000"/>
                          </a:solidFill>
                        </a:rPr>
                        <a:t>Vitesse max ≥ 80 km/h (2019+)</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buNone/>
                      </a:pPr>
                      <a:r>
                        <a:rPr lang="en-US" sz="900" dirty="0">
                          <a:solidFill>
                            <a:srgbClr val="0D9488"/>
                          </a:solidFill>
                        </a:rPr>
                        <a:t>Scoring risque tronçon</a:t>
                      </a:r>
                      <a:endParaRPr lang="en-US" sz="9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8"/>
                  </a:ext>
                </a:extLst>
              </a:tr>
            </a:tbl>
          </a:graphicData>
        </a:graphic>
      </p:graphicFrame>
      <p:sp>
        <p:nvSpPr>
          <p:cNvPr id="4" name="Text 1"/>
          <p:cNvSpPr/>
          <p:nvPr/>
        </p:nvSpPr>
        <p:spPr>
          <a:xfrm>
            <a:off x="457200" y="4297680"/>
            <a:ext cx="8229600" cy="365760"/>
          </a:xfrm>
          <a:prstGeom prst="rect">
            <a:avLst/>
          </a:prstGeom>
          <a:noFill/>
          <a:ln/>
        </p:spPr>
        <p:txBody>
          <a:bodyPr wrap="square" rtlCol="0" anchor="ctr"/>
          <a:lstStyle/>
          <a:p>
            <a:pPr marL="0" indent="0" algn="ctr">
              <a:buNone/>
            </a:pPr>
            <a:r>
              <a:rPr lang="en-US" sz="1200" b="1" i="1" dirty="0">
                <a:solidFill>
                  <a:srgbClr val="0D9488"/>
                </a:solidFill>
              </a:rPr>
              <a:t>Chaque feature créée est directement exploitable par un acteur Smart City — pas de feature technique sans valeur métier.</a:t>
            </a:r>
            <a:endParaRPr lang="en-US" sz="1200" dirty="0"/>
          </a:p>
        </p:txBody>
      </p:sp>
      <p:sp>
        <p:nvSpPr>
          <p:cNvPr id="5" name="Text 2"/>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6" name="Text 3"/>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10 / 20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Modèle A : Random Forest (2005-2018)</a:t>
            </a:r>
            <a:endParaRPr lang="en-US" sz="2600" dirty="0"/>
          </a:p>
        </p:txBody>
      </p:sp>
      <p:sp>
        <p:nvSpPr>
          <p:cNvPr id="3" name="Text 1"/>
          <p:cNvSpPr/>
          <p:nvPr/>
        </p:nvSpPr>
        <p:spPr>
          <a:xfrm>
            <a:off x="457200" y="685800"/>
            <a:ext cx="8229600" cy="228600"/>
          </a:xfrm>
          <a:prstGeom prst="rect">
            <a:avLst/>
          </a:prstGeom>
          <a:noFill/>
          <a:ln/>
        </p:spPr>
        <p:txBody>
          <a:bodyPr wrap="square" rtlCol="0" anchor="ctr"/>
          <a:lstStyle/>
          <a:p>
            <a:pPr marL="0" indent="0">
              <a:buNone/>
            </a:pPr>
            <a:r>
              <a:rPr lang="en-US" sz="1100" i="1" dirty="0">
                <a:solidFill>
                  <a:srgbClr val="64748B"/>
                </a:solidFill>
              </a:rPr>
              <a:t>Cible : Tué (grav = 2) — Classe très minoritaire : 2.7% (ratio 1:36)</a:t>
            </a:r>
            <a:endParaRPr lang="en-US" sz="1100" dirty="0"/>
          </a:p>
        </p:txBody>
      </p:sp>
      <p:sp>
        <p:nvSpPr>
          <p:cNvPr id="4" name="Shape 2"/>
          <p:cNvSpPr/>
          <p:nvPr/>
        </p:nvSpPr>
        <p:spPr>
          <a:xfrm>
            <a:off x="45720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5" name="Shape 3"/>
          <p:cNvSpPr/>
          <p:nvPr/>
        </p:nvSpPr>
        <p:spPr>
          <a:xfrm>
            <a:off x="457200" y="1005840"/>
            <a:ext cx="1920240" cy="54864"/>
          </a:xfrm>
          <a:prstGeom prst="rect">
            <a:avLst/>
          </a:prstGeom>
          <a:solidFill>
            <a:srgbClr val="28A745"/>
          </a:solidFill>
          <a:ln/>
        </p:spPr>
        <p:txBody>
          <a:bodyPr/>
          <a:lstStyle/>
          <a:p>
            <a:endParaRPr lang="fr-FR"/>
          </a:p>
        </p:txBody>
      </p:sp>
      <p:sp>
        <p:nvSpPr>
          <p:cNvPr id="6" name="Text 4"/>
          <p:cNvSpPr/>
          <p:nvPr/>
        </p:nvSpPr>
        <p:spPr>
          <a:xfrm>
            <a:off x="457200" y="1097280"/>
            <a:ext cx="1920240" cy="502920"/>
          </a:xfrm>
          <a:prstGeom prst="rect">
            <a:avLst/>
          </a:prstGeom>
          <a:noFill/>
          <a:ln/>
        </p:spPr>
        <p:txBody>
          <a:bodyPr wrap="square" rtlCol="0" anchor="ctr"/>
          <a:lstStyle/>
          <a:p>
            <a:pPr marL="0" indent="0" algn="ctr">
              <a:buNone/>
            </a:pPr>
            <a:r>
              <a:rPr lang="en-US" sz="2400" b="1" dirty="0">
                <a:solidFill>
                  <a:srgbClr val="28A745"/>
                </a:solidFill>
              </a:rPr>
              <a:t>0.8388</a:t>
            </a:r>
            <a:endParaRPr lang="en-US" sz="2400" dirty="0"/>
          </a:p>
        </p:txBody>
      </p:sp>
      <p:sp>
        <p:nvSpPr>
          <p:cNvPr id="7" name="Text 5"/>
          <p:cNvSpPr/>
          <p:nvPr/>
        </p:nvSpPr>
        <p:spPr>
          <a:xfrm>
            <a:off x="457200" y="1645920"/>
            <a:ext cx="1920240" cy="320040"/>
          </a:xfrm>
          <a:prstGeom prst="rect">
            <a:avLst/>
          </a:prstGeom>
          <a:noFill/>
          <a:ln/>
        </p:spPr>
        <p:txBody>
          <a:bodyPr wrap="square" rtlCol="0" anchor="ctr"/>
          <a:lstStyle/>
          <a:p>
            <a:pPr marL="0" indent="0" algn="ctr">
              <a:buNone/>
            </a:pPr>
            <a:r>
              <a:rPr lang="en-US" sz="1000" dirty="0">
                <a:solidFill>
                  <a:srgbClr val="1E293B"/>
                </a:solidFill>
              </a:rPr>
              <a:t>AUC-ROC ✅</a:t>
            </a:r>
            <a:endParaRPr lang="en-US" sz="1000" dirty="0"/>
          </a:p>
        </p:txBody>
      </p:sp>
      <p:sp>
        <p:nvSpPr>
          <p:cNvPr id="8" name="Shape 6"/>
          <p:cNvSpPr/>
          <p:nvPr/>
        </p:nvSpPr>
        <p:spPr>
          <a:xfrm>
            <a:off x="256032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9" name="Shape 7"/>
          <p:cNvSpPr/>
          <p:nvPr/>
        </p:nvSpPr>
        <p:spPr>
          <a:xfrm>
            <a:off x="2560320" y="1005840"/>
            <a:ext cx="1920240" cy="54864"/>
          </a:xfrm>
          <a:prstGeom prst="rect">
            <a:avLst/>
          </a:prstGeom>
          <a:solidFill>
            <a:srgbClr val="28A745"/>
          </a:solidFill>
          <a:ln/>
        </p:spPr>
        <p:txBody>
          <a:bodyPr/>
          <a:lstStyle/>
          <a:p>
            <a:endParaRPr lang="fr-FR"/>
          </a:p>
        </p:txBody>
      </p:sp>
      <p:sp>
        <p:nvSpPr>
          <p:cNvPr id="10" name="Text 8"/>
          <p:cNvSpPr/>
          <p:nvPr/>
        </p:nvSpPr>
        <p:spPr>
          <a:xfrm>
            <a:off x="2560320" y="1097280"/>
            <a:ext cx="1920240" cy="502920"/>
          </a:xfrm>
          <a:prstGeom prst="rect">
            <a:avLst/>
          </a:prstGeom>
          <a:noFill/>
          <a:ln/>
        </p:spPr>
        <p:txBody>
          <a:bodyPr wrap="square" rtlCol="0" anchor="ctr"/>
          <a:lstStyle/>
          <a:p>
            <a:pPr marL="0" indent="0" algn="ctr">
              <a:buNone/>
            </a:pPr>
            <a:r>
              <a:rPr lang="en-US" sz="2400" b="1" dirty="0">
                <a:solidFill>
                  <a:srgbClr val="28A745"/>
                </a:solidFill>
              </a:rPr>
              <a:t>0.7874</a:t>
            </a:r>
            <a:endParaRPr lang="en-US" sz="2400" dirty="0"/>
          </a:p>
        </p:txBody>
      </p:sp>
      <p:sp>
        <p:nvSpPr>
          <p:cNvPr id="11" name="Text 9"/>
          <p:cNvSpPr/>
          <p:nvPr/>
        </p:nvSpPr>
        <p:spPr>
          <a:xfrm>
            <a:off x="2560320" y="1645920"/>
            <a:ext cx="1920240" cy="320040"/>
          </a:xfrm>
          <a:prstGeom prst="rect">
            <a:avLst/>
          </a:prstGeom>
          <a:noFill/>
          <a:ln/>
        </p:spPr>
        <p:txBody>
          <a:bodyPr wrap="square" rtlCol="0" anchor="ctr"/>
          <a:lstStyle/>
          <a:p>
            <a:pPr marL="0" indent="0" algn="ctr">
              <a:buNone/>
            </a:pPr>
            <a:r>
              <a:rPr lang="en-US" sz="1000" dirty="0">
                <a:solidFill>
                  <a:srgbClr val="1E293B"/>
                </a:solidFill>
              </a:rPr>
              <a:t>Recall ✅</a:t>
            </a:r>
            <a:endParaRPr lang="en-US" sz="1000" dirty="0"/>
          </a:p>
        </p:txBody>
      </p:sp>
      <p:sp>
        <p:nvSpPr>
          <p:cNvPr id="12" name="Shape 10"/>
          <p:cNvSpPr/>
          <p:nvPr/>
        </p:nvSpPr>
        <p:spPr>
          <a:xfrm>
            <a:off x="466344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3" name="Shape 11"/>
          <p:cNvSpPr/>
          <p:nvPr/>
        </p:nvSpPr>
        <p:spPr>
          <a:xfrm>
            <a:off x="4663440" y="1005840"/>
            <a:ext cx="1920240" cy="54864"/>
          </a:xfrm>
          <a:prstGeom prst="rect">
            <a:avLst/>
          </a:prstGeom>
          <a:solidFill>
            <a:srgbClr val="E67E22"/>
          </a:solidFill>
          <a:ln/>
        </p:spPr>
        <p:txBody>
          <a:bodyPr/>
          <a:lstStyle/>
          <a:p>
            <a:endParaRPr lang="fr-FR"/>
          </a:p>
        </p:txBody>
      </p:sp>
      <p:sp>
        <p:nvSpPr>
          <p:cNvPr id="14" name="Text 12"/>
          <p:cNvSpPr/>
          <p:nvPr/>
        </p:nvSpPr>
        <p:spPr>
          <a:xfrm>
            <a:off x="4663440" y="1097280"/>
            <a:ext cx="1920240" cy="502920"/>
          </a:xfrm>
          <a:prstGeom prst="rect">
            <a:avLst/>
          </a:prstGeom>
          <a:noFill/>
          <a:ln/>
        </p:spPr>
        <p:txBody>
          <a:bodyPr wrap="square" rtlCol="0" anchor="ctr"/>
          <a:lstStyle/>
          <a:p>
            <a:pPr marL="0" indent="0" algn="ctr">
              <a:buNone/>
            </a:pPr>
            <a:r>
              <a:rPr lang="en-US" sz="2400" b="1" dirty="0">
                <a:solidFill>
                  <a:srgbClr val="E67E22"/>
                </a:solidFill>
              </a:rPr>
              <a:t>0.0764</a:t>
            </a:r>
            <a:endParaRPr lang="en-US" sz="2400" dirty="0"/>
          </a:p>
        </p:txBody>
      </p:sp>
      <p:sp>
        <p:nvSpPr>
          <p:cNvPr id="15" name="Text 13"/>
          <p:cNvSpPr/>
          <p:nvPr/>
        </p:nvSpPr>
        <p:spPr>
          <a:xfrm>
            <a:off x="4663440" y="1645920"/>
            <a:ext cx="1920240" cy="320040"/>
          </a:xfrm>
          <a:prstGeom prst="rect">
            <a:avLst/>
          </a:prstGeom>
          <a:noFill/>
          <a:ln/>
        </p:spPr>
        <p:txBody>
          <a:bodyPr wrap="square" rtlCol="0" anchor="ctr"/>
          <a:lstStyle/>
          <a:p>
            <a:pPr marL="0" indent="0" algn="ctr">
              <a:buNone/>
            </a:pPr>
            <a:r>
              <a:rPr lang="en-US" sz="1000" dirty="0">
                <a:solidFill>
                  <a:srgbClr val="1E293B"/>
                </a:solidFill>
              </a:rPr>
              <a:t>Precision ⚠️</a:t>
            </a:r>
            <a:endParaRPr lang="en-US" sz="1000" dirty="0"/>
          </a:p>
        </p:txBody>
      </p:sp>
      <p:sp>
        <p:nvSpPr>
          <p:cNvPr id="16" name="Shape 14"/>
          <p:cNvSpPr/>
          <p:nvPr/>
        </p:nvSpPr>
        <p:spPr>
          <a:xfrm>
            <a:off x="676656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7" name="Shape 15"/>
          <p:cNvSpPr/>
          <p:nvPr/>
        </p:nvSpPr>
        <p:spPr>
          <a:xfrm>
            <a:off x="6766560" y="1005840"/>
            <a:ext cx="1920240" cy="54864"/>
          </a:xfrm>
          <a:prstGeom prst="rect">
            <a:avLst/>
          </a:prstGeom>
          <a:solidFill>
            <a:srgbClr val="E67E22"/>
          </a:solidFill>
          <a:ln/>
        </p:spPr>
        <p:txBody>
          <a:bodyPr/>
          <a:lstStyle/>
          <a:p>
            <a:endParaRPr lang="fr-FR"/>
          </a:p>
        </p:txBody>
      </p:sp>
      <p:sp>
        <p:nvSpPr>
          <p:cNvPr id="18" name="Text 16"/>
          <p:cNvSpPr/>
          <p:nvPr/>
        </p:nvSpPr>
        <p:spPr>
          <a:xfrm>
            <a:off x="6766560" y="1097280"/>
            <a:ext cx="1920240" cy="502920"/>
          </a:xfrm>
          <a:prstGeom prst="rect">
            <a:avLst/>
          </a:prstGeom>
          <a:noFill/>
          <a:ln/>
        </p:spPr>
        <p:txBody>
          <a:bodyPr wrap="square" rtlCol="0" anchor="ctr"/>
          <a:lstStyle/>
          <a:p>
            <a:pPr marL="0" indent="0" algn="ctr">
              <a:buNone/>
            </a:pPr>
            <a:r>
              <a:rPr lang="en-US" sz="2400" b="1" dirty="0">
                <a:solidFill>
                  <a:srgbClr val="E67E22"/>
                </a:solidFill>
              </a:rPr>
              <a:t>0.1392</a:t>
            </a:r>
            <a:endParaRPr lang="en-US" sz="2400" dirty="0"/>
          </a:p>
        </p:txBody>
      </p:sp>
      <p:sp>
        <p:nvSpPr>
          <p:cNvPr id="19" name="Text 17"/>
          <p:cNvSpPr/>
          <p:nvPr/>
        </p:nvSpPr>
        <p:spPr>
          <a:xfrm>
            <a:off x="6766560" y="1645920"/>
            <a:ext cx="1920240" cy="320040"/>
          </a:xfrm>
          <a:prstGeom prst="rect">
            <a:avLst/>
          </a:prstGeom>
          <a:noFill/>
          <a:ln/>
        </p:spPr>
        <p:txBody>
          <a:bodyPr wrap="square" rtlCol="0" anchor="ctr"/>
          <a:lstStyle/>
          <a:p>
            <a:pPr marL="0" indent="0" algn="ctr">
              <a:buNone/>
            </a:pPr>
            <a:r>
              <a:rPr lang="en-US" sz="1000" dirty="0">
                <a:solidFill>
                  <a:srgbClr val="1E293B"/>
                </a:solidFill>
              </a:rPr>
              <a:t>F1-Score ⚠️</a:t>
            </a:r>
            <a:endParaRPr lang="en-US" sz="1000" dirty="0"/>
          </a:p>
        </p:txBody>
      </p:sp>
      <p:sp>
        <p:nvSpPr>
          <p:cNvPr id="20" name="Text 18"/>
          <p:cNvSpPr/>
          <p:nvPr/>
        </p:nvSpPr>
        <p:spPr>
          <a:xfrm>
            <a:off x="457200" y="2240280"/>
            <a:ext cx="4572000" cy="228600"/>
          </a:xfrm>
          <a:prstGeom prst="rect">
            <a:avLst/>
          </a:prstGeom>
          <a:noFill/>
          <a:ln/>
        </p:spPr>
        <p:txBody>
          <a:bodyPr wrap="square" rtlCol="0" anchor="ctr"/>
          <a:lstStyle/>
          <a:p>
            <a:pPr marL="0" indent="0">
              <a:buNone/>
            </a:pPr>
            <a:r>
              <a:rPr lang="en-US" sz="1000" dirty="0">
                <a:solidFill>
                  <a:srgbClr val="64748B"/>
                </a:solidFill>
              </a:rPr>
              <a:t>CV AUC-ROC : 0.8367 ± 0.0014 — Modèle stable</a:t>
            </a:r>
            <a:endParaRPr lang="en-US" sz="1000" dirty="0"/>
          </a:p>
        </p:txBody>
      </p:sp>
      <p:sp>
        <p:nvSpPr>
          <p:cNvPr id="21" name="Text 19"/>
          <p:cNvSpPr/>
          <p:nvPr/>
        </p:nvSpPr>
        <p:spPr>
          <a:xfrm>
            <a:off x="457200" y="2560320"/>
            <a:ext cx="3657600" cy="274320"/>
          </a:xfrm>
          <a:prstGeom prst="rect">
            <a:avLst/>
          </a:prstGeom>
          <a:noFill/>
          <a:ln/>
        </p:spPr>
        <p:txBody>
          <a:bodyPr wrap="square" rtlCol="0" anchor="ctr"/>
          <a:lstStyle/>
          <a:p>
            <a:pPr marL="0" indent="0">
              <a:buNone/>
            </a:pPr>
            <a:r>
              <a:rPr lang="en-US" sz="1200" b="1" dirty="0">
                <a:solidFill>
                  <a:srgbClr val="1B3A5C"/>
                </a:solidFill>
              </a:rPr>
              <a:t>Feature Importance — Top 5</a:t>
            </a:r>
            <a:endParaRPr lang="en-US" sz="1200" dirty="0"/>
          </a:p>
        </p:txBody>
      </p:sp>
      <p:sp>
        <p:nvSpPr>
          <p:cNvPr id="22" name="Text 20"/>
          <p:cNvSpPr/>
          <p:nvPr/>
        </p:nvSpPr>
        <p:spPr>
          <a:xfrm>
            <a:off x="457200" y="2880360"/>
            <a:ext cx="1463040" cy="228600"/>
          </a:xfrm>
          <a:prstGeom prst="rect">
            <a:avLst/>
          </a:prstGeom>
          <a:noFill/>
          <a:ln/>
        </p:spPr>
        <p:txBody>
          <a:bodyPr wrap="square" rtlCol="0" anchor="ctr"/>
          <a:lstStyle/>
          <a:p>
            <a:pPr marL="0" indent="0" algn="r">
              <a:buNone/>
            </a:pPr>
            <a:r>
              <a:rPr lang="en-US" sz="900" dirty="0">
                <a:solidFill>
                  <a:srgbClr val="1E293B"/>
                </a:solidFill>
              </a:rPr>
              <a:t>agg</a:t>
            </a:r>
            <a:endParaRPr lang="en-US" sz="900" dirty="0"/>
          </a:p>
        </p:txBody>
      </p:sp>
      <p:sp>
        <p:nvSpPr>
          <p:cNvPr id="23" name="Shape 21"/>
          <p:cNvSpPr/>
          <p:nvPr/>
        </p:nvSpPr>
        <p:spPr>
          <a:xfrm>
            <a:off x="2103120" y="2898648"/>
            <a:ext cx="2793492" cy="182880"/>
          </a:xfrm>
          <a:prstGeom prst="rect">
            <a:avLst/>
          </a:prstGeom>
          <a:solidFill>
            <a:srgbClr val="2E75B6"/>
          </a:solidFill>
          <a:ln/>
        </p:spPr>
        <p:txBody>
          <a:bodyPr/>
          <a:lstStyle/>
          <a:p>
            <a:endParaRPr lang="fr-FR"/>
          </a:p>
        </p:txBody>
      </p:sp>
      <p:sp>
        <p:nvSpPr>
          <p:cNvPr id="24" name="Text 22"/>
          <p:cNvSpPr/>
          <p:nvPr/>
        </p:nvSpPr>
        <p:spPr>
          <a:xfrm>
            <a:off x="4988052" y="2880360"/>
            <a:ext cx="548640" cy="228600"/>
          </a:xfrm>
          <a:prstGeom prst="rect">
            <a:avLst/>
          </a:prstGeom>
          <a:noFill/>
          <a:ln/>
        </p:spPr>
        <p:txBody>
          <a:bodyPr wrap="square" rtlCol="0" anchor="ctr"/>
          <a:lstStyle/>
          <a:p>
            <a:pPr marL="0" indent="0">
              <a:buNone/>
            </a:pPr>
            <a:r>
              <a:rPr lang="en-US" sz="800" dirty="0">
                <a:solidFill>
                  <a:srgbClr val="64748B"/>
                </a:solidFill>
              </a:rPr>
              <a:t>0.235</a:t>
            </a:r>
            <a:endParaRPr lang="en-US" sz="800" dirty="0"/>
          </a:p>
        </p:txBody>
      </p:sp>
      <p:sp>
        <p:nvSpPr>
          <p:cNvPr id="25" name="Text 23"/>
          <p:cNvSpPr/>
          <p:nvPr/>
        </p:nvSpPr>
        <p:spPr>
          <a:xfrm>
            <a:off x="457200" y="3136392"/>
            <a:ext cx="1463040" cy="228600"/>
          </a:xfrm>
          <a:prstGeom prst="rect">
            <a:avLst/>
          </a:prstGeom>
          <a:noFill/>
          <a:ln/>
        </p:spPr>
        <p:txBody>
          <a:bodyPr wrap="square" rtlCol="0" anchor="ctr"/>
          <a:lstStyle/>
          <a:p>
            <a:pPr marL="0" indent="0" algn="r">
              <a:buNone/>
            </a:pPr>
            <a:r>
              <a:rPr lang="en-US" sz="900" dirty="0">
                <a:solidFill>
                  <a:srgbClr val="1E293B"/>
                </a:solidFill>
              </a:rPr>
              <a:t>col</a:t>
            </a:r>
            <a:endParaRPr lang="en-US" sz="900" dirty="0"/>
          </a:p>
        </p:txBody>
      </p:sp>
      <p:sp>
        <p:nvSpPr>
          <p:cNvPr id="26" name="Shape 24"/>
          <p:cNvSpPr/>
          <p:nvPr/>
        </p:nvSpPr>
        <p:spPr>
          <a:xfrm>
            <a:off x="2103120" y="3154680"/>
            <a:ext cx="2080260" cy="182880"/>
          </a:xfrm>
          <a:prstGeom prst="rect">
            <a:avLst/>
          </a:prstGeom>
          <a:solidFill>
            <a:srgbClr val="2E75B6"/>
          </a:solidFill>
          <a:ln/>
        </p:spPr>
        <p:txBody>
          <a:bodyPr/>
          <a:lstStyle/>
          <a:p>
            <a:endParaRPr lang="fr-FR"/>
          </a:p>
        </p:txBody>
      </p:sp>
      <p:sp>
        <p:nvSpPr>
          <p:cNvPr id="27" name="Text 25"/>
          <p:cNvSpPr/>
          <p:nvPr/>
        </p:nvSpPr>
        <p:spPr>
          <a:xfrm>
            <a:off x="4274820" y="3136392"/>
            <a:ext cx="548640" cy="228600"/>
          </a:xfrm>
          <a:prstGeom prst="rect">
            <a:avLst/>
          </a:prstGeom>
          <a:noFill/>
          <a:ln/>
        </p:spPr>
        <p:txBody>
          <a:bodyPr wrap="square" rtlCol="0" anchor="ctr"/>
          <a:lstStyle/>
          <a:p>
            <a:pPr marL="0" indent="0">
              <a:buNone/>
            </a:pPr>
            <a:r>
              <a:rPr lang="en-US" sz="800" dirty="0">
                <a:solidFill>
                  <a:srgbClr val="64748B"/>
                </a:solidFill>
              </a:rPr>
              <a:t>0.175</a:t>
            </a:r>
            <a:endParaRPr lang="en-US" sz="800" dirty="0"/>
          </a:p>
        </p:txBody>
      </p:sp>
      <p:sp>
        <p:nvSpPr>
          <p:cNvPr id="28" name="Text 26"/>
          <p:cNvSpPr/>
          <p:nvPr/>
        </p:nvSpPr>
        <p:spPr>
          <a:xfrm>
            <a:off x="457200" y="3392424"/>
            <a:ext cx="1463040" cy="228600"/>
          </a:xfrm>
          <a:prstGeom prst="rect">
            <a:avLst/>
          </a:prstGeom>
          <a:noFill/>
          <a:ln/>
        </p:spPr>
        <p:txBody>
          <a:bodyPr wrap="square" rtlCol="0" anchor="ctr"/>
          <a:lstStyle/>
          <a:p>
            <a:pPr marL="0" indent="0" algn="r">
              <a:buNone/>
            </a:pPr>
            <a:r>
              <a:rPr lang="en-US" sz="900" dirty="0">
                <a:solidFill>
                  <a:srgbClr val="1E293B"/>
                </a:solidFill>
              </a:rPr>
              <a:t>is_hors_agglo</a:t>
            </a:r>
            <a:endParaRPr lang="en-US" sz="900" dirty="0"/>
          </a:p>
        </p:txBody>
      </p:sp>
      <p:sp>
        <p:nvSpPr>
          <p:cNvPr id="29" name="Shape 27"/>
          <p:cNvSpPr/>
          <p:nvPr/>
        </p:nvSpPr>
        <p:spPr>
          <a:xfrm>
            <a:off x="2103120" y="3410712"/>
            <a:ext cx="1735531" cy="182880"/>
          </a:xfrm>
          <a:prstGeom prst="rect">
            <a:avLst/>
          </a:prstGeom>
          <a:solidFill>
            <a:srgbClr val="2E75B6"/>
          </a:solidFill>
          <a:ln/>
        </p:spPr>
        <p:txBody>
          <a:bodyPr/>
          <a:lstStyle/>
          <a:p>
            <a:endParaRPr lang="fr-FR"/>
          </a:p>
        </p:txBody>
      </p:sp>
      <p:sp>
        <p:nvSpPr>
          <p:cNvPr id="30" name="Text 28"/>
          <p:cNvSpPr/>
          <p:nvPr/>
        </p:nvSpPr>
        <p:spPr>
          <a:xfrm>
            <a:off x="3930091" y="3392424"/>
            <a:ext cx="548640" cy="228600"/>
          </a:xfrm>
          <a:prstGeom prst="rect">
            <a:avLst/>
          </a:prstGeom>
          <a:noFill/>
          <a:ln/>
        </p:spPr>
        <p:txBody>
          <a:bodyPr wrap="square" rtlCol="0" anchor="ctr"/>
          <a:lstStyle/>
          <a:p>
            <a:pPr marL="0" indent="0">
              <a:buNone/>
            </a:pPr>
            <a:r>
              <a:rPr lang="en-US" sz="800" dirty="0">
                <a:solidFill>
                  <a:srgbClr val="64748B"/>
                </a:solidFill>
              </a:rPr>
              <a:t>0.146</a:t>
            </a:r>
            <a:endParaRPr lang="en-US" sz="800" dirty="0"/>
          </a:p>
        </p:txBody>
      </p:sp>
      <p:sp>
        <p:nvSpPr>
          <p:cNvPr id="31" name="Text 29"/>
          <p:cNvSpPr/>
          <p:nvPr/>
        </p:nvSpPr>
        <p:spPr>
          <a:xfrm>
            <a:off x="457200" y="3648456"/>
            <a:ext cx="1463040" cy="228600"/>
          </a:xfrm>
          <a:prstGeom prst="rect">
            <a:avLst/>
          </a:prstGeom>
          <a:noFill/>
          <a:ln/>
        </p:spPr>
        <p:txBody>
          <a:bodyPr wrap="square" rtlCol="0" anchor="ctr"/>
          <a:lstStyle/>
          <a:p>
            <a:pPr marL="0" indent="0" algn="r">
              <a:buNone/>
            </a:pPr>
            <a:r>
              <a:rPr lang="en-US" sz="900" dirty="0">
                <a:solidFill>
                  <a:srgbClr val="1E293B"/>
                </a:solidFill>
              </a:rPr>
              <a:t>age</a:t>
            </a:r>
            <a:endParaRPr lang="en-US" sz="900" dirty="0"/>
          </a:p>
        </p:txBody>
      </p:sp>
      <p:sp>
        <p:nvSpPr>
          <p:cNvPr id="32" name="Shape 30"/>
          <p:cNvSpPr/>
          <p:nvPr/>
        </p:nvSpPr>
        <p:spPr>
          <a:xfrm>
            <a:off x="2103120" y="3666744"/>
            <a:ext cx="1093622" cy="182880"/>
          </a:xfrm>
          <a:prstGeom prst="rect">
            <a:avLst/>
          </a:prstGeom>
          <a:solidFill>
            <a:srgbClr val="2E75B6"/>
          </a:solidFill>
          <a:ln/>
        </p:spPr>
        <p:txBody>
          <a:bodyPr/>
          <a:lstStyle/>
          <a:p>
            <a:endParaRPr lang="fr-FR"/>
          </a:p>
        </p:txBody>
      </p:sp>
      <p:sp>
        <p:nvSpPr>
          <p:cNvPr id="33" name="Text 31"/>
          <p:cNvSpPr/>
          <p:nvPr/>
        </p:nvSpPr>
        <p:spPr>
          <a:xfrm>
            <a:off x="3288182" y="3648456"/>
            <a:ext cx="548640" cy="228600"/>
          </a:xfrm>
          <a:prstGeom prst="rect">
            <a:avLst/>
          </a:prstGeom>
          <a:noFill/>
          <a:ln/>
        </p:spPr>
        <p:txBody>
          <a:bodyPr wrap="square" rtlCol="0" anchor="ctr"/>
          <a:lstStyle/>
          <a:p>
            <a:pPr marL="0" indent="0">
              <a:buNone/>
            </a:pPr>
            <a:r>
              <a:rPr lang="en-US" sz="800" dirty="0">
                <a:solidFill>
                  <a:srgbClr val="64748B"/>
                </a:solidFill>
              </a:rPr>
              <a:t>0.092</a:t>
            </a:r>
            <a:endParaRPr lang="en-US" sz="800" dirty="0"/>
          </a:p>
        </p:txBody>
      </p:sp>
      <p:sp>
        <p:nvSpPr>
          <p:cNvPr id="34" name="Text 32"/>
          <p:cNvSpPr/>
          <p:nvPr/>
        </p:nvSpPr>
        <p:spPr>
          <a:xfrm>
            <a:off x="457200" y="3904488"/>
            <a:ext cx="1463040" cy="228600"/>
          </a:xfrm>
          <a:prstGeom prst="rect">
            <a:avLst/>
          </a:prstGeom>
          <a:noFill/>
          <a:ln/>
        </p:spPr>
        <p:txBody>
          <a:bodyPr wrap="square" rtlCol="0" anchor="ctr"/>
          <a:lstStyle/>
          <a:p>
            <a:pPr marL="0" indent="0" algn="r">
              <a:buNone/>
            </a:pPr>
            <a:r>
              <a:rPr lang="en-US" sz="900" dirty="0">
                <a:solidFill>
                  <a:srgbClr val="1E293B"/>
                </a:solidFill>
              </a:rPr>
              <a:t>is_vru</a:t>
            </a:r>
            <a:endParaRPr lang="en-US" sz="900" dirty="0"/>
          </a:p>
        </p:txBody>
      </p:sp>
      <p:sp>
        <p:nvSpPr>
          <p:cNvPr id="35" name="Shape 33"/>
          <p:cNvSpPr/>
          <p:nvPr/>
        </p:nvSpPr>
        <p:spPr>
          <a:xfrm>
            <a:off x="2103120" y="3922776"/>
            <a:ext cx="962863" cy="182880"/>
          </a:xfrm>
          <a:prstGeom prst="rect">
            <a:avLst/>
          </a:prstGeom>
          <a:solidFill>
            <a:srgbClr val="2E75B6"/>
          </a:solidFill>
          <a:ln/>
        </p:spPr>
        <p:txBody>
          <a:bodyPr/>
          <a:lstStyle/>
          <a:p>
            <a:endParaRPr lang="fr-FR"/>
          </a:p>
        </p:txBody>
      </p:sp>
      <p:sp>
        <p:nvSpPr>
          <p:cNvPr id="36" name="Text 34"/>
          <p:cNvSpPr/>
          <p:nvPr/>
        </p:nvSpPr>
        <p:spPr>
          <a:xfrm>
            <a:off x="3157423" y="3904488"/>
            <a:ext cx="548640" cy="228600"/>
          </a:xfrm>
          <a:prstGeom prst="rect">
            <a:avLst/>
          </a:prstGeom>
          <a:noFill/>
          <a:ln/>
        </p:spPr>
        <p:txBody>
          <a:bodyPr wrap="square" rtlCol="0" anchor="ctr"/>
          <a:lstStyle/>
          <a:p>
            <a:pPr marL="0" indent="0">
              <a:buNone/>
            </a:pPr>
            <a:r>
              <a:rPr lang="en-US" sz="800" dirty="0">
                <a:solidFill>
                  <a:srgbClr val="64748B"/>
                </a:solidFill>
              </a:rPr>
              <a:t>0.081</a:t>
            </a:r>
            <a:endParaRPr lang="en-US" sz="800" dirty="0"/>
          </a:p>
        </p:txBody>
      </p:sp>
      <p:sp>
        <p:nvSpPr>
          <p:cNvPr id="37" name="Shape 35"/>
          <p:cNvSpPr/>
          <p:nvPr/>
        </p:nvSpPr>
        <p:spPr>
          <a:xfrm>
            <a:off x="5351983" y="2615184"/>
            <a:ext cx="3496595" cy="1536192"/>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38" name="Text 36"/>
          <p:cNvSpPr/>
          <p:nvPr/>
        </p:nvSpPr>
        <p:spPr>
          <a:xfrm>
            <a:off x="5534863" y="2706624"/>
            <a:ext cx="3163586" cy="1355464"/>
          </a:xfrm>
          <a:prstGeom prst="rect">
            <a:avLst/>
          </a:prstGeom>
          <a:noFill/>
          <a:ln/>
        </p:spPr>
        <p:txBody>
          <a:bodyPr wrap="square" rtlCol="0" anchor="ctr"/>
          <a:lstStyle/>
          <a:p>
            <a:pPr marL="0" indent="0">
              <a:buNone/>
            </a:pPr>
            <a:r>
              <a:rPr lang="en-US" sz="1100" b="1" dirty="0">
                <a:solidFill>
                  <a:srgbClr val="1B3A5C"/>
                </a:solidFill>
              </a:rPr>
              <a:t>Pourquoi la Precision est faible ?</a:t>
            </a:r>
            <a:endParaRPr lang="en-US" sz="1100" dirty="0"/>
          </a:p>
          <a:p>
            <a:pPr marL="0" indent="0">
              <a:buNone/>
            </a:pPr>
            <a:endParaRPr lang="en-US" sz="1100" dirty="0"/>
          </a:p>
          <a:p>
            <a:pPr marL="0" indent="0">
              <a:buNone/>
            </a:pPr>
            <a:r>
              <a:rPr lang="en-US" sz="900" dirty="0">
                <a:solidFill>
                  <a:srgbClr val="000000"/>
                </a:solidFill>
              </a:rPr>
              <a:t>La classe Tué = 2.7% (ratio 1:36). Le modèle produit des faux positifs.</a:t>
            </a:r>
            <a:endParaRPr lang="en-US" sz="1100" dirty="0"/>
          </a:p>
          <a:p>
            <a:pPr marL="0" indent="0">
              <a:buNone/>
            </a:pPr>
            <a:endParaRPr lang="en-US" sz="1100" dirty="0"/>
          </a:p>
          <a:p>
            <a:pPr marL="0" indent="0">
              <a:buNone/>
            </a:pPr>
            <a:r>
              <a:rPr lang="en-US" sz="900" b="1" dirty="0">
                <a:solidFill>
                  <a:srgbClr val="0D9488"/>
                </a:solidFill>
              </a:rPr>
              <a:t>En sécurité routière, le Recall (79%) est prioritaire : mieux vaut une fausse alerte qu'un accident mortel non détecté.</a:t>
            </a:r>
            <a:endParaRPr lang="en-US" sz="1100" dirty="0"/>
          </a:p>
        </p:txBody>
      </p:sp>
      <p:sp>
        <p:nvSpPr>
          <p:cNvPr id="39" name="Shape 37"/>
          <p:cNvSpPr/>
          <p:nvPr/>
        </p:nvSpPr>
        <p:spPr>
          <a:xfrm>
            <a:off x="457200" y="4297680"/>
            <a:ext cx="8229600" cy="411480"/>
          </a:xfrm>
          <a:prstGeom prst="rect">
            <a:avLst/>
          </a:prstGeom>
          <a:solidFill>
            <a:srgbClr val="FFF3E0"/>
          </a:solidFill>
          <a:ln/>
        </p:spPr>
        <p:txBody>
          <a:bodyPr/>
          <a:lstStyle/>
          <a:p>
            <a:endParaRPr lang="fr-FR"/>
          </a:p>
        </p:txBody>
      </p:sp>
      <p:sp>
        <p:nvSpPr>
          <p:cNvPr id="40" name="Text 38"/>
          <p:cNvSpPr/>
          <p:nvPr/>
        </p:nvSpPr>
        <p:spPr>
          <a:xfrm>
            <a:off x="640080" y="4315968"/>
            <a:ext cx="7863840" cy="365760"/>
          </a:xfrm>
          <a:prstGeom prst="rect">
            <a:avLst/>
          </a:prstGeom>
          <a:noFill/>
          <a:ln/>
        </p:spPr>
        <p:txBody>
          <a:bodyPr wrap="square" rtlCol="0" anchor="ctr"/>
          <a:lstStyle/>
          <a:p>
            <a:pPr marL="0" indent="0">
              <a:buNone/>
            </a:pPr>
            <a:r>
              <a:rPr lang="en-US" sz="1000" b="1" dirty="0">
                <a:solidFill>
                  <a:srgbClr val="E67E22"/>
                </a:solidFill>
              </a:rPr>
              <a:t>Faible Precision structurelle (0.0764) due au déséquilibre extrême (1 tué pour 36 usagers), mais Recall de 79% privilégié pour la sécurité.</a:t>
            </a:r>
            <a:endParaRPr lang="en-US" sz="1000" dirty="0"/>
          </a:p>
        </p:txBody>
      </p:sp>
      <p:sp>
        <p:nvSpPr>
          <p:cNvPr id="41" name="Text 39"/>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42" name="Text 40"/>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11 / 20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Modèle B : Random Forest (2019-2024)</a:t>
            </a:r>
            <a:endParaRPr lang="en-US" sz="2600" dirty="0"/>
          </a:p>
        </p:txBody>
      </p:sp>
      <p:sp>
        <p:nvSpPr>
          <p:cNvPr id="3" name="Text 1"/>
          <p:cNvSpPr/>
          <p:nvPr/>
        </p:nvSpPr>
        <p:spPr>
          <a:xfrm>
            <a:off x="457200" y="685800"/>
            <a:ext cx="8229600" cy="228600"/>
          </a:xfrm>
          <a:prstGeom prst="rect">
            <a:avLst/>
          </a:prstGeom>
          <a:noFill/>
          <a:ln/>
        </p:spPr>
        <p:txBody>
          <a:bodyPr wrap="square" rtlCol="0" anchor="ctr"/>
          <a:lstStyle/>
          <a:p>
            <a:pPr marL="0" indent="0">
              <a:buNone/>
            </a:pPr>
            <a:r>
              <a:rPr lang="en-US" sz="1000" i="1" dirty="0">
                <a:solidFill>
                  <a:srgbClr val="64748B"/>
                </a:solidFill>
              </a:rPr>
              <a:t>Cible : Grave (Tué + Hospitalisé) — 17.4% | 14 features | is_vru = facteur n°1 (Score 0.32)</a:t>
            </a:r>
            <a:endParaRPr lang="en-US" sz="1000" dirty="0"/>
          </a:p>
        </p:txBody>
      </p:sp>
      <p:sp>
        <p:nvSpPr>
          <p:cNvPr id="4" name="Shape 2"/>
          <p:cNvSpPr/>
          <p:nvPr/>
        </p:nvSpPr>
        <p:spPr>
          <a:xfrm>
            <a:off x="45720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5" name="Shape 3"/>
          <p:cNvSpPr/>
          <p:nvPr/>
        </p:nvSpPr>
        <p:spPr>
          <a:xfrm>
            <a:off x="457200" y="1005840"/>
            <a:ext cx="1920240" cy="54864"/>
          </a:xfrm>
          <a:prstGeom prst="rect">
            <a:avLst/>
          </a:prstGeom>
          <a:solidFill>
            <a:srgbClr val="28A745"/>
          </a:solidFill>
          <a:ln/>
        </p:spPr>
        <p:txBody>
          <a:bodyPr/>
          <a:lstStyle/>
          <a:p>
            <a:endParaRPr lang="fr-FR"/>
          </a:p>
        </p:txBody>
      </p:sp>
      <p:sp>
        <p:nvSpPr>
          <p:cNvPr id="6" name="Text 4"/>
          <p:cNvSpPr/>
          <p:nvPr/>
        </p:nvSpPr>
        <p:spPr>
          <a:xfrm>
            <a:off x="457200" y="1097280"/>
            <a:ext cx="1920240" cy="457200"/>
          </a:xfrm>
          <a:prstGeom prst="rect">
            <a:avLst/>
          </a:prstGeom>
          <a:noFill/>
          <a:ln/>
        </p:spPr>
        <p:txBody>
          <a:bodyPr wrap="square" rtlCol="0" anchor="ctr"/>
          <a:lstStyle/>
          <a:p>
            <a:pPr marL="0" indent="0" algn="ctr">
              <a:buNone/>
            </a:pPr>
            <a:r>
              <a:rPr lang="en-US" sz="2200" b="1" dirty="0">
                <a:solidFill>
                  <a:srgbClr val="0D9488"/>
                </a:solidFill>
              </a:rPr>
              <a:t>0.8164</a:t>
            </a:r>
            <a:endParaRPr lang="en-US" sz="2200" dirty="0"/>
          </a:p>
        </p:txBody>
      </p:sp>
      <p:sp>
        <p:nvSpPr>
          <p:cNvPr id="7" name="Text 5"/>
          <p:cNvSpPr/>
          <p:nvPr/>
        </p:nvSpPr>
        <p:spPr>
          <a:xfrm>
            <a:off x="457200" y="1554480"/>
            <a:ext cx="1920240" cy="228600"/>
          </a:xfrm>
          <a:prstGeom prst="rect">
            <a:avLst/>
          </a:prstGeom>
          <a:noFill/>
          <a:ln/>
        </p:spPr>
        <p:txBody>
          <a:bodyPr wrap="square" rtlCol="0" anchor="ctr"/>
          <a:lstStyle/>
          <a:p>
            <a:pPr marL="0" indent="0" algn="ctr">
              <a:buNone/>
            </a:pPr>
            <a:r>
              <a:rPr lang="en-US" sz="1000" dirty="0">
                <a:solidFill>
                  <a:srgbClr val="1E293B"/>
                </a:solidFill>
              </a:rPr>
              <a:t>AUC-ROC</a:t>
            </a:r>
            <a:endParaRPr lang="en-US" sz="1000" dirty="0"/>
          </a:p>
        </p:txBody>
      </p:sp>
      <p:sp>
        <p:nvSpPr>
          <p:cNvPr id="8" name="Text 6"/>
          <p:cNvSpPr/>
          <p:nvPr/>
        </p:nvSpPr>
        <p:spPr>
          <a:xfrm>
            <a:off x="457200" y="1783080"/>
            <a:ext cx="1920240" cy="228600"/>
          </a:xfrm>
          <a:prstGeom prst="rect">
            <a:avLst/>
          </a:prstGeom>
          <a:noFill/>
          <a:ln/>
        </p:spPr>
        <p:txBody>
          <a:bodyPr wrap="square" rtlCol="0" anchor="ctr"/>
          <a:lstStyle/>
          <a:p>
            <a:pPr marL="0" indent="0" algn="ctr">
              <a:buNone/>
            </a:pPr>
            <a:r>
              <a:rPr lang="en-US" sz="900" b="1" dirty="0">
                <a:solidFill>
                  <a:srgbClr val="28A745"/>
                </a:solidFill>
              </a:rPr>
              <a:t>Comparable ✅</a:t>
            </a:r>
            <a:endParaRPr lang="en-US" sz="900" dirty="0"/>
          </a:p>
        </p:txBody>
      </p:sp>
      <p:sp>
        <p:nvSpPr>
          <p:cNvPr id="9" name="Shape 7"/>
          <p:cNvSpPr/>
          <p:nvPr/>
        </p:nvSpPr>
        <p:spPr>
          <a:xfrm>
            <a:off x="256032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0" name="Shape 8"/>
          <p:cNvSpPr/>
          <p:nvPr/>
        </p:nvSpPr>
        <p:spPr>
          <a:xfrm>
            <a:off x="2560320" y="1005840"/>
            <a:ext cx="1920240" cy="54864"/>
          </a:xfrm>
          <a:prstGeom prst="rect">
            <a:avLst/>
          </a:prstGeom>
          <a:solidFill>
            <a:srgbClr val="28A745"/>
          </a:solidFill>
          <a:ln/>
        </p:spPr>
        <p:txBody>
          <a:bodyPr/>
          <a:lstStyle/>
          <a:p>
            <a:endParaRPr lang="fr-FR"/>
          </a:p>
        </p:txBody>
      </p:sp>
      <p:sp>
        <p:nvSpPr>
          <p:cNvPr id="11" name="Text 9"/>
          <p:cNvSpPr/>
          <p:nvPr/>
        </p:nvSpPr>
        <p:spPr>
          <a:xfrm>
            <a:off x="2560320" y="1097280"/>
            <a:ext cx="1920240" cy="457200"/>
          </a:xfrm>
          <a:prstGeom prst="rect">
            <a:avLst/>
          </a:prstGeom>
          <a:noFill/>
          <a:ln/>
        </p:spPr>
        <p:txBody>
          <a:bodyPr wrap="square" rtlCol="0" anchor="ctr"/>
          <a:lstStyle/>
          <a:p>
            <a:pPr marL="0" indent="0" algn="ctr">
              <a:buNone/>
            </a:pPr>
            <a:r>
              <a:rPr lang="en-US" sz="2200" b="1" dirty="0">
                <a:solidFill>
                  <a:srgbClr val="0D9488"/>
                </a:solidFill>
              </a:rPr>
              <a:t>0.7873</a:t>
            </a:r>
            <a:endParaRPr lang="en-US" sz="2200" dirty="0"/>
          </a:p>
        </p:txBody>
      </p:sp>
      <p:sp>
        <p:nvSpPr>
          <p:cNvPr id="12" name="Text 10"/>
          <p:cNvSpPr/>
          <p:nvPr/>
        </p:nvSpPr>
        <p:spPr>
          <a:xfrm>
            <a:off x="2560320" y="1554480"/>
            <a:ext cx="1920240" cy="228600"/>
          </a:xfrm>
          <a:prstGeom prst="rect">
            <a:avLst/>
          </a:prstGeom>
          <a:noFill/>
          <a:ln/>
        </p:spPr>
        <p:txBody>
          <a:bodyPr wrap="square" rtlCol="0" anchor="ctr"/>
          <a:lstStyle/>
          <a:p>
            <a:pPr marL="0" indent="0" algn="ctr">
              <a:buNone/>
            </a:pPr>
            <a:r>
              <a:rPr lang="en-US" sz="1000" dirty="0">
                <a:solidFill>
                  <a:srgbClr val="1E293B"/>
                </a:solidFill>
              </a:rPr>
              <a:t>Recall</a:t>
            </a:r>
            <a:endParaRPr lang="en-US" sz="1000" dirty="0"/>
          </a:p>
        </p:txBody>
      </p:sp>
      <p:sp>
        <p:nvSpPr>
          <p:cNvPr id="13" name="Text 11"/>
          <p:cNvSpPr/>
          <p:nvPr/>
        </p:nvSpPr>
        <p:spPr>
          <a:xfrm>
            <a:off x="2560320" y="1783080"/>
            <a:ext cx="1920240" cy="228600"/>
          </a:xfrm>
          <a:prstGeom prst="rect">
            <a:avLst/>
          </a:prstGeom>
          <a:noFill/>
          <a:ln/>
        </p:spPr>
        <p:txBody>
          <a:bodyPr wrap="square" rtlCol="0" anchor="ctr"/>
          <a:lstStyle/>
          <a:p>
            <a:pPr marL="0" indent="0" algn="ctr">
              <a:buNone/>
            </a:pPr>
            <a:r>
              <a:rPr lang="en-US" sz="900" b="1" dirty="0">
                <a:solidFill>
                  <a:srgbClr val="28A745"/>
                </a:solidFill>
              </a:rPr>
              <a:t>Identique ✅</a:t>
            </a:r>
            <a:endParaRPr lang="en-US" sz="900" dirty="0"/>
          </a:p>
        </p:txBody>
      </p:sp>
      <p:sp>
        <p:nvSpPr>
          <p:cNvPr id="14" name="Shape 12"/>
          <p:cNvSpPr/>
          <p:nvPr/>
        </p:nvSpPr>
        <p:spPr>
          <a:xfrm>
            <a:off x="466344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5" name="Shape 13"/>
          <p:cNvSpPr/>
          <p:nvPr/>
        </p:nvSpPr>
        <p:spPr>
          <a:xfrm>
            <a:off x="4663440" y="1005840"/>
            <a:ext cx="1920240" cy="54864"/>
          </a:xfrm>
          <a:prstGeom prst="rect">
            <a:avLst/>
          </a:prstGeom>
          <a:solidFill>
            <a:srgbClr val="28A745"/>
          </a:solidFill>
          <a:ln/>
        </p:spPr>
        <p:txBody>
          <a:bodyPr/>
          <a:lstStyle/>
          <a:p>
            <a:endParaRPr lang="fr-FR"/>
          </a:p>
        </p:txBody>
      </p:sp>
      <p:sp>
        <p:nvSpPr>
          <p:cNvPr id="16" name="Text 14"/>
          <p:cNvSpPr/>
          <p:nvPr/>
        </p:nvSpPr>
        <p:spPr>
          <a:xfrm>
            <a:off x="4663440" y="1097280"/>
            <a:ext cx="1920240" cy="457200"/>
          </a:xfrm>
          <a:prstGeom prst="rect">
            <a:avLst/>
          </a:prstGeom>
          <a:noFill/>
          <a:ln/>
        </p:spPr>
        <p:txBody>
          <a:bodyPr wrap="square" rtlCol="0" anchor="ctr"/>
          <a:lstStyle/>
          <a:p>
            <a:pPr marL="0" indent="0" algn="ctr">
              <a:buNone/>
            </a:pPr>
            <a:r>
              <a:rPr lang="en-US" sz="2200" b="1" dirty="0">
                <a:solidFill>
                  <a:srgbClr val="0D9488"/>
                </a:solidFill>
              </a:rPr>
              <a:t>0.3523</a:t>
            </a:r>
            <a:endParaRPr lang="en-US" sz="2200" dirty="0"/>
          </a:p>
        </p:txBody>
      </p:sp>
      <p:sp>
        <p:nvSpPr>
          <p:cNvPr id="17" name="Text 15"/>
          <p:cNvSpPr/>
          <p:nvPr/>
        </p:nvSpPr>
        <p:spPr>
          <a:xfrm>
            <a:off x="4663440" y="1554480"/>
            <a:ext cx="1920240" cy="228600"/>
          </a:xfrm>
          <a:prstGeom prst="rect">
            <a:avLst/>
          </a:prstGeom>
          <a:noFill/>
          <a:ln/>
        </p:spPr>
        <p:txBody>
          <a:bodyPr wrap="square" rtlCol="0" anchor="ctr"/>
          <a:lstStyle/>
          <a:p>
            <a:pPr marL="0" indent="0" algn="ctr">
              <a:buNone/>
            </a:pPr>
            <a:r>
              <a:rPr lang="en-US" sz="1000" dirty="0">
                <a:solidFill>
                  <a:srgbClr val="1E293B"/>
                </a:solidFill>
              </a:rPr>
              <a:t>Precision</a:t>
            </a:r>
            <a:endParaRPr lang="en-US" sz="1000" dirty="0"/>
          </a:p>
        </p:txBody>
      </p:sp>
      <p:sp>
        <p:nvSpPr>
          <p:cNvPr id="18" name="Text 16"/>
          <p:cNvSpPr/>
          <p:nvPr/>
        </p:nvSpPr>
        <p:spPr>
          <a:xfrm>
            <a:off x="4663440" y="1783080"/>
            <a:ext cx="1920240" cy="228600"/>
          </a:xfrm>
          <a:prstGeom prst="rect">
            <a:avLst/>
          </a:prstGeom>
          <a:noFill/>
          <a:ln/>
        </p:spPr>
        <p:txBody>
          <a:bodyPr wrap="square" rtlCol="0" anchor="ctr"/>
          <a:lstStyle/>
          <a:p>
            <a:pPr marL="0" indent="0" algn="ctr">
              <a:buNone/>
            </a:pPr>
            <a:r>
              <a:rPr lang="en-US" sz="900" b="1" dirty="0">
                <a:solidFill>
                  <a:srgbClr val="28A745"/>
                </a:solidFill>
              </a:rPr>
              <a:t>×4.6 vs A</a:t>
            </a:r>
            <a:endParaRPr lang="en-US" sz="900" dirty="0"/>
          </a:p>
        </p:txBody>
      </p:sp>
      <p:sp>
        <p:nvSpPr>
          <p:cNvPr id="19" name="Shape 17"/>
          <p:cNvSpPr/>
          <p:nvPr/>
        </p:nvSpPr>
        <p:spPr>
          <a:xfrm>
            <a:off x="6766560" y="1005840"/>
            <a:ext cx="1920240" cy="10972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0" name="Shape 18"/>
          <p:cNvSpPr/>
          <p:nvPr/>
        </p:nvSpPr>
        <p:spPr>
          <a:xfrm>
            <a:off x="6766560" y="1005840"/>
            <a:ext cx="1920240" cy="54864"/>
          </a:xfrm>
          <a:prstGeom prst="rect">
            <a:avLst/>
          </a:prstGeom>
          <a:solidFill>
            <a:srgbClr val="28A745"/>
          </a:solidFill>
          <a:ln/>
        </p:spPr>
        <p:txBody>
          <a:bodyPr/>
          <a:lstStyle/>
          <a:p>
            <a:endParaRPr lang="fr-FR"/>
          </a:p>
        </p:txBody>
      </p:sp>
      <p:sp>
        <p:nvSpPr>
          <p:cNvPr id="21" name="Text 19"/>
          <p:cNvSpPr/>
          <p:nvPr/>
        </p:nvSpPr>
        <p:spPr>
          <a:xfrm>
            <a:off x="6766560" y="1097280"/>
            <a:ext cx="1920240" cy="457200"/>
          </a:xfrm>
          <a:prstGeom prst="rect">
            <a:avLst/>
          </a:prstGeom>
          <a:noFill/>
          <a:ln/>
        </p:spPr>
        <p:txBody>
          <a:bodyPr wrap="square" rtlCol="0" anchor="ctr"/>
          <a:lstStyle/>
          <a:p>
            <a:pPr marL="0" indent="0" algn="ctr">
              <a:buNone/>
            </a:pPr>
            <a:r>
              <a:rPr lang="en-US" sz="2200" b="1" dirty="0">
                <a:solidFill>
                  <a:srgbClr val="0D9488"/>
                </a:solidFill>
              </a:rPr>
              <a:t>0.4868</a:t>
            </a:r>
            <a:endParaRPr lang="en-US" sz="2200" dirty="0"/>
          </a:p>
        </p:txBody>
      </p:sp>
      <p:sp>
        <p:nvSpPr>
          <p:cNvPr id="22" name="Text 20"/>
          <p:cNvSpPr/>
          <p:nvPr/>
        </p:nvSpPr>
        <p:spPr>
          <a:xfrm>
            <a:off x="6766560" y="1554480"/>
            <a:ext cx="1920240" cy="228600"/>
          </a:xfrm>
          <a:prstGeom prst="rect">
            <a:avLst/>
          </a:prstGeom>
          <a:noFill/>
          <a:ln/>
        </p:spPr>
        <p:txBody>
          <a:bodyPr wrap="square" rtlCol="0" anchor="ctr"/>
          <a:lstStyle/>
          <a:p>
            <a:pPr marL="0" indent="0" algn="ctr">
              <a:buNone/>
            </a:pPr>
            <a:r>
              <a:rPr lang="en-US" sz="1000" dirty="0">
                <a:solidFill>
                  <a:srgbClr val="1E293B"/>
                </a:solidFill>
              </a:rPr>
              <a:t>F1-Score</a:t>
            </a:r>
            <a:endParaRPr lang="en-US" sz="1000" dirty="0"/>
          </a:p>
        </p:txBody>
      </p:sp>
      <p:sp>
        <p:nvSpPr>
          <p:cNvPr id="23" name="Text 21"/>
          <p:cNvSpPr/>
          <p:nvPr/>
        </p:nvSpPr>
        <p:spPr>
          <a:xfrm>
            <a:off x="6766560" y="1783080"/>
            <a:ext cx="1920240" cy="228600"/>
          </a:xfrm>
          <a:prstGeom prst="rect">
            <a:avLst/>
          </a:prstGeom>
          <a:noFill/>
          <a:ln/>
        </p:spPr>
        <p:txBody>
          <a:bodyPr wrap="square" rtlCol="0" anchor="ctr"/>
          <a:lstStyle/>
          <a:p>
            <a:pPr marL="0" indent="0" algn="ctr">
              <a:buNone/>
            </a:pPr>
            <a:r>
              <a:rPr lang="en-US" sz="900" b="1" dirty="0">
                <a:solidFill>
                  <a:srgbClr val="28A745"/>
                </a:solidFill>
              </a:rPr>
              <a:t>×3.5 vs A</a:t>
            </a:r>
            <a:endParaRPr lang="en-US" sz="900" dirty="0"/>
          </a:p>
        </p:txBody>
      </p:sp>
      <p:pic>
        <p:nvPicPr>
          <p:cNvPr id="24" name="Image 0" descr="/home/claude/img_confusion_matrix.png"/>
          <p:cNvPicPr>
            <a:picLocks noChangeAspect="1"/>
          </p:cNvPicPr>
          <p:nvPr/>
        </p:nvPicPr>
        <p:blipFill>
          <a:blip r:embed="rId3"/>
          <a:stretch>
            <a:fillRect/>
          </a:stretch>
        </p:blipFill>
        <p:spPr>
          <a:xfrm>
            <a:off x="274320" y="2286000"/>
            <a:ext cx="2926080" cy="2286000"/>
          </a:xfrm>
          <a:prstGeom prst="rect">
            <a:avLst/>
          </a:prstGeom>
        </p:spPr>
      </p:pic>
      <p:pic>
        <p:nvPicPr>
          <p:cNvPr id="25" name="Image 1" descr="/home/claude/img_fi_notebook.png"/>
          <p:cNvPicPr>
            <a:picLocks noChangeAspect="1"/>
          </p:cNvPicPr>
          <p:nvPr/>
        </p:nvPicPr>
        <p:blipFill>
          <a:blip r:embed="rId4"/>
          <a:stretch>
            <a:fillRect/>
          </a:stretch>
        </p:blipFill>
        <p:spPr>
          <a:xfrm>
            <a:off x="3383280" y="2286000"/>
            <a:ext cx="2926080" cy="2286000"/>
          </a:xfrm>
          <a:prstGeom prst="rect">
            <a:avLst/>
          </a:prstGeom>
        </p:spPr>
      </p:pic>
      <p:sp>
        <p:nvSpPr>
          <p:cNvPr id="26" name="Shape 22"/>
          <p:cNvSpPr/>
          <p:nvPr/>
        </p:nvSpPr>
        <p:spPr>
          <a:xfrm>
            <a:off x="6492240" y="2286000"/>
            <a:ext cx="2377440" cy="22860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7" name="Text 23"/>
          <p:cNvSpPr/>
          <p:nvPr/>
        </p:nvSpPr>
        <p:spPr>
          <a:xfrm>
            <a:off x="6583680" y="2377440"/>
            <a:ext cx="2194560" cy="2103120"/>
          </a:xfrm>
          <a:prstGeom prst="rect">
            <a:avLst/>
          </a:prstGeom>
          <a:noFill/>
          <a:ln/>
        </p:spPr>
        <p:txBody>
          <a:bodyPr wrap="square" rtlCol="0" anchor="ctr"/>
          <a:lstStyle/>
          <a:p>
            <a:pPr marL="0" indent="0">
              <a:buNone/>
            </a:pPr>
            <a:r>
              <a:rPr lang="en-US" sz="1100" b="1" dirty="0">
                <a:solidFill>
                  <a:srgbClr val="0D9488"/>
                </a:solidFill>
              </a:rPr>
              <a:t>Le plus opérationnel</a:t>
            </a:r>
            <a:endParaRPr lang="en-US" sz="1100" dirty="0"/>
          </a:p>
          <a:p>
            <a:pPr marL="0" indent="0">
              <a:buNone/>
            </a:pPr>
            <a:endParaRPr lang="en-US" sz="1100" dirty="0"/>
          </a:p>
          <a:p>
            <a:pPr marL="0" indent="0">
              <a:buNone/>
            </a:pPr>
            <a:r>
              <a:rPr lang="en-US" sz="900" dirty="0">
                <a:solidFill>
                  <a:srgbClr val="000000"/>
                </a:solidFill>
              </a:rPr>
              <a:t>Precision 35% (vs 7.6%) grâce à la cible élargie.</a:t>
            </a:r>
            <a:endParaRPr lang="en-US" sz="1100" dirty="0"/>
          </a:p>
          <a:p>
            <a:pPr marL="0" indent="0">
              <a:buNone/>
            </a:pPr>
            <a:endParaRPr lang="en-US" sz="1100" dirty="0"/>
          </a:p>
          <a:p>
            <a:pPr marL="0" indent="0">
              <a:buNone/>
            </a:pPr>
            <a:r>
              <a:rPr lang="en-US" sz="1000" b="1" dirty="0">
                <a:solidFill>
                  <a:srgbClr val="DC3545"/>
                </a:solidFill>
              </a:rPr>
              <a:t>is_vru = facteur n°1</a:t>
            </a:r>
            <a:endParaRPr lang="en-US" sz="1100" dirty="0"/>
          </a:p>
          <a:p>
            <a:pPr marL="0" indent="0">
              <a:buNone/>
            </a:pPr>
            <a:r>
              <a:rPr lang="en-US" sz="900" dirty="0">
                <a:solidFill>
                  <a:srgbClr val="000000"/>
                </a:solidFill>
              </a:rPr>
              <a:t>Score 0.32 — les VRU sont le signal le plus discriminant.</a:t>
            </a:r>
            <a:endParaRPr lang="en-US" sz="1100" dirty="0"/>
          </a:p>
          <a:p>
            <a:pPr marL="0" indent="0">
              <a:buNone/>
            </a:pPr>
            <a:endParaRPr lang="en-US" sz="1100" dirty="0"/>
          </a:p>
          <a:p>
            <a:pPr marL="0" indent="0">
              <a:buNone/>
            </a:pPr>
            <a:r>
              <a:rPr lang="en-US" sz="900" b="1" dirty="0">
                <a:solidFill>
                  <a:srgbClr val="1B3A5C"/>
                </a:solidFill>
              </a:rPr>
              <a:t>Exploitable pour un système d'alertes temps réel.</a:t>
            </a:r>
            <a:endParaRPr lang="en-US" sz="1100" dirty="0"/>
          </a:p>
        </p:txBody>
      </p:sp>
      <p:sp>
        <p:nvSpPr>
          <p:cNvPr id="28" name="Text 24"/>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29" name="Text 25"/>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12 / 20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Comparaison des Deux Modèles</a:t>
            </a:r>
            <a:endParaRPr lang="en-US" sz="28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14400" y="1005840"/>
          <a:ext cx="7315200" cy="1630680"/>
        </p:xfrm>
        <a:graphic>
          <a:graphicData uri="http://schemas.openxmlformats.org/drawingml/2006/table">
            <a:tbl>
              <a:tblPr/>
              <a:tblGrid>
                <a:gridCol w="228600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tblGrid>
              <a:tr h="0">
                <a:tc>
                  <a:txBody>
                    <a:bodyPr/>
                    <a:lstStyle/>
                    <a:p>
                      <a:pPr marL="0" indent="0">
                        <a:buNone/>
                      </a:pPr>
                      <a:r>
                        <a:rPr lang="en-US" sz="1100" b="1" dirty="0">
                          <a:solidFill>
                            <a:srgbClr val="FFFFFF"/>
                          </a:solidFill>
                        </a:rPr>
                        <a:t>Métrique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100" b="1" dirty="0">
                          <a:solidFill>
                            <a:srgbClr val="FFFFFF"/>
                          </a:solidFill>
                        </a:rPr>
                        <a:t>Modèle A (2005-2018)</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2E75B6"/>
                    </a:solidFill>
                  </a:tcPr>
                </a:tc>
                <a:tc>
                  <a:txBody>
                    <a:bodyPr/>
                    <a:lstStyle/>
                    <a:p>
                      <a:pPr marL="0" indent="0">
                        <a:buNone/>
                      </a:pPr>
                      <a:r>
                        <a:rPr lang="en-US" sz="1100" b="1" dirty="0">
                          <a:solidFill>
                            <a:srgbClr val="FFFFFF"/>
                          </a:solidFill>
                        </a:rPr>
                        <a:t>Modèle B (2019-2024)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0">
                <a:tc>
                  <a:txBody>
                    <a:bodyPr/>
                    <a:lstStyle/>
                    <a:p>
                      <a:pPr marL="0" indent="0" algn="ctr">
                        <a:buNone/>
                      </a:pPr>
                      <a:r>
                        <a:rPr lang="en-US" sz="1200" dirty="0">
                          <a:solidFill>
                            <a:srgbClr val="000000"/>
                          </a:solidFill>
                        </a:rPr>
                        <a:t>Cible</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Tué (2.7%)</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Grave (17.4%)</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200" dirty="0">
                          <a:solidFill>
                            <a:srgbClr val="000000"/>
                          </a:solidFill>
                        </a:rPr>
                        <a:t>AUC-ROC</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000000"/>
                          </a:solidFill>
                        </a:rPr>
                        <a:t>0.8388</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000000"/>
                          </a:solidFill>
                        </a:rPr>
                        <a:t>0.8164</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0">
                <a:tc>
                  <a:txBody>
                    <a:bodyPr/>
                    <a:lstStyle/>
                    <a:p>
                      <a:pPr marL="0" indent="0" algn="ctr">
                        <a:buNone/>
                      </a:pPr>
                      <a:r>
                        <a:rPr lang="en-US" sz="1200" dirty="0">
                          <a:solidFill>
                            <a:srgbClr val="000000"/>
                          </a:solidFill>
                        </a:rPr>
                        <a:t>Recall</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0.7874</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0.7873</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200" dirty="0">
                          <a:solidFill>
                            <a:srgbClr val="000000"/>
                          </a:solidFill>
                        </a:rPr>
                        <a:t>Precision</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000000"/>
                          </a:solidFill>
                        </a:rPr>
                        <a:t>0.0764</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tc>
                  <a:txBody>
                    <a:bodyPr/>
                    <a:lstStyle/>
                    <a:p>
                      <a:pPr marL="0" indent="0" algn="ctr">
                        <a:buNone/>
                      </a:pPr>
                      <a:r>
                        <a:rPr lang="en-US" sz="1200" dirty="0">
                          <a:solidFill>
                            <a:srgbClr val="000000"/>
                          </a:solidFill>
                        </a:rPr>
                        <a:t>0.3523</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0">
                <a:tc>
                  <a:txBody>
                    <a:bodyPr/>
                    <a:lstStyle/>
                    <a:p>
                      <a:pPr marL="0" indent="0" algn="ctr">
                        <a:buNone/>
                      </a:pPr>
                      <a:r>
                        <a:rPr lang="en-US" sz="1200" dirty="0">
                          <a:solidFill>
                            <a:srgbClr val="000000"/>
                          </a:solidFill>
                        </a:rPr>
                        <a:t>F1-Score</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0.1392</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00000"/>
                          </a:solidFill>
                        </a:rPr>
                        <a:t>0.4868</a:t>
                      </a:r>
                      <a:endParaRPr lang="en-US" sz="12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Shape 1"/>
          <p:cNvSpPr/>
          <p:nvPr/>
        </p:nvSpPr>
        <p:spPr>
          <a:xfrm>
            <a:off x="731520" y="3520440"/>
            <a:ext cx="320040" cy="320040"/>
          </a:xfrm>
          <a:prstGeom prst="ellipse">
            <a:avLst/>
          </a:prstGeom>
          <a:solidFill>
            <a:srgbClr val="0D9488"/>
          </a:solidFill>
          <a:ln/>
        </p:spPr>
        <p:txBody>
          <a:bodyPr/>
          <a:lstStyle/>
          <a:p>
            <a:endParaRPr lang="fr-FR"/>
          </a:p>
        </p:txBody>
      </p:sp>
      <p:sp>
        <p:nvSpPr>
          <p:cNvPr id="5" name="Text 2"/>
          <p:cNvSpPr/>
          <p:nvPr/>
        </p:nvSpPr>
        <p:spPr>
          <a:xfrm>
            <a:off x="731520" y="3520440"/>
            <a:ext cx="320040" cy="320040"/>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6" name="Text 3"/>
          <p:cNvSpPr/>
          <p:nvPr/>
        </p:nvSpPr>
        <p:spPr>
          <a:xfrm>
            <a:off x="1188720" y="3474720"/>
            <a:ext cx="7315200" cy="365760"/>
          </a:xfrm>
          <a:prstGeom prst="rect">
            <a:avLst/>
          </a:prstGeom>
          <a:noFill/>
          <a:ln/>
        </p:spPr>
        <p:txBody>
          <a:bodyPr wrap="square" rtlCol="0" anchor="ctr"/>
          <a:lstStyle/>
          <a:p>
            <a:pPr marL="0" indent="0">
              <a:buNone/>
            </a:pPr>
            <a:r>
              <a:rPr lang="en-US" sz="1200" dirty="0">
                <a:solidFill>
                  <a:srgbClr val="1E293B"/>
                </a:solidFill>
              </a:rPr>
              <a:t>Recall ~79% convergent → robustesse de l'approche validée</a:t>
            </a:r>
            <a:endParaRPr lang="en-US" sz="1200" dirty="0"/>
          </a:p>
        </p:txBody>
      </p:sp>
      <p:sp>
        <p:nvSpPr>
          <p:cNvPr id="7" name="Shape 4"/>
          <p:cNvSpPr/>
          <p:nvPr/>
        </p:nvSpPr>
        <p:spPr>
          <a:xfrm>
            <a:off x="731520" y="3977640"/>
            <a:ext cx="320040" cy="320040"/>
          </a:xfrm>
          <a:prstGeom prst="ellipse">
            <a:avLst/>
          </a:prstGeom>
          <a:solidFill>
            <a:srgbClr val="0D9488"/>
          </a:solidFill>
          <a:ln/>
        </p:spPr>
        <p:txBody>
          <a:bodyPr/>
          <a:lstStyle/>
          <a:p>
            <a:endParaRPr lang="fr-FR"/>
          </a:p>
        </p:txBody>
      </p:sp>
      <p:sp>
        <p:nvSpPr>
          <p:cNvPr id="8" name="Text 5"/>
          <p:cNvSpPr/>
          <p:nvPr/>
        </p:nvSpPr>
        <p:spPr>
          <a:xfrm>
            <a:off x="731520" y="3977640"/>
            <a:ext cx="320040" cy="320040"/>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9" name="Text 6"/>
          <p:cNvSpPr/>
          <p:nvPr/>
        </p:nvSpPr>
        <p:spPr>
          <a:xfrm>
            <a:off x="1188720" y="3931920"/>
            <a:ext cx="7315200" cy="365760"/>
          </a:xfrm>
          <a:prstGeom prst="rect">
            <a:avLst/>
          </a:prstGeom>
          <a:noFill/>
          <a:ln/>
        </p:spPr>
        <p:txBody>
          <a:bodyPr wrap="square" rtlCol="0" anchor="ctr"/>
          <a:lstStyle/>
          <a:p>
            <a:pPr marL="0" indent="0">
              <a:buNone/>
            </a:pPr>
            <a:r>
              <a:rPr lang="en-US" sz="1200" dirty="0">
                <a:solidFill>
                  <a:srgbClr val="1E293B"/>
                </a:solidFill>
              </a:rPr>
              <a:t>Facteurs de risque dominants stables entre les deux périodes → structurels</a:t>
            </a:r>
            <a:endParaRPr lang="en-US" sz="1200" dirty="0"/>
          </a:p>
        </p:txBody>
      </p:sp>
      <p:sp>
        <p:nvSpPr>
          <p:cNvPr id="10" name="Shape 7"/>
          <p:cNvSpPr/>
          <p:nvPr/>
        </p:nvSpPr>
        <p:spPr>
          <a:xfrm>
            <a:off x="731520" y="4434840"/>
            <a:ext cx="320040" cy="320040"/>
          </a:xfrm>
          <a:prstGeom prst="ellipse">
            <a:avLst/>
          </a:prstGeom>
          <a:solidFill>
            <a:srgbClr val="0D9488"/>
          </a:solidFill>
          <a:ln/>
        </p:spPr>
        <p:txBody>
          <a:bodyPr/>
          <a:lstStyle/>
          <a:p>
            <a:endParaRPr lang="fr-FR"/>
          </a:p>
        </p:txBody>
      </p:sp>
      <p:sp>
        <p:nvSpPr>
          <p:cNvPr id="11" name="Text 8"/>
          <p:cNvSpPr/>
          <p:nvPr/>
        </p:nvSpPr>
        <p:spPr>
          <a:xfrm>
            <a:off x="731520" y="4434840"/>
            <a:ext cx="320040" cy="320040"/>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12" name="Text 9"/>
          <p:cNvSpPr/>
          <p:nvPr/>
        </p:nvSpPr>
        <p:spPr>
          <a:xfrm>
            <a:off x="1188720" y="4389120"/>
            <a:ext cx="7315200" cy="365760"/>
          </a:xfrm>
          <a:prstGeom prst="rect">
            <a:avLst/>
          </a:prstGeom>
          <a:noFill/>
          <a:ln/>
        </p:spPr>
        <p:txBody>
          <a:bodyPr wrap="square" rtlCol="0" anchor="ctr"/>
          <a:lstStyle/>
          <a:p>
            <a:pPr marL="0" indent="0">
              <a:buNone/>
            </a:pPr>
            <a:r>
              <a:rPr lang="en-US" sz="1200" dirty="0">
                <a:solidFill>
                  <a:srgbClr val="1E293B"/>
                </a:solidFill>
              </a:rPr>
              <a:t>Cible Grave du Modèle B plus exploitable (Precision ×4.6)</a:t>
            </a:r>
            <a:endParaRPr lang="en-US" sz="1200" dirty="0"/>
          </a:p>
        </p:txBody>
      </p:sp>
      <p:sp>
        <p:nvSpPr>
          <p:cNvPr id="13" name="Text 10"/>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3" name="Text 11"/>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13 / 20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457200"/>
          </a:xfrm>
          <a:prstGeom prst="rect">
            <a:avLst/>
          </a:prstGeom>
          <a:noFill/>
          <a:ln/>
        </p:spPr>
        <p:txBody>
          <a:bodyPr wrap="square" rtlCol="0" anchor="ctr"/>
          <a:lstStyle/>
          <a:p>
            <a:pPr marL="0" indent="0">
              <a:buNone/>
            </a:pPr>
            <a:r>
              <a:rPr lang="en-US" sz="2400" b="1" dirty="0">
                <a:solidFill>
                  <a:srgbClr val="1B3A5C"/>
                </a:solidFill>
                <a:latin typeface="Trebuchet MS" pitchFamily="34" charset="0"/>
                <a:ea typeface="Trebuchet MS" pitchFamily="34" charset="-122"/>
                <a:cs typeface="Trebuchet MS" pitchFamily="34" charset="-120"/>
              </a:rPr>
              <a:t>Dashboard Power BI — Outil de Pilotage Décisionnel</a:t>
            </a:r>
            <a:endParaRPr lang="en-US" sz="2400" dirty="0"/>
          </a:p>
        </p:txBody>
      </p:sp>
      <p:pic>
        <p:nvPicPr>
          <p:cNvPr id="3" name="Image 0" descr="/home/claude/img_pbi_vue_generale.png"/>
          <p:cNvPicPr>
            <a:picLocks noChangeAspect="1"/>
          </p:cNvPicPr>
          <p:nvPr/>
        </p:nvPicPr>
        <p:blipFill>
          <a:blip r:embed="rId3"/>
          <a:stretch>
            <a:fillRect/>
          </a:stretch>
        </p:blipFill>
        <p:spPr>
          <a:xfrm>
            <a:off x="274320" y="822960"/>
            <a:ext cx="4206240" cy="2011680"/>
          </a:xfrm>
          <a:prstGeom prst="rect">
            <a:avLst/>
          </a:prstGeom>
        </p:spPr>
      </p:pic>
      <p:sp>
        <p:nvSpPr>
          <p:cNvPr id="4" name="Text 1"/>
          <p:cNvSpPr/>
          <p:nvPr/>
        </p:nvSpPr>
        <p:spPr>
          <a:xfrm>
            <a:off x="274320" y="2834640"/>
            <a:ext cx="4206240" cy="228600"/>
          </a:xfrm>
          <a:prstGeom prst="rect">
            <a:avLst/>
          </a:prstGeom>
          <a:noFill/>
          <a:ln/>
        </p:spPr>
        <p:txBody>
          <a:bodyPr wrap="square" rtlCol="0" anchor="ctr"/>
          <a:lstStyle/>
          <a:p>
            <a:pPr marL="0" indent="0" algn="ctr">
              <a:buNone/>
            </a:pPr>
            <a:r>
              <a:rPr lang="en-US" sz="900" b="1" dirty="0">
                <a:solidFill>
                  <a:srgbClr val="1B3A5C"/>
                </a:solidFill>
              </a:rPr>
              <a:t>Page 1 — Vue Générale &amp; KPIs</a:t>
            </a:r>
            <a:endParaRPr lang="en-US" sz="900" dirty="0"/>
          </a:p>
        </p:txBody>
      </p:sp>
      <p:pic>
        <p:nvPicPr>
          <p:cNvPr id="5" name="Image 1" descr="/home/claude/img_pbi_historique.png"/>
          <p:cNvPicPr>
            <a:picLocks noChangeAspect="1"/>
          </p:cNvPicPr>
          <p:nvPr/>
        </p:nvPicPr>
        <p:blipFill>
          <a:blip r:embed="rId4"/>
          <a:stretch>
            <a:fillRect/>
          </a:stretch>
        </p:blipFill>
        <p:spPr>
          <a:xfrm>
            <a:off x="4663440" y="822960"/>
            <a:ext cx="4206240" cy="2011680"/>
          </a:xfrm>
          <a:prstGeom prst="rect">
            <a:avLst/>
          </a:prstGeom>
        </p:spPr>
      </p:pic>
      <p:sp>
        <p:nvSpPr>
          <p:cNvPr id="6" name="Text 2"/>
          <p:cNvSpPr/>
          <p:nvPr/>
        </p:nvSpPr>
        <p:spPr>
          <a:xfrm>
            <a:off x="4663440" y="2834640"/>
            <a:ext cx="4206240" cy="228600"/>
          </a:xfrm>
          <a:prstGeom prst="rect">
            <a:avLst/>
          </a:prstGeom>
          <a:noFill/>
          <a:ln/>
        </p:spPr>
        <p:txBody>
          <a:bodyPr wrap="square" rtlCol="0" anchor="ctr"/>
          <a:lstStyle/>
          <a:p>
            <a:pPr marL="0" indent="0" algn="ctr">
              <a:buNone/>
            </a:pPr>
            <a:r>
              <a:rPr lang="en-US" sz="900" b="1" dirty="0">
                <a:solidFill>
                  <a:srgbClr val="1B3A5C"/>
                </a:solidFill>
              </a:rPr>
              <a:t>Page 2 — Analyse Historique (2005-2018)</a:t>
            </a:r>
            <a:endParaRPr lang="en-US" sz="900" dirty="0"/>
          </a:p>
        </p:txBody>
      </p:sp>
      <p:pic>
        <p:nvPicPr>
          <p:cNvPr id="7" name="Image 2" descr="/home/claude/img_carte_choroplethe.png"/>
          <p:cNvPicPr>
            <a:picLocks noChangeAspect="1"/>
          </p:cNvPicPr>
          <p:nvPr/>
        </p:nvPicPr>
        <p:blipFill>
          <a:blip r:embed="rId5"/>
          <a:stretch>
            <a:fillRect/>
          </a:stretch>
        </p:blipFill>
        <p:spPr>
          <a:xfrm>
            <a:off x="274320" y="3154680"/>
            <a:ext cx="2743200" cy="1463040"/>
          </a:xfrm>
          <a:prstGeom prst="rect">
            <a:avLst/>
          </a:prstGeom>
        </p:spPr>
      </p:pic>
      <p:sp>
        <p:nvSpPr>
          <p:cNvPr id="8" name="Text 3"/>
          <p:cNvSpPr/>
          <p:nvPr/>
        </p:nvSpPr>
        <p:spPr>
          <a:xfrm>
            <a:off x="274320" y="4617720"/>
            <a:ext cx="2743200" cy="182880"/>
          </a:xfrm>
          <a:prstGeom prst="rect">
            <a:avLst/>
          </a:prstGeom>
          <a:noFill/>
          <a:ln/>
        </p:spPr>
        <p:txBody>
          <a:bodyPr wrap="square" rtlCol="0" anchor="ctr"/>
          <a:lstStyle/>
          <a:p>
            <a:pPr marL="0" indent="0" algn="ctr">
              <a:buNone/>
            </a:pPr>
            <a:r>
              <a:rPr lang="en-US" sz="800" dirty="0">
                <a:solidFill>
                  <a:srgbClr val="1B3A5C"/>
                </a:solidFill>
              </a:rPr>
              <a:t>Carte Choroplèthe</a:t>
            </a:r>
            <a:endParaRPr lang="en-US" sz="800" dirty="0"/>
          </a:p>
        </p:txBody>
      </p:sp>
      <p:sp>
        <p:nvSpPr>
          <p:cNvPr id="9" name="Shape 4"/>
          <p:cNvSpPr/>
          <p:nvPr/>
        </p:nvSpPr>
        <p:spPr>
          <a:xfrm>
            <a:off x="3200400" y="3154680"/>
            <a:ext cx="5669280" cy="146304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0" name="Text 5"/>
          <p:cNvSpPr/>
          <p:nvPr/>
        </p:nvSpPr>
        <p:spPr>
          <a:xfrm>
            <a:off x="3383280" y="3200400"/>
            <a:ext cx="5303520" cy="1371600"/>
          </a:xfrm>
          <a:prstGeom prst="rect">
            <a:avLst/>
          </a:prstGeom>
          <a:noFill/>
          <a:ln/>
        </p:spPr>
        <p:txBody>
          <a:bodyPr wrap="square" rtlCol="0" anchor="ctr"/>
          <a:lstStyle/>
          <a:p>
            <a:pPr marL="0" indent="0">
              <a:buNone/>
            </a:pPr>
            <a:r>
              <a:rPr lang="en-US" sz="1200" b="1" dirty="0">
                <a:solidFill>
                  <a:srgbClr val="1B3A5C"/>
                </a:solidFill>
              </a:rPr>
              <a:t>Un véritable outil de pilotage décisionnel</a:t>
            </a:r>
            <a:endParaRPr lang="en-US" sz="1200" dirty="0"/>
          </a:p>
          <a:p>
            <a:pPr marL="0" indent="0">
              <a:buNone/>
            </a:pPr>
            <a:endParaRPr lang="en-US" sz="1200" dirty="0"/>
          </a:p>
          <a:p>
            <a:pPr marL="0" indent="0">
              <a:buNone/>
            </a:pPr>
            <a:r>
              <a:rPr lang="en-US" sz="1000" dirty="0">
                <a:solidFill>
                  <a:srgbClr val="000000"/>
                </a:solidFill>
              </a:rPr>
              <a:t>5 pages interactives : Vue Générale, Historique, Profils à Risque, Mobilité Urbaine, Modèles ML &amp; Stratégie</a:t>
            </a:r>
            <a:endParaRPr lang="en-US" sz="1200" dirty="0"/>
          </a:p>
          <a:p>
            <a:pPr marL="0" indent="0">
              <a:buNone/>
            </a:pPr>
            <a:endParaRPr lang="en-US" sz="1200" dirty="0"/>
          </a:p>
          <a:p>
            <a:pPr marL="0" indent="0">
              <a:buNone/>
            </a:pPr>
            <a:r>
              <a:rPr lang="en-US" sz="900" dirty="0">
                <a:solidFill>
                  <a:srgbClr val="64748B"/>
                </a:solidFill>
              </a:rPr>
              <a:t>Fonctionnalités : Slicers dynamiques | Drill-through | Carte choroplèthe | Conditional formatting | Navigation</a:t>
            </a:r>
            <a:endParaRPr lang="en-US" sz="1200" dirty="0"/>
          </a:p>
          <a:p>
            <a:pPr marL="0" indent="0">
              <a:buNone/>
            </a:pPr>
            <a:endParaRPr lang="en-US" sz="1200" dirty="0"/>
          </a:p>
          <a:p>
            <a:pPr marL="0" indent="0">
              <a:buNone/>
            </a:pPr>
            <a:r>
              <a:rPr lang="en-US" sz="1000" b="1" dirty="0">
                <a:solidFill>
                  <a:srgbClr val="0D9488"/>
                </a:solidFill>
              </a:rPr>
              <a:t>Permet d'ajuster les alertes de sécurité en temps réel (ex: Focus Seniors Page 3, Focus Mobilité Page 4).</a:t>
            </a:r>
            <a:endParaRPr lang="en-US" sz="1200" dirty="0"/>
          </a:p>
        </p:txBody>
      </p:sp>
      <p:sp>
        <p:nvSpPr>
          <p:cNvPr id="11" name="Text 6"/>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12" name="Text 7"/>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14 / 20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Synthèse : 5 Facteurs de Risque Identifiés</a:t>
            </a:r>
            <a:endParaRPr lang="en-US" sz="2600" dirty="0"/>
          </a:p>
        </p:txBody>
      </p:sp>
      <p:sp>
        <p:nvSpPr>
          <p:cNvPr id="3" name="Text 1"/>
          <p:cNvSpPr/>
          <p:nvPr/>
        </p:nvSpPr>
        <p:spPr>
          <a:xfrm>
            <a:off x="457200" y="777240"/>
            <a:ext cx="8229600" cy="228600"/>
          </a:xfrm>
          <a:prstGeom prst="rect">
            <a:avLst/>
          </a:prstGeom>
          <a:noFill/>
          <a:ln/>
        </p:spPr>
        <p:txBody>
          <a:bodyPr wrap="square" rtlCol="0" anchor="ctr"/>
          <a:lstStyle/>
          <a:p>
            <a:pPr marL="0" indent="0">
              <a:buNone/>
            </a:pPr>
            <a:r>
              <a:rPr lang="en-US" sz="1100" i="1" dirty="0">
                <a:solidFill>
                  <a:srgbClr val="64748B"/>
                </a:solidFill>
              </a:rPr>
              <a:t>Confirmés par le Machine Learning ET l'Analyse Exploratoire</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2240438117"/>
              </p:ext>
            </p:extLst>
          </p:nvPr>
        </p:nvGraphicFramePr>
        <p:xfrm>
          <a:off x="457200" y="1097280"/>
          <a:ext cx="8229600" cy="1539240"/>
        </p:xfrm>
        <a:graphic>
          <a:graphicData uri="http://schemas.openxmlformats.org/drawingml/2006/table">
            <a:tbl>
              <a:tblPr/>
              <a:tblGrid>
                <a:gridCol w="4572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0">
                <a:tc>
                  <a:txBody>
                    <a:bodyPr/>
                    <a:lstStyle/>
                    <a:p>
                      <a:pPr marL="0" indent="0" algn="ctr">
                        <a:buNone/>
                      </a:pPr>
                      <a:r>
                        <a:rPr lang="en-US" sz="1000" b="1" dirty="0">
                          <a:solidFill>
                            <a:srgbClr val="FFFFFF"/>
                          </a:solidFill>
                        </a:rPr>
                        <a:t>#</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Facteur</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Signal Data</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tc>
                  <a:txBody>
                    <a:bodyPr/>
                    <a:lstStyle/>
                    <a:p>
                      <a:pPr marL="0" indent="0">
                        <a:buNone/>
                      </a:pPr>
                      <a:r>
                        <a:rPr lang="en-US" sz="1000" b="1" dirty="0">
                          <a:solidFill>
                            <a:srgbClr val="FFFFFF"/>
                          </a:solidFill>
                        </a:rPr>
                        <a:t>Recommandation</a:t>
                      </a:r>
                      <a:endParaRPr lang="en-US" sz="10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0">
                <a:tc>
                  <a:txBody>
                    <a:bodyPr/>
                    <a:lstStyle/>
                    <a:p>
                      <a:pPr marL="0" indent="0" algn="ctr">
                        <a:buNone/>
                      </a:pPr>
                      <a:r>
                        <a:rPr lang="en-US" sz="1100" b="1" dirty="0">
                          <a:solidFill>
                            <a:srgbClr val="DC3545"/>
                          </a:solidFill>
                        </a:rPr>
                        <a:t>1</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Nuit sans éclairage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DC3545"/>
                          </a:solidFill>
                        </a:rPr>
                        <a:t>Gravité 28.1% (vs 12.7%)</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64748B"/>
                          </a:solidFill>
                        </a:rPr>
                        <a:t>Alertes tronçons non éclairés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lgn="ctr">
                        <a:buNone/>
                      </a:pPr>
                      <a:r>
                        <a:rPr lang="en-US" sz="1100" b="1" dirty="0">
                          <a:solidFill>
                            <a:srgbClr val="E67E22"/>
                          </a:solidFill>
                        </a:rPr>
                        <a:t>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Hors agglomération</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E67E22"/>
                          </a:solidFill>
                        </a:rPr>
                        <a:t>Gravité ×2</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64748B"/>
                          </a:solidFill>
                        </a:rPr>
                        <a:t>Itinéraires sécurisés après 22h</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lgn="ctr">
                        <a:buNone/>
                      </a:pPr>
                      <a:r>
                        <a:rPr lang="en-US" sz="1100" b="1" dirty="0">
                          <a:solidFill>
                            <a:srgbClr val="2E75B6"/>
                          </a:solidFill>
                        </a:rPr>
                        <a:t>3</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Usager vulnérable (VRU)</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2E75B6"/>
                          </a:solidFill>
                        </a:rPr>
                        <a:t>30 %, gravité +40-60%</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64748B"/>
                          </a:solidFill>
                        </a:rPr>
                        <a:t>Coaching, voies dédiées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lgn="ctr">
                        <a:buNone/>
                      </a:pPr>
                      <a:r>
                        <a:rPr lang="en-US" sz="1100" b="1" dirty="0">
                          <a:solidFill>
                            <a:srgbClr val="0D9488"/>
                          </a:solidFill>
                        </a:rPr>
                        <a:t>4</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Seniors 65+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0D9488"/>
                          </a:solidFill>
                        </a:rPr>
                        <a:t>Gravité ×1.5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64748B"/>
                          </a:solidFill>
                        </a:rPr>
                        <a:t>ADAS renforcés, parcours adaptés</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lgn="ctr">
                        <a:buNone/>
                      </a:pPr>
                      <a:r>
                        <a:rPr lang="en-US" sz="1100" b="1" dirty="0">
                          <a:solidFill>
                            <a:srgbClr val="1B3A5C"/>
                          </a:solidFill>
                        </a:rPr>
                        <a:t>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b="1" dirty="0">
                          <a:solidFill>
                            <a:srgbClr val="1E293B"/>
                          </a:solidFill>
                        </a:rPr>
                        <a:t>Weekend nocturne</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1B3A5C"/>
                          </a:solidFill>
                        </a:rPr>
                        <a:t>Gravité ×1.5</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100" dirty="0">
                          <a:solidFill>
                            <a:srgbClr val="64748B"/>
                          </a:solidFill>
                        </a:rPr>
                        <a:t>Alertes vendredi/samedi soir</a:t>
                      </a:r>
                      <a:endParaRPr lang="en-US" sz="1100" dirty="0"/>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p:nvPr/>
        </p:nvSpPr>
        <p:spPr>
          <a:xfrm>
            <a:off x="457200" y="4114800"/>
            <a:ext cx="8229600" cy="320040"/>
          </a:xfrm>
          <a:prstGeom prst="rect">
            <a:avLst/>
          </a:prstGeom>
          <a:noFill/>
          <a:ln/>
        </p:spPr>
        <p:txBody>
          <a:bodyPr wrap="square" rtlCol="0" anchor="ctr"/>
          <a:lstStyle/>
          <a:p>
            <a:pPr marL="0" indent="0" algn="ctr">
              <a:buNone/>
            </a:pPr>
            <a:r>
              <a:rPr lang="en-US" sz="1200" b="1" i="1" dirty="0">
                <a:solidFill>
                  <a:srgbClr val="0D9488"/>
                </a:solidFill>
              </a:rPr>
              <a:t>5 facteurs structurels identifiés par le ML ET confirmés par l'EDA — stables sur 20 ans</a:t>
            </a:r>
            <a:endParaRPr lang="en-US" sz="1200" dirty="0"/>
          </a:p>
        </p:txBody>
      </p:sp>
      <p:sp>
        <p:nvSpPr>
          <p:cNvPr id="6" name="Text 3"/>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7" name="Text 4"/>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15 / 20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2400" b="1" dirty="0">
                <a:solidFill>
                  <a:srgbClr val="1B3A5C"/>
                </a:solidFill>
                <a:latin typeface="Trebuchet MS" pitchFamily="34" charset="0"/>
                <a:ea typeface="Trebuchet MS" pitchFamily="34" charset="-122"/>
                <a:cs typeface="Trebuchet MS" pitchFamily="34" charset="-120"/>
              </a:rPr>
              <a:t>5 Recommandations Smart City (ex : Circle Mobility)</a:t>
            </a:r>
            <a:endParaRPr lang="en-US" sz="2400" dirty="0"/>
          </a:p>
        </p:txBody>
      </p:sp>
      <p:sp>
        <p:nvSpPr>
          <p:cNvPr id="3" name="Shape 1"/>
          <p:cNvSpPr/>
          <p:nvPr/>
        </p:nvSpPr>
        <p:spPr>
          <a:xfrm>
            <a:off x="457200" y="91440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4" name="Shape 2"/>
          <p:cNvSpPr/>
          <p:nvPr/>
        </p:nvSpPr>
        <p:spPr>
          <a:xfrm>
            <a:off x="457200" y="914400"/>
            <a:ext cx="73152" cy="640080"/>
          </a:xfrm>
          <a:prstGeom prst="rect">
            <a:avLst/>
          </a:prstGeom>
          <a:solidFill>
            <a:srgbClr val="DC3545"/>
          </a:solidFill>
          <a:ln/>
        </p:spPr>
        <p:txBody>
          <a:bodyPr/>
          <a:lstStyle/>
          <a:p>
            <a:endParaRPr lang="fr-FR"/>
          </a:p>
        </p:txBody>
      </p:sp>
      <p:sp>
        <p:nvSpPr>
          <p:cNvPr id="5" name="Shape 3"/>
          <p:cNvSpPr/>
          <p:nvPr/>
        </p:nvSpPr>
        <p:spPr>
          <a:xfrm>
            <a:off x="685800" y="1024128"/>
            <a:ext cx="411480" cy="411480"/>
          </a:xfrm>
          <a:prstGeom prst="ellipse">
            <a:avLst/>
          </a:prstGeom>
          <a:solidFill>
            <a:srgbClr val="DC3545"/>
          </a:solidFill>
          <a:ln/>
        </p:spPr>
        <p:txBody>
          <a:bodyPr/>
          <a:lstStyle/>
          <a:p>
            <a:endParaRPr lang="fr-FR"/>
          </a:p>
        </p:txBody>
      </p:sp>
      <p:sp>
        <p:nvSpPr>
          <p:cNvPr id="6" name="Text 4"/>
          <p:cNvSpPr/>
          <p:nvPr/>
        </p:nvSpPr>
        <p:spPr>
          <a:xfrm>
            <a:off x="685800" y="1024128"/>
            <a:ext cx="411480" cy="41148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7" name="Text 5"/>
          <p:cNvSpPr/>
          <p:nvPr/>
        </p:nvSpPr>
        <p:spPr>
          <a:xfrm>
            <a:off x="1280160" y="914400"/>
            <a:ext cx="3200400" cy="640080"/>
          </a:xfrm>
          <a:prstGeom prst="rect">
            <a:avLst/>
          </a:prstGeom>
          <a:noFill/>
          <a:ln/>
        </p:spPr>
        <p:txBody>
          <a:bodyPr wrap="square" rtlCol="0" anchor="ctr"/>
          <a:lstStyle/>
          <a:p>
            <a:pPr marL="0" indent="0">
              <a:buNone/>
            </a:pPr>
            <a:r>
              <a:rPr lang="en-US" sz="1300" b="1" dirty="0">
                <a:solidFill>
                  <a:srgbClr val="1B3A5C"/>
                </a:solidFill>
              </a:rPr>
              <a:t>Alertes Géolocalisées</a:t>
            </a:r>
            <a:endParaRPr lang="en-US" sz="1300" dirty="0"/>
          </a:p>
        </p:txBody>
      </p:sp>
      <p:sp>
        <p:nvSpPr>
          <p:cNvPr id="8" name="Text 6"/>
          <p:cNvSpPr/>
          <p:nvPr/>
        </p:nvSpPr>
        <p:spPr>
          <a:xfrm>
            <a:off x="4572000" y="914400"/>
            <a:ext cx="2743200" cy="640080"/>
          </a:xfrm>
          <a:prstGeom prst="rect">
            <a:avLst/>
          </a:prstGeom>
          <a:noFill/>
          <a:ln/>
        </p:spPr>
        <p:txBody>
          <a:bodyPr wrap="square" rtlCol="0" anchor="ctr"/>
          <a:lstStyle/>
          <a:p>
            <a:pPr marL="0" indent="0">
              <a:buNone/>
            </a:pPr>
            <a:r>
              <a:rPr lang="en-US" sz="1100" dirty="0">
                <a:solidFill>
                  <a:srgbClr val="64748B"/>
                </a:solidFill>
              </a:rPr>
              <a:t>Réduction graves &gt;15%</a:t>
            </a:r>
            <a:endParaRPr lang="en-US" sz="1100" dirty="0"/>
          </a:p>
        </p:txBody>
      </p:sp>
      <p:sp>
        <p:nvSpPr>
          <p:cNvPr id="9" name="Text 7"/>
          <p:cNvSpPr/>
          <p:nvPr/>
        </p:nvSpPr>
        <p:spPr>
          <a:xfrm>
            <a:off x="7498080" y="1051560"/>
            <a:ext cx="1005840" cy="347472"/>
          </a:xfrm>
          <a:prstGeom prst="rect">
            <a:avLst/>
          </a:prstGeom>
          <a:solidFill>
            <a:srgbClr val="DC3545"/>
          </a:solidFill>
          <a:ln/>
        </p:spPr>
        <p:txBody>
          <a:bodyPr wrap="square" rtlCol="0" anchor="ctr"/>
          <a:lstStyle/>
          <a:p>
            <a:pPr marL="0" indent="0" algn="ctr">
              <a:buNone/>
            </a:pPr>
            <a:r>
              <a:rPr lang="en-US" sz="900" b="1" dirty="0">
                <a:solidFill>
                  <a:srgbClr val="FFFFFF"/>
                </a:solidFill>
              </a:rPr>
              <a:t>HAUTE</a:t>
            </a:r>
            <a:endParaRPr lang="en-US" sz="900" dirty="0"/>
          </a:p>
        </p:txBody>
      </p:sp>
      <p:sp>
        <p:nvSpPr>
          <p:cNvPr id="10" name="Shape 8"/>
          <p:cNvSpPr/>
          <p:nvPr/>
        </p:nvSpPr>
        <p:spPr>
          <a:xfrm>
            <a:off x="457200" y="169164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1" name="Shape 9"/>
          <p:cNvSpPr/>
          <p:nvPr/>
        </p:nvSpPr>
        <p:spPr>
          <a:xfrm>
            <a:off x="457200" y="1691640"/>
            <a:ext cx="73152" cy="640080"/>
          </a:xfrm>
          <a:prstGeom prst="rect">
            <a:avLst/>
          </a:prstGeom>
          <a:solidFill>
            <a:srgbClr val="E67E22"/>
          </a:solidFill>
          <a:ln/>
        </p:spPr>
        <p:txBody>
          <a:bodyPr/>
          <a:lstStyle/>
          <a:p>
            <a:endParaRPr lang="fr-FR"/>
          </a:p>
        </p:txBody>
      </p:sp>
      <p:sp>
        <p:nvSpPr>
          <p:cNvPr id="12" name="Shape 10"/>
          <p:cNvSpPr/>
          <p:nvPr/>
        </p:nvSpPr>
        <p:spPr>
          <a:xfrm>
            <a:off x="685800" y="1801368"/>
            <a:ext cx="411480" cy="411480"/>
          </a:xfrm>
          <a:prstGeom prst="ellipse">
            <a:avLst/>
          </a:prstGeom>
          <a:solidFill>
            <a:srgbClr val="E67E22"/>
          </a:solidFill>
          <a:ln/>
        </p:spPr>
        <p:txBody>
          <a:bodyPr/>
          <a:lstStyle/>
          <a:p>
            <a:endParaRPr lang="fr-FR"/>
          </a:p>
        </p:txBody>
      </p:sp>
      <p:sp>
        <p:nvSpPr>
          <p:cNvPr id="13" name="Text 11"/>
          <p:cNvSpPr/>
          <p:nvPr/>
        </p:nvSpPr>
        <p:spPr>
          <a:xfrm>
            <a:off x="685800" y="1801368"/>
            <a:ext cx="411480" cy="41148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14" name="Text 12"/>
          <p:cNvSpPr/>
          <p:nvPr/>
        </p:nvSpPr>
        <p:spPr>
          <a:xfrm>
            <a:off x="1280160" y="1691640"/>
            <a:ext cx="3200400" cy="640080"/>
          </a:xfrm>
          <a:prstGeom prst="rect">
            <a:avLst/>
          </a:prstGeom>
          <a:noFill/>
          <a:ln/>
        </p:spPr>
        <p:txBody>
          <a:bodyPr wrap="square" rtlCol="0" anchor="ctr"/>
          <a:lstStyle/>
          <a:p>
            <a:pPr marL="0" indent="0">
              <a:buNone/>
            </a:pPr>
            <a:r>
              <a:rPr lang="en-US" sz="1300" b="1" dirty="0">
                <a:solidFill>
                  <a:srgbClr val="1B3A5C"/>
                </a:solidFill>
              </a:rPr>
              <a:t>Scoring Risque Itinéraire (API ML)</a:t>
            </a:r>
            <a:endParaRPr lang="en-US" sz="1300" dirty="0"/>
          </a:p>
        </p:txBody>
      </p:sp>
      <p:sp>
        <p:nvSpPr>
          <p:cNvPr id="15" name="Text 13"/>
          <p:cNvSpPr/>
          <p:nvPr/>
        </p:nvSpPr>
        <p:spPr>
          <a:xfrm>
            <a:off x="4572000" y="1691640"/>
            <a:ext cx="2743200" cy="640080"/>
          </a:xfrm>
          <a:prstGeom prst="rect">
            <a:avLst/>
          </a:prstGeom>
          <a:noFill/>
          <a:ln/>
        </p:spPr>
        <p:txBody>
          <a:bodyPr wrap="square" rtlCol="0" anchor="ctr"/>
          <a:lstStyle/>
          <a:p>
            <a:pPr marL="0" indent="0">
              <a:buNone/>
            </a:pPr>
            <a:r>
              <a:rPr lang="en-US" sz="1100" dirty="0">
                <a:solidFill>
                  <a:srgbClr val="64748B"/>
                </a:solidFill>
              </a:rPr>
              <a:t>Risk Score -20% / 6 mois</a:t>
            </a:r>
            <a:endParaRPr lang="en-US" sz="1100" dirty="0"/>
          </a:p>
        </p:txBody>
      </p:sp>
      <p:sp>
        <p:nvSpPr>
          <p:cNvPr id="16" name="Text 14"/>
          <p:cNvSpPr/>
          <p:nvPr/>
        </p:nvSpPr>
        <p:spPr>
          <a:xfrm>
            <a:off x="7498080" y="1828800"/>
            <a:ext cx="1005840" cy="347472"/>
          </a:xfrm>
          <a:prstGeom prst="rect">
            <a:avLst/>
          </a:prstGeom>
          <a:solidFill>
            <a:srgbClr val="DC3545"/>
          </a:solidFill>
          <a:ln/>
        </p:spPr>
        <p:txBody>
          <a:bodyPr wrap="square" rtlCol="0" anchor="ctr"/>
          <a:lstStyle/>
          <a:p>
            <a:pPr marL="0" indent="0" algn="ctr">
              <a:buNone/>
            </a:pPr>
            <a:r>
              <a:rPr lang="en-US" sz="900" b="1" dirty="0">
                <a:solidFill>
                  <a:srgbClr val="FFFFFF"/>
                </a:solidFill>
              </a:rPr>
              <a:t>HAUTE</a:t>
            </a:r>
            <a:endParaRPr lang="en-US" sz="900" dirty="0"/>
          </a:p>
        </p:txBody>
      </p:sp>
      <p:sp>
        <p:nvSpPr>
          <p:cNvPr id="17" name="Shape 15"/>
          <p:cNvSpPr/>
          <p:nvPr/>
        </p:nvSpPr>
        <p:spPr>
          <a:xfrm>
            <a:off x="457200" y="246888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8" name="Shape 16"/>
          <p:cNvSpPr/>
          <p:nvPr/>
        </p:nvSpPr>
        <p:spPr>
          <a:xfrm>
            <a:off x="457200" y="2468880"/>
            <a:ext cx="73152" cy="640080"/>
          </a:xfrm>
          <a:prstGeom prst="rect">
            <a:avLst/>
          </a:prstGeom>
          <a:solidFill>
            <a:srgbClr val="2E75B6"/>
          </a:solidFill>
          <a:ln/>
        </p:spPr>
        <p:txBody>
          <a:bodyPr/>
          <a:lstStyle/>
          <a:p>
            <a:endParaRPr lang="fr-FR"/>
          </a:p>
        </p:txBody>
      </p:sp>
      <p:sp>
        <p:nvSpPr>
          <p:cNvPr id="19" name="Shape 17"/>
          <p:cNvSpPr/>
          <p:nvPr/>
        </p:nvSpPr>
        <p:spPr>
          <a:xfrm>
            <a:off x="685800" y="2578608"/>
            <a:ext cx="411480" cy="411480"/>
          </a:xfrm>
          <a:prstGeom prst="ellipse">
            <a:avLst/>
          </a:prstGeom>
          <a:solidFill>
            <a:srgbClr val="2E75B6"/>
          </a:solidFill>
          <a:ln/>
        </p:spPr>
        <p:txBody>
          <a:bodyPr/>
          <a:lstStyle/>
          <a:p>
            <a:endParaRPr lang="fr-FR"/>
          </a:p>
        </p:txBody>
      </p:sp>
      <p:sp>
        <p:nvSpPr>
          <p:cNvPr id="20" name="Text 18"/>
          <p:cNvSpPr/>
          <p:nvPr/>
        </p:nvSpPr>
        <p:spPr>
          <a:xfrm>
            <a:off x="685800" y="2578608"/>
            <a:ext cx="411480" cy="41148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1" name="Text 19"/>
          <p:cNvSpPr/>
          <p:nvPr/>
        </p:nvSpPr>
        <p:spPr>
          <a:xfrm>
            <a:off x="1280160" y="2468880"/>
            <a:ext cx="3200400" cy="640080"/>
          </a:xfrm>
          <a:prstGeom prst="rect">
            <a:avLst/>
          </a:prstGeom>
          <a:noFill/>
          <a:ln/>
        </p:spPr>
        <p:txBody>
          <a:bodyPr wrap="square" rtlCol="0" anchor="ctr"/>
          <a:lstStyle/>
          <a:p>
            <a:pPr marL="0" indent="0">
              <a:buNone/>
            </a:pPr>
            <a:r>
              <a:rPr lang="en-US" sz="1300" b="1" dirty="0">
                <a:solidFill>
                  <a:srgbClr val="1B3A5C"/>
                </a:solidFill>
              </a:rPr>
              <a:t>Programme VRU</a:t>
            </a:r>
            <a:endParaRPr lang="en-US" sz="1300" dirty="0"/>
          </a:p>
        </p:txBody>
      </p:sp>
      <p:sp>
        <p:nvSpPr>
          <p:cNvPr id="22" name="Text 20"/>
          <p:cNvSpPr/>
          <p:nvPr/>
        </p:nvSpPr>
        <p:spPr>
          <a:xfrm>
            <a:off x="4572000" y="2468880"/>
            <a:ext cx="2743200" cy="640080"/>
          </a:xfrm>
          <a:prstGeom prst="rect">
            <a:avLst/>
          </a:prstGeom>
          <a:noFill/>
          <a:ln/>
        </p:spPr>
        <p:txBody>
          <a:bodyPr wrap="square" rtlCol="0" anchor="ctr"/>
          <a:lstStyle/>
          <a:p>
            <a:pPr marL="0" indent="0">
              <a:buNone/>
            </a:pPr>
            <a:r>
              <a:rPr lang="en-US" sz="1100" dirty="0">
                <a:solidFill>
                  <a:srgbClr val="64748B"/>
                </a:solidFill>
              </a:rPr>
              <a:t>Casque &gt;85%, graves -20%</a:t>
            </a:r>
            <a:endParaRPr lang="en-US" sz="1100" dirty="0"/>
          </a:p>
        </p:txBody>
      </p:sp>
      <p:sp>
        <p:nvSpPr>
          <p:cNvPr id="23" name="Text 21"/>
          <p:cNvSpPr/>
          <p:nvPr/>
        </p:nvSpPr>
        <p:spPr>
          <a:xfrm>
            <a:off x="7498080" y="2606040"/>
            <a:ext cx="1005840" cy="347472"/>
          </a:xfrm>
          <a:prstGeom prst="rect">
            <a:avLst/>
          </a:prstGeom>
          <a:solidFill>
            <a:srgbClr val="DC3545"/>
          </a:solidFill>
          <a:ln/>
        </p:spPr>
        <p:txBody>
          <a:bodyPr wrap="square" rtlCol="0" anchor="ctr"/>
          <a:lstStyle/>
          <a:p>
            <a:pPr marL="0" indent="0" algn="ctr">
              <a:buNone/>
            </a:pPr>
            <a:r>
              <a:rPr lang="en-US" sz="900" b="1" dirty="0">
                <a:solidFill>
                  <a:srgbClr val="FFFFFF"/>
                </a:solidFill>
              </a:rPr>
              <a:t>HAUTE</a:t>
            </a:r>
            <a:endParaRPr lang="en-US" sz="900" dirty="0"/>
          </a:p>
        </p:txBody>
      </p:sp>
      <p:sp>
        <p:nvSpPr>
          <p:cNvPr id="24" name="Shape 22"/>
          <p:cNvSpPr/>
          <p:nvPr/>
        </p:nvSpPr>
        <p:spPr>
          <a:xfrm>
            <a:off x="457200" y="324612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5" name="Shape 23"/>
          <p:cNvSpPr/>
          <p:nvPr/>
        </p:nvSpPr>
        <p:spPr>
          <a:xfrm>
            <a:off x="457200" y="3246120"/>
            <a:ext cx="73152" cy="640080"/>
          </a:xfrm>
          <a:prstGeom prst="rect">
            <a:avLst/>
          </a:prstGeom>
          <a:solidFill>
            <a:srgbClr val="0D9488"/>
          </a:solidFill>
          <a:ln/>
        </p:spPr>
        <p:txBody>
          <a:bodyPr/>
          <a:lstStyle/>
          <a:p>
            <a:endParaRPr lang="fr-FR"/>
          </a:p>
        </p:txBody>
      </p:sp>
      <p:sp>
        <p:nvSpPr>
          <p:cNvPr id="26" name="Shape 24"/>
          <p:cNvSpPr/>
          <p:nvPr/>
        </p:nvSpPr>
        <p:spPr>
          <a:xfrm>
            <a:off x="685800" y="3355848"/>
            <a:ext cx="411480" cy="411480"/>
          </a:xfrm>
          <a:prstGeom prst="ellipse">
            <a:avLst/>
          </a:prstGeom>
          <a:solidFill>
            <a:srgbClr val="0D9488"/>
          </a:solidFill>
          <a:ln/>
        </p:spPr>
        <p:txBody>
          <a:bodyPr/>
          <a:lstStyle/>
          <a:p>
            <a:endParaRPr lang="fr-FR"/>
          </a:p>
        </p:txBody>
      </p:sp>
      <p:sp>
        <p:nvSpPr>
          <p:cNvPr id="27" name="Text 25"/>
          <p:cNvSpPr/>
          <p:nvPr/>
        </p:nvSpPr>
        <p:spPr>
          <a:xfrm>
            <a:off x="685800" y="3355848"/>
            <a:ext cx="411480" cy="411480"/>
          </a:xfrm>
          <a:prstGeom prst="rect">
            <a:avLst/>
          </a:prstGeom>
          <a:noFill/>
          <a:ln/>
        </p:spPr>
        <p:txBody>
          <a:bodyPr wrap="square" rtlCol="0" anchor="ctr"/>
          <a:lstStyle/>
          <a:p>
            <a:pPr marL="0" indent="0" algn="ctr">
              <a:buNone/>
            </a:pPr>
            <a:r>
              <a:rPr lang="en-US" sz="1600" b="1" dirty="0">
                <a:solidFill>
                  <a:srgbClr val="FFFFFF"/>
                </a:solidFill>
              </a:rPr>
              <a:t>4</a:t>
            </a:r>
            <a:endParaRPr lang="en-US" sz="1600" dirty="0"/>
          </a:p>
        </p:txBody>
      </p:sp>
      <p:sp>
        <p:nvSpPr>
          <p:cNvPr id="28" name="Text 26"/>
          <p:cNvSpPr/>
          <p:nvPr/>
        </p:nvSpPr>
        <p:spPr>
          <a:xfrm>
            <a:off x="1280160" y="3246120"/>
            <a:ext cx="3200400" cy="640080"/>
          </a:xfrm>
          <a:prstGeom prst="rect">
            <a:avLst/>
          </a:prstGeom>
          <a:noFill/>
          <a:ln/>
        </p:spPr>
        <p:txBody>
          <a:bodyPr wrap="square" rtlCol="0" anchor="ctr"/>
          <a:lstStyle/>
          <a:p>
            <a:pPr marL="0" indent="0">
              <a:buNone/>
            </a:pPr>
            <a:r>
              <a:rPr lang="en-US" sz="1300" b="1" dirty="0">
                <a:solidFill>
                  <a:srgbClr val="1B3A5C"/>
                </a:solidFill>
              </a:rPr>
              <a:t>Mobilité Seniors 65+ (ADAS)</a:t>
            </a:r>
            <a:endParaRPr lang="en-US" sz="1300" dirty="0"/>
          </a:p>
        </p:txBody>
      </p:sp>
      <p:sp>
        <p:nvSpPr>
          <p:cNvPr id="29" name="Text 27"/>
          <p:cNvSpPr/>
          <p:nvPr/>
        </p:nvSpPr>
        <p:spPr>
          <a:xfrm>
            <a:off x="4572000" y="3246120"/>
            <a:ext cx="2743200" cy="640080"/>
          </a:xfrm>
          <a:prstGeom prst="rect">
            <a:avLst/>
          </a:prstGeom>
          <a:noFill/>
          <a:ln/>
        </p:spPr>
        <p:txBody>
          <a:bodyPr wrap="square" rtlCol="0" anchor="ctr"/>
          <a:lstStyle/>
          <a:p>
            <a:pPr marL="0" indent="0">
              <a:buNone/>
            </a:pPr>
            <a:r>
              <a:rPr lang="en-US" sz="1100" dirty="0">
                <a:solidFill>
                  <a:srgbClr val="64748B"/>
                </a:solidFill>
              </a:rPr>
              <a:t>NPS &gt;60, gravité -15%</a:t>
            </a:r>
            <a:endParaRPr lang="en-US" sz="1100" dirty="0"/>
          </a:p>
        </p:txBody>
      </p:sp>
      <p:sp>
        <p:nvSpPr>
          <p:cNvPr id="30" name="Text 28"/>
          <p:cNvSpPr/>
          <p:nvPr/>
        </p:nvSpPr>
        <p:spPr>
          <a:xfrm>
            <a:off x="7498080" y="3383280"/>
            <a:ext cx="1005840" cy="347472"/>
          </a:xfrm>
          <a:prstGeom prst="rect">
            <a:avLst/>
          </a:prstGeom>
          <a:solidFill>
            <a:srgbClr val="E67E22"/>
          </a:solidFill>
          <a:ln/>
        </p:spPr>
        <p:txBody>
          <a:bodyPr wrap="square" rtlCol="0" anchor="ctr"/>
          <a:lstStyle/>
          <a:p>
            <a:pPr marL="0" indent="0" algn="ctr">
              <a:buNone/>
            </a:pPr>
            <a:r>
              <a:rPr lang="en-US" sz="900" b="1" dirty="0">
                <a:solidFill>
                  <a:srgbClr val="FFFFFF"/>
                </a:solidFill>
              </a:rPr>
              <a:t>MOYENNE</a:t>
            </a:r>
            <a:endParaRPr lang="en-US" sz="900" dirty="0"/>
          </a:p>
        </p:txBody>
      </p:sp>
      <p:sp>
        <p:nvSpPr>
          <p:cNvPr id="31" name="Shape 29"/>
          <p:cNvSpPr/>
          <p:nvPr/>
        </p:nvSpPr>
        <p:spPr>
          <a:xfrm>
            <a:off x="457200" y="4023360"/>
            <a:ext cx="8229600" cy="64008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32" name="Shape 30"/>
          <p:cNvSpPr/>
          <p:nvPr/>
        </p:nvSpPr>
        <p:spPr>
          <a:xfrm>
            <a:off x="457200" y="4023360"/>
            <a:ext cx="73152" cy="640080"/>
          </a:xfrm>
          <a:prstGeom prst="rect">
            <a:avLst/>
          </a:prstGeom>
          <a:solidFill>
            <a:srgbClr val="1B3A5C"/>
          </a:solidFill>
          <a:ln/>
        </p:spPr>
        <p:txBody>
          <a:bodyPr/>
          <a:lstStyle/>
          <a:p>
            <a:endParaRPr lang="fr-FR"/>
          </a:p>
        </p:txBody>
      </p:sp>
      <p:sp>
        <p:nvSpPr>
          <p:cNvPr id="33" name="Shape 31"/>
          <p:cNvSpPr/>
          <p:nvPr/>
        </p:nvSpPr>
        <p:spPr>
          <a:xfrm>
            <a:off x="685800" y="4133088"/>
            <a:ext cx="411480" cy="411480"/>
          </a:xfrm>
          <a:prstGeom prst="ellipse">
            <a:avLst/>
          </a:prstGeom>
          <a:solidFill>
            <a:srgbClr val="1B3A5C"/>
          </a:solidFill>
          <a:ln/>
        </p:spPr>
        <p:txBody>
          <a:bodyPr/>
          <a:lstStyle/>
          <a:p>
            <a:endParaRPr lang="fr-FR"/>
          </a:p>
        </p:txBody>
      </p:sp>
      <p:sp>
        <p:nvSpPr>
          <p:cNvPr id="34" name="Text 32"/>
          <p:cNvSpPr/>
          <p:nvPr/>
        </p:nvSpPr>
        <p:spPr>
          <a:xfrm>
            <a:off x="685800" y="4133088"/>
            <a:ext cx="411480" cy="411480"/>
          </a:xfrm>
          <a:prstGeom prst="rect">
            <a:avLst/>
          </a:prstGeom>
          <a:noFill/>
          <a:ln/>
        </p:spPr>
        <p:txBody>
          <a:bodyPr wrap="square" rtlCol="0" anchor="ctr"/>
          <a:lstStyle/>
          <a:p>
            <a:pPr marL="0" indent="0" algn="ctr">
              <a:buNone/>
            </a:pPr>
            <a:r>
              <a:rPr lang="en-US" sz="1600" b="1" dirty="0">
                <a:solidFill>
                  <a:srgbClr val="FFFFFF"/>
                </a:solidFill>
              </a:rPr>
              <a:t>5</a:t>
            </a:r>
            <a:endParaRPr lang="en-US" sz="1600" dirty="0"/>
          </a:p>
        </p:txBody>
      </p:sp>
      <p:sp>
        <p:nvSpPr>
          <p:cNvPr id="35" name="Text 33"/>
          <p:cNvSpPr/>
          <p:nvPr/>
        </p:nvSpPr>
        <p:spPr>
          <a:xfrm>
            <a:off x="1280160" y="4023360"/>
            <a:ext cx="3200400" cy="640080"/>
          </a:xfrm>
          <a:prstGeom prst="rect">
            <a:avLst/>
          </a:prstGeom>
          <a:noFill/>
          <a:ln/>
        </p:spPr>
        <p:txBody>
          <a:bodyPr wrap="square" rtlCol="0" anchor="ctr"/>
          <a:lstStyle/>
          <a:p>
            <a:pPr marL="0" indent="0">
              <a:buNone/>
            </a:pPr>
            <a:r>
              <a:rPr lang="en-US" sz="1300" b="1" dirty="0">
                <a:solidFill>
                  <a:srgbClr val="1B3A5C"/>
                </a:solidFill>
              </a:rPr>
              <a:t>Dashboard Sécurité Temps Réel</a:t>
            </a:r>
            <a:endParaRPr lang="en-US" sz="1300" dirty="0"/>
          </a:p>
        </p:txBody>
      </p:sp>
      <p:sp>
        <p:nvSpPr>
          <p:cNvPr id="36" name="Text 34"/>
          <p:cNvSpPr/>
          <p:nvPr/>
        </p:nvSpPr>
        <p:spPr>
          <a:xfrm>
            <a:off x="4572000" y="4023360"/>
            <a:ext cx="2743200" cy="640080"/>
          </a:xfrm>
          <a:prstGeom prst="rect">
            <a:avLst/>
          </a:prstGeom>
          <a:noFill/>
          <a:ln/>
        </p:spPr>
        <p:txBody>
          <a:bodyPr wrap="square" rtlCol="0" anchor="ctr"/>
          <a:lstStyle/>
          <a:p>
            <a:pPr marL="0" indent="0">
              <a:buNone/>
            </a:pPr>
            <a:r>
              <a:rPr lang="en-US" sz="1100" dirty="0">
                <a:solidFill>
                  <a:srgbClr val="64748B"/>
                </a:solidFill>
              </a:rPr>
              <a:t>Couverture &gt;95%</a:t>
            </a:r>
            <a:endParaRPr lang="en-US" sz="1100" dirty="0"/>
          </a:p>
        </p:txBody>
      </p:sp>
      <p:sp>
        <p:nvSpPr>
          <p:cNvPr id="37" name="Text 35"/>
          <p:cNvSpPr/>
          <p:nvPr/>
        </p:nvSpPr>
        <p:spPr>
          <a:xfrm>
            <a:off x="7498080" y="4160520"/>
            <a:ext cx="1005840" cy="347472"/>
          </a:xfrm>
          <a:prstGeom prst="rect">
            <a:avLst/>
          </a:prstGeom>
          <a:solidFill>
            <a:srgbClr val="E67E22"/>
          </a:solidFill>
          <a:ln/>
        </p:spPr>
        <p:txBody>
          <a:bodyPr wrap="square" rtlCol="0" anchor="ctr"/>
          <a:lstStyle/>
          <a:p>
            <a:pPr marL="0" indent="0" algn="ctr">
              <a:buNone/>
            </a:pPr>
            <a:r>
              <a:rPr lang="en-US" sz="900" b="1" dirty="0">
                <a:solidFill>
                  <a:srgbClr val="FFFFFF"/>
                </a:solidFill>
              </a:rPr>
              <a:t>MOYENNE</a:t>
            </a:r>
            <a:endParaRPr lang="en-US" sz="900" dirty="0"/>
          </a:p>
        </p:txBody>
      </p:sp>
      <p:sp>
        <p:nvSpPr>
          <p:cNvPr id="38" name="Text 36"/>
          <p:cNvSpPr/>
          <p:nvPr/>
        </p:nvSpPr>
        <p:spPr>
          <a:xfrm>
            <a:off x="457200" y="4663440"/>
            <a:ext cx="8229600" cy="228600"/>
          </a:xfrm>
          <a:prstGeom prst="rect">
            <a:avLst/>
          </a:prstGeom>
          <a:noFill/>
          <a:ln/>
        </p:spPr>
        <p:txBody>
          <a:bodyPr wrap="square" rtlCol="0" anchor="ctr"/>
          <a:lstStyle/>
          <a:p>
            <a:pPr marL="0" indent="0" algn="ctr">
              <a:buNone/>
            </a:pPr>
            <a:r>
              <a:rPr lang="en-US" sz="1200" b="1" i="1" dirty="0">
                <a:solidFill>
                  <a:srgbClr val="0D9488"/>
                </a:solidFill>
              </a:rPr>
              <a:t>5 actions concrètes, mesurables, déployables</a:t>
            </a:r>
            <a:endParaRPr lang="en-US" sz="1200" dirty="0"/>
          </a:p>
        </p:txBody>
      </p:sp>
      <p:sp>
        <p:nvSpPr>
          <p:cNvPr id="39" name="Text 37"/>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40" name="Text 38"/>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16 / 20</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Plan d'Action Opérationnel</a:t>
            </a:r>
            <a:endParaRPr lang="en-US" sz="2800" dirty="0"/>
          </a:p>
        </p:txBody>
      </p:sp>
      <p:sp>
        <p:nvSpPr>
          <p:cNvPr id="3" name="Shape 1"/>
          <p:cNvSpPr/>
          <p:nvPr/>
        </p:nvSpPr>
        <p:spPr>
          <a:xfrm>
            <a:off x="274320" y="1097280"/>
            <a:ext cx="274320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4" name="Shape 2"/>
          <p:cNvSpPr/>
          <p:nvPr/>
        </p:nvSpPr>
        <p:spPr>
          <a:xfrm>
            <a:off x="274320" y="1097280"/>
            <a:ext cx="2743200" cy="54864"/>
          </a:xfrm>
          <a:prstGeom prst="rect">
            <a:avLst/>
          </a:prstGeom>
          <a:solidFill>
            <a:srgbClr val="28A745"/>
          </a:solidFill>
          <a:ln/>
        </p:spPr>
        <p:txBody>
          <a:bodyPr/>
          <a:lstStyle/>
          <a:p>
            <a:endParaRPr lang="fr-FR"/>
          </a:p>
        </p:txBody>
      </p:sp>
      <p:sp>
        <p:nvSpPr>
          <p:cNvPr id="5" name="Text 3"/>
          <p:cNvSpPr/>
          <p:nvPr/>
        </p:nvSpPr>
        <p:spPr>
          <a:xfrm>
            <a:off x="274320" y="1234440"/>
            <a:ext cx="2743200" cy="640080"/>
          </a:xfrm>
          <a:prstGeom prst="rect">
            <a:avLst/>
          </a:prstGeom>
          <a:noFill/>
          <a:ln/>
        </p:spPr>
        <p:txBody>
          <a:bodyPr wrap="square" rtlCol="0" anchor="ctr"/>
          <a:lstStyle/>
          <a:p>
            <a:pPr marL="0" indent="0" algn="ctr">
              <a:buNone/>
            </a:pPr>
            <a:r>
              <a:rPr lang="en-US" sz="1400" b="1" dirty="0">
                <a:solidFill>
                  <a:srgbClr val="28A745"/>
                </a:solidFill>
              </a:rPr>
              <a:t>Court terme</a:t>
            </a:r>
            <a:endParaRPr lang="en-US" sz="1400" dirty="0"/>
          </a:p>
          <a:p>
            <a:pPr marL="0" indent="0" algn="ctr">
              <a:buNone/>
            </a:pPr>
            <a:r>
              <a:rPr lang="en-US" sz="1400" b="1" dirty="0">
                <a:solidFill>
                  <a:srgbClr val="28A745"/>
                </a:solidFill>
              </a:rPr>
              <a:t>0-6 mois</a:t>
            </a:r>
            <a:endParaRPr lang="en-US" sz="1400" dirty="0"/>
          </a:p>
        </p:txBody>
      </p:sp>
      <p:sp>
        <p:nvSpPr>
          <p:cNvPr id="6" name="Text 4"/>
          <p:cNvSpPr/>
          <p:nvPr/>
        </p:nvSpPr>
        <p:spPr>
          <a:xfrm>
            <a:off x="457200" y="1965960"/>
            <a:ext cx="2377440" cy="274320"/>
          </a:xfrm>
          <a:prstGeom prst="rect">
            <a:avLst/>
          </a:prstGeom>
          <a:noFill/>
          <a:ln/>
        </p:spPr>
        <p:txBody>
          <a:bodyPr wrap="square" rtlCol="0" anchor="ctr"/>
          <a:lstStyle/>
          <a:p>
            <a:pPr marL="0" indent="0">
              <a:buNone/>
            </a:pPr>
            <a:r>
              <a:rPr lang="en-US" sz="1000" b="1" dirty="0">
                <a:solidFill>
                  <a:srgbClr val="1B3A5C"/>
                </a:solidFill>
              </a:rPr>
              <a:t>Actions :</a:t>
            </a:r>
            <a:endParaRPr lang="en-US" sz="1000" dirty="0"/>
          </a:p>
        </p:txBody>
      </p:sp>
      <p:sp>
        <p:nvSpPr>
          <p:cNvPr id="7" name="Text 5"/>
          <p:cNvSpPr/>
          <p:nvPr/>
        </p:nvSpPr>
        <p:spPr>
          <a:xfrm>
            <a:off x="457200" y="2240280"/>
            <a:ext cx="2377440" cy="1005840"/>
          </a:xfrm>
          <a:prstGeom prst="rect">
            <a:avLst/>
          </a:prstGeom>
          <a:noFill/>
          <a:ln/>
        </p:spPr>
        <p:txBody>
          <a:bodyPr wrap="square" rtlCol="0" anchor="ctr"/>
          <a:lstStyle/>
          <a:p>
            <a:pPr marL="0" indent="0">
              <a:buNone/>
            </a:pPr>
            <a:r>
              <a:rPr lang="en-US" sz="1000" dirty="0">
                <a:solidFill>
                  <a:srgbClr val="1E293B"/>
                </a:solidFill>
              </a:rPr>
              <a:t>Alertes géolocalisées</a:t>
            </a:r>
            <a:endParaRPr lang="en-US" sz="1000" dirty="0"/>
          </a:p>
          <a:p>
            <a:pPr marL="0" indent="0">
              <a:buNone/>
            </a:pPr>
            <a:r>
              <a:rPr lang="en-US" sz="1000" dirty="0">
                <a:solidFill>
                  <a:srgbClr val="1E293B"/>
                </a:solidFill>
              </a:rPr>
              <a:t>Sensibilisation VRU</a:t>
            </a:r>
            <a:endParaRPr lang="en-US" sz="1000" dirty="0"/>
          </a:p>
          <a:p>
            <a:pPr marL="0" indent="0">
              <a:buNone/>
            </a:pPr>
            <a:r>
              <a:rPr lang="en-US" sz="1000" dirty="0">
                <a:solidFill>
                  <a:srgbClr val="1E293B"/>
                </a:solidFill>
              </a:rPr>
              <a:t>Dashboard opérationnel</a:t>
            </a:r>
            <a:endParaRPr lang="en-US" sz="1000" dirty="0"/>
          </a:p>
        </p:txBody>
      </p:sp>
      <p:sp>
        <p:nvSpPr>
          <p:cNvPr id="8" name="Text 6"/>
          <p:cNvSpPr/>
          <p:nvPr/>
        </p:nvSpPr>
        <p:spPr>
          <a:xfrm>
            <a:off x="457200" y="3291840"/>
            <a:ext cx="2377440" cy="274320"/>
          </a:xfrm>
          <a:prstGeom prst="rect">
            <a:avLst/>
          </a:prstGeom>
          <a:noFill/>
          <a:ln/>
        </p:spPr>
        <p:txBody>
          <a:bodyPr wrap="square" rtlCol="0" anchor="ctr"/>
          <a:lstStyle/>
          <a:p>
            <a:pPr marL="0" indent="0">
              <a:buNone/>
            </a:pPr>
            <a:r>
              <a:rPr lang="en-US" sz="1000" b="1" dirty="0">
                <a:solidFill>
                  <a:srgbClr val="1B3A5C"/>
                </a:solidFill>
              </a:rPr>
              <a:t>KPIs :</a:t>
            </a:r>
            <a:endParaRPr lang="en-US" sz="1000" dirty="0"/>
          </a:p>
        </p:txBody>
      </p:sp>
      <p:sp>
        <p:nvSpPr>
          <p:cNvPr id="9" name="Text 7"/>
          <p:cNvSpPr/>
          <p:nvPr/>
        </p:nvSpPr>
        <p:spPr>
          <a:xfrm>
            <a:off x="457200" y="3566160"/>
            <a:ext cx="2377440" cy="640080"/>
          </a:xfrm>
          <a:prstGeom prst="rect">
            <a:avLst/>
          </a:prstGeom>
          <a:noFill/>
          <a:ln/>
        </p:spPr>
        <p:txBody>
          <a:bodyPr wrap="square" rtlCol="0" anchor="ctr"/>
          <a:lstStyle/>
          <a:p>
            <a:pPr marL="0" indent="0">
              <a:buNone/>
            </a:pPr>
            <a:r>
              <a:rPr lang="en-US" sz="1000" dirty="0">
                <a:solidFill>
                  <a:srgbClr val="0D9488"/>
                </a:solidFill>
              </a:rPr>
              <a:t>Taux adoption</a:t>
            </a:r>
            <a:endParaRPr lang="en-US" sz="1000" dirty="0"/>
          </a:p>
          <a:p>
            <a:pPr marL="0" indent="0">
              <a:buNone/>
            </a:pPr>
            <a:r>
              <a:rPr lang="en-US" sz="1000" dirty="0">
                <a:solidFill>
                  <a:srgbClr val="0D9488"/>
                </a:solidFill>
              </a:rPr>
              <a:t>Couverture alertes</a:t>
            </a:r>
            <a:endParaRPr lang="en-US" sz="1000" dirty="0"/>
          </a:p>
        </p:txBody>
      </p:sp>
      <p:sp>
        <p:nvSpPr>
          <p:cNvPr id="10" name="Text 8"/>
          <p:cNvSpPr/>
          <p:nvPr/>
        </p:nvSpPr>
        <p:spPr>
          <a:xfrm>
            <a:off x="2971800" y="2560320"/>
            <a:ext cx="274320" cy="457200"/>
          </a:xfrm>
          <a:prstGeom prst="rect">
            <a:avLst/>
          </a:prstGeom>
          <a:noFill/>
          <a:ln/>
        </p:spPr>
        <p:txBody>
          <a:bodyPr wrap="square" rtlCol="0" anchor="ctr"/>
          <a:lstStyle/>
          <a:p>
            <a:pPr marL="0" indent="0" algn="ctr">
              <a:buNone/>
            </a:pPr>
            <a:r>
              <a:rPr lang="en-US" sz="2400" dirty="0">
                <a:solidFill>
                  <a:srgbClr val="64748B"/>
                </a:solidFill>
              </a:rPr>
              <a:t>→</a:t>
            </a:r>
            <a:endParaRPr lang="en-US" sz="2400" dirty="0"/>
          </a:p>
        </p:txBody>
      </p:sp>
      <p:sp>
        <p:nvSpPr>
          <p:cNvPr id="11" name="Shape 9"/>
          <p:cNvSpPr/>
          <p:nvPr/>
        </p:nvSpPr>
        <p:spPr>
          <a:xfrm>
            <a:off x="3200400" y="1097280"/>
            <a:ext cx="274320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12" name="Shape 10"/>
          <p:cNvSpPr/>
          <p:nvPr/>
        </p:nvSpPr>
        <p:spPr>
          <a:xfrm>
            <a:off x="3200400" y="1097280"/>
            <a:ext cx="2743200" cy="54864"/>
          </a:xfrm>
          <a:prstGeom prst="rect">
            <a:avLst/>
          </a:prstGeom>
          <a:solidFill>
            <a:srgbClr val="2E75B6"/>
          </a:solidFill>
          <a:ln/>
        </p:spPr>
        <p:txBody>
          <a:bodyPr/>
          <a:lstStyle/>
          <a:p>
            <a:endParaRPr lang="fr-FR"/>
          </a:p>
        </p:txBody>
      </p:sp>
      <p:sp>
        <p:nvSpPr>
          <p:cNvPr id="13" name="Text 11"/>
          <p:cNvSpPr/>
          <p:nvPr/>
        </p:nvSpPr>
        <p:spPr>
          <a:xfrm>
            <a:off x="3200400" y="1234440"/>
            <a:ext cx="2743200" cy="640080"/>
          </a:xfrm>
          <a:prstGeom prst="rect">
            <a:avLst/>
          </a:prstGeom>
          <a:noFill/>
          <a:ln/>
        </p:spPr>
        <p:txBody>
          <a:bodyPr wrap="square" rtlCol="0" anchor="ctr"/>
          <a:lstStyle/>
          <a:p>
            <a:pPr marL="0" indent="0" algn="ctr">
              <a:buNone/>
            </a:pPr>
            <a:r>
              <a:rPr lang="en-US" sz="1400" b="1" dirty="0">
                <a:solidFill>
                  <a:srgbClr val="2E75B6"/>
                </a:solidFill>
              </a:rPr>
              <a:t>Moyen terme</a:t>
            </a:r>
            <a:endParaRPr lang="en-US" sz="1400" dirty="0"/>
          </a:p>
          <a:p>
            <a:pPr marL="0" indent="0" algn="ctr">
              <a:buNone/>
            </a:pPr>
            <a:r>
              <a:rPr lang="en-US" sz="1400" b="1" dirty="0">
                <a:solidFill>
                  <a:srgbClr val="2E75B6"/>
                </a:solidFill>
              </a:rPr>
              <a:t>6-18 mois</a:t>
            </a:r>
            <a:endParaRPr lang="en-US" sz="1400" dirty="0"/>
          </a:p>
        </p:txBody>
      </p:sp>
      <p:sp>
        <p:nvSpPr>
          <p:cNvPr id="14" name="Text 12"/>
          <p:cNvSpPr/>
          <p:nvPr/>
        </p:nvSpPr>
        <p:spPr>
          <a:xfrm>
            <a:off x="3383280" y="1965960"/>
            <a:ext cx="2377440" cy="274320"/>
          </a:xfrm>
          <a:prstGeom prst="rect">
            <a:avLst/>
          </a:prstGeom>
          <a:noFill/>
          <a:ln/>
        </p:spPr>
        <p:txBody>
          <a:bodyPr wrap="square" rtlCol="0" anchor="ctr"/>
          <a:lstStyle/>
          <a:p>
            <a:pPr marL="0" indent="0">
              <a:buNone/>
            </a:pPr>
            <a:r>
              <a:rPr lang="en-US" sz="1000" b="1" dirty="0">
                <a:solidFill>
                  <a:srgbClr val="1B3A5C"/>
                </a:solidFill>
              </a:rPr>
              <a:t>Actions :</a:t>
            </a:r>
            <a:endParaRPr lang="en-US" sz="1000" dirty="0"/>
          </a:p>
        </p:txBody>
      </p:sp>
      <p:sp>
        <p:nvSpPr>
          <p:cNvPr id="15" name="Text 13"/>
          <p:cNvSpPr/>
          <p:nvPr/>
        </p:nvSpPr>
        <p:spPr>
          <a:xfrm>
            <a:off x="3383280" y="2240280"/>
            <a:ext cx="2377440" cy="1005840"/>
          </a:xfrm>
          <a:prstGeom prst="rect">
            <a:avLst/>
          </a:prstGeom>
          <a:noFill/>
          <a:ln/>
        </p:spPr>
        <p:txBody>
          <a:bodyPr wrap="square" rtlCol="0" anchor="ctr"/>
          <a:lstStyle/>
          <a:p>
            <a:pPr marL="0" indent="0">
              <a:buNone/>
            </a:pPr>
            <a:r>
              <a:rPr lang="en-US" sz="1000" dirty="0">
                <a:solidFill>
                  <a:srgbClr val="1E293B"/>
                </a:solidFill>
              </a:rPr>
              <a:t>API scoring itinéraires</a:t>
            </a:r>
            <a:endParaRPr lang="en-US" sz="1000" dirty="0"/>
          </a:p>
          <a:p>
            <a:pPr marL="0" indent="0">
              <a:buNone/>
            </a:pPr>
            <a:r>
              <a:rPr lang="en-US" sz="1000" dirty="0">
                <a:solidFill>
                  <a:srgbClr val="1E293B"/>
                </a:solidFill>
              </a:rPr>
              <a:t>Infrastructure éclairage</a:t>
            </a:r>
            <a:endParaRPr lang="en-US" sz="1000" dirty="0"/>
          </a:p>
          <a:p>
            <a:pPr marL="0" indent="0">
              <a:buNone/>
            </a:pPr>
            <a:r>
              <a:rPr lang="en-US" sz="1000" dirty="0">
                <a:solidFill>
                  <a:srgbClr val="1E293B"/>
                </a:solidFill>
              </a:rPr>
              <a:t>Partenariats data</a:t>
            </a:r>
            <a:endParaRPr lang="en-US" sz="1000" dirty="0"/>
          </a:p>
        </p:txBody>
      </p:sp>
      <p:sp>
        <p:nvSpPr>
          <p:cNvPr id="16" name="Text 14"/>
          <p:cNvSpPr/>
          <p:nvPr/>
        </p:nvSpPr>
        <p:spPr>
          <a:xfrm>
            <a:off x="3383280" y="3291840"/>
            <a:ext cx="2377440" cy="274320"/>
          </a:xfrm>
          <a:prstGeom prst="rect">
            <a:avLst/>
          </a:prstGeom>
          <a:noFill/>
          <a:ln/>
        </p:spPr>
        <p:txBody>
          <a:bodyPr wrap="square" rtlCol="0" anchor="ctr"/>
          <a:lstStyle/>
          <a:p>
            <a:pPr marL="0" indent="0">
              <a:buNone/>
            </a:pPr>
            <a:r>
              <a:rPr lang="en-US" sz="1000" b="1" dirty="0">
                <a:solidFill>
                  <a:srgbClr val="1B3A5C"/>
                </a:solidFill>
              </a:rPr>
              <a:t>KPIs :</a:t>
            </a:r>
            <a:endParaRPr lang="en-US" sz="1000" dirty="0"/>
          </a:p>
        </p:txBody>
      </p:sp>
      <p:sp>
        <p:nvSpPr>
          <p:cNvPr id="17" name="Text 15"/>
          <p:cNvSpPr/>
          <p:nvPr/>
        </p:nvSpPr>
        <p:spPr>
          <a:xfrm>
            <a:off x="3383280" y="3566160"/>
            <a:ext cx="2377440" cy="640080"/>
          </a:xfrm>
          <a:prstGeom prst="rect">
            <a:avLst/>
          </a:prstGeom>
          <a:noFill/>
          <a:ln/>
        </p:spPr>
        <p:txBody>
          <a:bodyPr wrap="square" rtlCol="0" anchor="ctr"/>
          <a:lstStyle/>
          <a:p>
            <a:pPr marL="0" indent="0">
              <a:buNone/>
            </a:pPr>
            <a:r>
              <a:rPr lang="en-US" sz="1000" dirty="0">
                <a:solidFill>
                  <a:srgbClr val="0D9488"/>
                </a:solidFill>
              </a:rPr>
              <a:t>Réduction Risk Score</a:t>
            </a:r>
            <a:endParaRPr lang="en-US" sz="1000" dirty="0"/>
          </a:p>
          <a:p>
            <a:pPr marL="0" indent="0">
              <a:buNone/>
            </a:pPr>
            <a:r>
              <a:rPr lang="en-US" sz="1000" dirty="0">
                <a:solidFill>
                  <a:srgbClr val="0D9488"/>
                </a:solidFill>
              </a:rPr>
              <a:t>Zones équipées</a:t>
            </a:r>
            <a:endParaRPr lang="en-US" sz="1000" dirty="0"/>
          </a:p>
        </p:txBody>
      </p:sp>
      <p:sp>
        <p:nvSpPr>
          <p:cNvPr id="18" name="Text 16"/>
          <p:cNvSpPr/>
          <p:nvPr/>
        </p:nvSpPr>
        <p:spPr>
          <a:xfrm>
            <a:off x="5897880" y="2560320"/>
            <a:ext cx="274320" cy="457200"/>
          </a:xfrm>
          <a:prstGeom prst="rect">
            <a:avLst/>
          </a:prstGeom>
          <a:noFill/>
          <a:ln/>
        </p:spPr>
        <p:txBody>
          <a:bodyPr wrap="square" rtlCol="0" anchor="ctr"/>
          <a:lstStyle/>
          <a:p>
            <a:pPr marL="0" indent="0" algn="ctr">
              <a:buNone/>
            </a:pPr>
            <a:r>
              <a:rPr lang="en-US" sz="2400" dirty="0">
                <a:solidFill>
                  <a:srgbClr val="64748B"/>
                </a:solidFill>
              </a:rPr>
              <a:t>→</a:t>
            </a:r>
            <a:endParaRPr lang="en-US" sz="2400" dirty="0"/>
          </a:p>
        </p:txBody>
      </p:sp>
      <p:sp>
        <p:nvSpPr>
          <p:cNvPr id="19" name="Shape 17"/>
          <p:cNvSpPr/>
          <p:nvPr/>
        </p:nvSpPr>
        <p:spPr>
          <a:xfrm>
            <a:off x="6126480" y="1097280"/>
            <a:ext cx="2743200" cy="347472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20" name="Shape 18"/>
          <p:cNvSpPr/>
          <p:nvPr/>
        </p:nvSpPr>
        <p:spPr>
          <a:xfrm>
            <a:off x="6126480" y="1097280"/>
            <a:ext cx="2743200" cy="54864"/>
          </a:xfrm>
          <a:prstGeom prst="rect">
            <a:avLst/>
          </a:prstGeom>
          <a:solidFill>
            <a:srgbClr val="1B3A5C"/>
          </a:solidFill>
          <a:ln/>
        </p:spPr>
        <p:txBody>
          <a:bodyPr/>
          <a:lstStyle/>
          <a:p>
            <a:endParaRPr lang="fr-FR"/>
          </a:p>
        </p:txBody>
      </p:sp>
      <p:sp>
        <p:nvSpPr>
          <p:cNvPr id="21" name="Text 19"/>
          <p:cNvSpPr/>
          <p:nvPr/>
        </p:nvSpPr>
        <p:spPr>
          <a:xfrm>
            <a:off x="6126480" y="1234440"/>
            <a:ext cx="2743200" cy="640080"/>
          </a:xfrm>
          <a:prstGeom prst="rect">
            <a:avLst/>
          </a:prstGeom>
          <a:noFill/>
          <a:ln/>
        </p:spPr>
        <p:txBody>
          <a:bodyPr wrap="square" rtlCol="0" anchor="ctr"/>
          <a:lstStyle/>
          <a:p>
            <a:pPr marL="0" indent="0" algn="ctr">
              <a:buNone/>
            </a:pPr>
            <a:r>
              <a:rPr lang="en-US" sz="1400" b="1" dirty="0">
                <a:solidFill>
                  <a:srgbClr val="1B3A5C"/>
                </a:solidFill>
              </a:rPr>
              <a:t>Long terme</a:t>
            </a:r>
            <a:endParaRPr lang="en-US" sz="1400" dirty="0"/>
          </a:p>
          <a:p>
            <a:pPr marL="0" indent="0" algn="ctr">
              <a:buNone/>
            </a:pPr>
            <a:r>
              <a:rPr lang="en-US" sz="1400" b="1" dirty="0">
                <a:solidFill>
                  <a:srgbClr val="1B3A5C"/>
                </a:solidFill>
              </a:rPr>
              <a:t>18-36 mois</a:t>
            </a:r>
            <a:endParaRPr lang="en-US" sz="1400" dirty="0"/>
          </a:p>
        </p:txBody>
      </p:sp>
      <p:sp>
        <p:nvSpPr>
          <p:cNvPr id="22" name="Text 20"/>
          <p:cNvSpPr/>
          <p:nvPr/>
        </p:nvSpPr>
        <p:spPr>
          <a:xfrm>
            <a:off x="6309360" y="1965960"/>
            <a:ext cx="2377440" cy="274320"/>
          </a:xfrm>
          <a:prstGeom prst="rect">
            <a:avLst/>
          </a:prstGeom>
          <a:noFill/>
          <a:ln/>
        </p:spPr>
        <p:txBody>
          <a:bodyPr wrap="square" rtlCol="0" anchor="ctr"/>
          <a:lstStyle/>
          <a:p>
            <a:pPr marL="0" indent="0">
              <a:buNone/>
            </a:pPr>
            <a:r>
              <a:rPr lang="en-US" sz="1000" b="1" dirty="0">
                <a:solidFill>
                  <a:srgbClr val="1B3A5C"/>
                </a:solidFill>
              </a:rPr>
              <a:t>Actions :</a:t>
            </a:r>
            <a:endParaRPr lang="en-US" sz="1000" dirty="0"/>
          </a:p>
        </p:txBody>
      </p:sp>
      <p:sp>
        <p:nvSpPr>
          <p:cNvPr id="23" name="Text 21"/>
          <p:cNvSpPr/>
          <p:nvPr/>
        </p:nvSpPr>
        <p:spPr>
          <a:xfrm>
            <a:off x="6309360" y="2240280"/>
            <a:ext cx="2377440" cy="1005840"/>
          </a:xfrm>
          <a:prstGeom prst="rect">
            <a:avLst/>
          </a:prstGeom>
          <a:noFill/>
          <a:ln/>
        </p:spPr>
        <p:txBody>
          <a:bodyPr wrap="square" rtlCol="0" anchor="ctr"/>
          <a:lstStyle/>
          <a:p>
            <a:pPr marL="0" indent="0">
              <a:buNone/>
            </a:pPr>
            <a:r>
              <a:rPr lang="en-US" sz="1000" dirty="0">
                <a:solidFill>
                  <a:srgbClr val="1E293B"/>
                </a:solidFill>
              </a:rPr>
              <a:t>ML dans navigation</a:t>
            </a:r>
            <a:endParaRPr lang="en-US" sz="1000" dirty="0"/>
          </a:p>
          <a:p>
            <a:pPr marL="0" indent="0">
              <a:buNone/>
            </a:pPr>
            <a:r>
              <a:rPr lang="en-US" sz="1000" dirty="0">
                <a:solidFill>
                  <a:srgbClr val="1E293B"/>
                </a:solidFill>
              </a:rPr>
              <a:t>Données trafic temps réel</a:t>
            </a:r>
            <a:endParaRPr lang="en-US" sz="1000" dirty="0"/>
          </a:p>
          <a:p>
            <a:pPr marL="0" indent="0">
              <a:buNone/>
            </a:pPr>
            <a:r>
              <a:rPr lang="en-US" sz="1000" dirty="0">
                <a:solidFill>
                  <a:srgbClr val="1E293B"/>
                </a:solidFill>
              </a:rPr>
              <a:t>Analyse SHAP</a:t>
            </a:r>
            <a:endParaRPr lang="en-US" sz="1000" dirty="0"/>
          </a:p>
        </p:txBody>
      </p:sp>
      <p:sp>
        <p:nvSpPr>
          <p:cNvPr id="24" name="Text 22"/>
          <p:cNvSpPr/>
          <p:nvPr/>
        </p:nvSpPr>
        <p:spPr>
          <a:xfrm>
            <a:off x="6309360" y="3291840"/>
            <a:ext cx="2377440" cy="274320"/>
          </a:xfrm>
          <a:prstGeom prst="rect">
            <a:avLst/>
          </a:prstGeom>
          <a:noFill/>
          <a:ln/>
        </p:spPr>
        <p:txBody>
          <a:bodyPr wrap="square" rtlCol="0" anchor="ctr"/>
          <a:lstStyle/>
          <a:p>
            <a:pPr marL="0" indent="0">
              <a:buNone/>
            </a:pPr>
            <a:r>
              <a:rPr lang="en-US" sz="1000" b="1" dirty="0">
                <a:solidFill>
                  <a:srgbClr val="1B3A5C"/>
                </a:solidFill>
              </a:rPr>
              <a:t>KPIs :</a:t>
            </a:r>
            <a:endParaRPr lang="en-US" sz="1000" dirty="0"/>
          </a:p>
        </p:txBody>
      </p:sp>
      <p:sp>
        <p:nvSpPr>
          <p:cNvPr id="25" name="Text 23"/>
          <p:cNvSpPr/>
          <p:nvPr/>
        </p:nvSpPr>
        <p:spPr>
          <a:xfrm>
            <a:off x="6309360" y="3566160"/>
            <a:ext cx="2377440" cy="640080"/>
          </a:xfrm>
          <a:prstGeom prst="rect">
            <a:avLst/>
          </a:prstGeom>
          <a:noFill/>
          <a:ln/>
        </p:spPr>
        <p:txBody>
          <a:bodyPr wrap="square" rtlCol="0" anchor="ctr"/>
          <a:lstStyle/>
          <a:p>
            <a:pPr marL="0" indent="0">
              <a:buNone/>
            </a:pPr>
            <a:r>
              <a:rPr lang="en-US" sz="1000" dirty="0">
                <a:solidFill>
                  <a:srgbClr val="0D9488"/>
                </a:solidFill>
              </a:rPr>
              <a:t>Réduction accidents</a:t>
            </a:r>
            <a:endParaRPr lang="en-US" sz="1000" dirty="0"/>
          </a:p>
          <a:p>
            <a:pPr marL="0" indent="0">
              <a:buNone/>
            </a:pPr>
            <a:r>
              <a:rPr lang="en-US" sz="1000" dirty="0">
                <a:solidFill>
                  <a:srgbClr val="0D9488"/>
                </a:solidFill>
              </a:rPr>
              <a:t>global</a:t>
            </a:r>
            <a:endParaRPr lang="en-US" sz="1000" dirty="0"/>
          </a:p>
        </p:txBody>
      </p:sp>
      <p:sp>
        <p:nvSpPr>
          <p:cNvPr id="26" name="Text 24"/>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27" name="Text 25"/>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17 / 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4F8"/>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1B3A5C"/>
                </a:solidFill>
                <a:latin typeface="Trebuchet MS" pitchFamily="34" charset="0"/>
                <a:ea typeface="Trebuchet MS" pitchFamily="34" charset="-122"/>
                <a:cs typeface="Trebuchet MS" pitchFamily="34" charset="-120"/>
              </a:rPr>
              <a:t>Limites &amp; Perspectives</a:t>
            </a:r>
            <a:endParaRPr lang="en-US" sz="2800" dirty="0"/>
          </a:p>
        </p:txBody>
      </p:sp>
      <p:sp>
        <p:nvSpPr>
          <p:cNvPr id="3" name="Shape 1"/>
          <p:cNvSpPr/>
          <p:nvPr/>
        </p:nvSpPr>
        <p:spPr>
          <a:xfrm>
            <a:off x="457200" y="914400"/>
            <a:ext cx="3931920" cy="36576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4" name="Shape 2"/>
          <p:cNvSpPr/>
          <p:nvPr/>
        </p:nvSpPr>
        <p:spPr>
          <a:xfrm>
            <a:off x="457200" y="914400"/>
            <a:ext cx="3931920" cy="54864"/>
          </a:xfrm>
          <a:prstGeom prst="rect">
            <a:avLst/>
          </a:prstGeom>
          <a:solidFill>
            <a:srgbClr val="E67E22"/>
          </a:solidFill>
          <a:ln/>
        </p:spPr>
        <p:txBody>
          <a:bodyPr/>
          <a:lstStyle/>
          <a:p>
            <a:endParaRPr lang="fr-FR"/>
          </a:p>
        </p:txBody>
      </p:sp>
      <p:sp>
        <p:nvSpPr>
          <p:cNvPr id="5" name="Text 3"/>
          <p:cNvSpPr/>
          <p:nvPr/>
        </p:nvSpPr>
        <p:spPr>
          <a:xfrm>
            <a:off x="640080" y="1005840"/>
            <a:ext cx="3566160" cy="274320"/>
          </a:xfrm>
          <a:prstGeom prst="rect">
            <a:avLst/>
          </a:prstGeom>
          <a:noFill/>
          <a:ln/>
        </p:spPr>
        <p:txBody>
          <a:bodyPr wrap="square" rtlCol="0" anchor="ctr"/>
          <a:lstStyle/>
          <a:p>
            <a:pPr marL="0" indent="0">
              <a:buNone/>
            </a:pPr>
            <a:r>
              <a:rPr lang="en-US" sz="1400" b="1" dirty="0">
                <a:solidFill>
                  <a:srgbClr val="E67E22"/>
                </a:solidFill>
              </a:rPr>
              <a:t>Limites</a:t>
            </a:r>
            <a:endParaRPr lang="en-US" sz="1400" dirty="0"/>
          </a:p>
        </p:txBody>
      </p:sp>
      <p:sp>
        <p:nvSpPr>
          <p:cNvPr id="6" name="Text 4"/>
          <p:cNvSpPr/>
          <p:nvPr/>
        </p:nvSpPr>
        <p:spPr>
          <a:xfrm>
            <a:off x="640080" y="1325880"/>
            <a:ext cx="3566160" cy="3108960"/>
          </a:xfrm>
          <a:prstGeom prst="rect">
            <a:avLst/>
          </a:prstGeom>
          <a:noFill/>
          <a:ln/>
        </p:spPr>
        <p:txBody>
          <a:bodyPr wrap="square" rtlCol="0" anchor="ctr"/>
          <a:lstStyle/>
          <a:p>
            <a:pPr marL="0" indent="0">
              <a:buNone/>
            </a:pPr>
            <a:r>
              <a:rPr lang="en-US" sz="1000" b="1" dirty="0">
                <a:solidFill>
                  <a:srgbClr val="000000"/>
                </a:solidFill>
              </a:rPr>
              <a:t>1. Données déclaratives</a:t>
            </a:r>
            <a:endParaRPr lang="en-US" sz="1000" dirty="0"/>
          </a:p>
          <a:p>
            <a:pPr marL="0" indent="0">
              <a:buNone/>
            </a:pPr>
            <a:r>
              <a:rPr lang="en-US" sz="900" dirty="0">
                <a:solidFill>
                  <a:srgbClr val="64748B"/>
                </a:solidFill>
              </a:rPr>
              <a:t>Accidents non déclarés absents (sous-estimation VRU)</a:t>
            </a:r>
            <a:endParaRPr lang="en-US" sz="1000" dirty="0"/>
          </a:p>
          <a:p>
            <a:pPr marL="0" indent="0">
              <a:buNone/>
            </a:pPr>
            <a:endParaRPr lang="en-US" sz="1000" dirty="0"/>
          </a:p>
          <a:p>
            <a:pPr marL="0" indent="0">
              <a:buNone/>
            </a:pPr>
            <a:r>
              <a:rPr lang="en-US" sz="1000" b="1" dirty="0">
                <a:solidFill>
                  <a:srgbClr val="000000"/>
                </a:solidFill>
              </a:rPr>
              <a:t>2. Rupture ONISR 2019</a:t>
            </a:r>
            <a:endParaRPr lang="en-US" sz="1000" dirty="0"/>
          </a:p>
          <a:p>
            <a:pPr marL="0" indent="0">
              <a:buNone/>
            </a:pPr>
            <a:r>
              <a:rPr lang="en-US" sz="900" dirty="0">
                <a:solidFill>
                  <a:srgbClr val="64748B"/>
                </a:solidFill>
              </a:rPr>
              <a:t>Comparaison avant/après limitée → double modèle</a:t>
            </a:r>
            <a:endParaRPr lang="en-US" sz="1000" dirty="0"/>
          </a:p>
          <a:p>
            <a:pPr marL="0" indent="0">
              <a:buNone/>
            </a:pPr>
            <a:endParaRPr lang="en-US" sz="1000" dirty="0"/>
          </a:p>
          <a:p>
            <a:pPr marL="0" indent="0">
              <a:buNone/>
            </a:pPr>
            <a:r>
              <a:rPr lang="en-US" sz="1000" b="1" dirty="0">
                <a:solidFill>
                  <a:srgbClr val="000000"/>
                </a:solidFill>
              </a:rPr>
              <a:t>3. Recall ~79% = aide à la décision</a:t>
            </a:r>
            <a:endParaRPr lang="en-US" sz="1000" dirty="0"/>
          </a:p>
          <a:p>
            <a:pPr marL="0" indent="0">
              <a:buNone/>
            </a:pPr>
            <a:r>
              <a:rPr lang="en-US" sz="900" dirty="0">
                <a:solidFill>
                  <a:srgbClr val="64748B"/>
                </a:solidFill>
              </a:rPr>
              <a:t>21% de graves non détectés → pas décideur autonome</a:t>
            </a:r>
            <a:endParaRPr lang="en-US" sz="1000" dirty="0"/>
          </a:p>
          <a:p>
            <a:pPr marL="0" indent="0">
              <a:buNone/>
            </a:pPr>
            <a:endParaRPr lang="en-US" sz="1000" dirty="0"/>
          </a:p>
          <a:p>
            <a:pPr marL="0" indent="0">
              <a:buNone/>
            </a:pPr>
            <a:r>
              <a:rPr lang="en-US" sz="1000" b="1" dirty="0">
                <a:solidFill>
                  <a:srgbClr val="000000"/>
                </a:solidFill>
              </a:rPr>
              <a:t>4. Variables absentes</a:t>
            </a:r>
            <a:endParaRPr lang="en-US" sz="1000" dirty="0"/>
          </a:p>
          <a:p>
            <a:pPr marL="0" indent="0">
              <a:buNone/>
            </a:pPr>
            <a:r>
              <a:rPr lang="en-US" sz="900" dirty="0">
                <a:solidFill>
                  <a:srgbClr val="64748B"/>
                </a:solidFill>
              </a:rPr>
              <a:t>Alcoolémie, vitesse réelle, téléphone, fatigue</a:t>
            </a:r>
            <a:endParaRPr lang="en-US" sz="1000" dirty="0"/>
          </a:p>
          <a:p>
            <a:pPr marL="0" indent="0">
              <a:buNone/>
            </a:pPr>
            <a:endParaRPr lang="en-US" sz="1000" dirty="0"/>
          </a:p>
          <a:p>
            <a:pPr marL="0" indent="0">
              <a:buNone/>
            </a:pPr>
            <a:r>
              <a:rPr lang="en-US" sz="1000" b="1" dirty="0">
                <a:solidFill>
                  <a:srgbClr val="000000"/>
                </a:solidFill>
              </a:rPr>
              <a:t>5. Déséquilibre des classes</a:t>
            </a:r>
            <a:endParaRPr lang="en-US" sz="1000" dirty="0"/>
          </a:p>
          <a:p>
            <a:pPr marL="0" indent="0">
              <a:buNone/>
            </a:pPr>
            <a:r>
              <a:rPr lang="en-US" sz="900" dirty="0">
                <a:solidFill>
                  <a:srgbClr val="64748B"/>
                </a:solidFill>
              </a:rPr>
              <a:t>Tué = 2.7% → Precision faible (Modèle A)</a:t>
            </a:r>
            <a:endParaRPr lang="en-US" sz="1000" dirty="0"/>
          </a:p>
        </p:txBody>
      </p:sp>
      <p:sp>
        <p:nvSpPr>
          <p:cNvPr id="7" name="Shape 5"/>
          <p:cNvSpPr/>
          <p:nvPr/>
        </p:nvSpPr>
        <p:spPr>
          <a:xfrm>
            <a:off x="4754880" y="914400"/>
            <a:ext cx="3931920" cy="3657600"/>
          </a:xfrm>
          <a:prstGeom prst="rect">
            <a:avLst/>
          </a:prstGeom>
          <a:solidFill>
            <a:srgbClr val="FFFFFF"/>
          </a:solidFill>
          <a:ln/>
          <a:effectLst>
            <a:outerShdw blurRad="50800" dist="25400" dir="8100000" algn="bl" rotWithShape="0">
              <a:srgbClr val="000000">
                <a:alpha val="12000"/>
              </a:srgbClr>
            </a:outerShdw>
          </a:effectLst>
        </p:spPr>
        <p:txBody>
          <a:bodyPr/>
          <a:lstStyle/>
          <a:p>
            <a:endParaRPr lang="fr-FR"/>
          </a:p>
        </p:txBody>
      </p:sp>
      <p:sp>
        <p:nvSpPr>
          <p:cNvPr id="8" name="Shape 6"/>
          <p:cNvSpPr/>
          <p:nvPr/>
        </p:nvSpPr>
        <p:spPr>
          <a:xfrm>
            <a:off x="4754880" y="914400"/>
            <a:ext cx="3931920" cy="54864"/>
          </a:xfrm>
          <a:prstGeom prst="rect">
            <a:avLst/>
          </a:prstGeom>
          <a:solidFill>
            <a:srgbClr val="28A745"/>
          </a:solidFill>
          <a:ln/>
        </p:spPr>
        <p:txBody>
          <a:bodyPr/>
          <a:lstStyle/>
          <a:p>
            <a:endParaRPr lang="fr-FR"/>
          </a:p>
        </p:txBody>
      </p:sp>
      <p:sp>
        <p:nvSpPr>
          <p:cNvPr id="9" name="Text 7"/>
          <p:cNvSpPr/>
          <p:nvPr/>
        </p:nvSpPr>
        <p:spPr>
          <a:xfrm>
            <a:off x="4937760" y="1005840"/>
            <a:ext cx="3566160" cy="274320"/>
          </a:xfrm>
          <a:prstGeom prst="rect">
            <a:avLst/>
          </a:prstGeom>
          <a:noFill/>
          <a:ln/>
        </p:spPr>
        <p:txBody>
          <a:bodyPr wrap="square" rtlCol="0" anchor="ctr"/>
          <a:lstStyle/>
          <a:p>
            <a:pPr marL="0" indent="0">
              <a:buNone/>
            </a:pPr>
            <a:r>
              <a:rPr lang="en-US" sz="1400" b="1" dirty="0">
                <a:solidFill>
                  <a:srgbClr val="28A745"/>
                </a:solidFill>
              </a:rPr>
              <a:t>Perspectives</a:t>
            </a:r>
            <a:endParaRPr lang="en-US" sz="1400" dirty="0"/>
          </a:p>
        </p:txBody>
      </p:sp>
      <p:sp>
        <p:nvSpPr>
          <p:cNvPr id="10" name="Text 8"/>
          <p:cNvSpPr/>
          <p:nvPr/>
        </p:nvSpPr>
        <p:spPr>
          <a:xfrm>
            <a:off x="4937760" y="1325880"/>
            <a:ext cx="3566160" cy="3108960"/>
          </a:xfrm>
          <a:prstGeom prst="rect">
            <a:avLst/>
          </a:prstGeom>
          <a:noFill/>
          <a:ln/>
        </p:spPr>
        <p:txBody>
          <a:bodyPr wrap="square" rtlCol="0" anchor="ctr"/>
          <a:lstStyle/>
          <a:p>
            <a:pPr marL="0" indent="0">
              <a:buNone/>
            </a:pPr>
            <a:r>
              <a:rPr lang="en-US" sz="1000" b="1" dirty="0">
                <a:solidFill>
                  <a:srgbClr val="000000"/>
                </a:solidFill>
              </a:rPr>
              <a:t>1. Enrichissement données</a:t>
            </a:r>
            <a:endParaRPr lang="en-US" sz="1000" dirty="0"/>
          </a:p>
          <a:p>
            <a:pPr marL="0" indent="0">
              <a:buNone/>
            </a:pPr>
            <a:r>
              <a:rPr lang="en-US" sz="900" dirty="0">
                <a:solidFill>
                  <a:srgbClr val="64748B"/>
                </a:solidFill>
              </a:rPr>
              <a:t>Météo-France, trafic TMJA, OpenStreetMap</a:t>
            </a:r>
            <a:endParaRPr lang="en-US" sz="1000" dirty="0"/>
          </a:p>
          <a:p>
            <a:pPr marL="0" indent="0">
              <a:buNone/>
            </a:pPr>
            <a:endParaRPr lang="en-US" sz="1000" dirty="0"/>
          </a:p>
          <a:p>
            <a:pPr marL="0" indent="0">
              <a:buNone/>
            </a:pPr>
            <a:r>
              <a:rPr lang="en-US" sz="1000" b="1" dirty="0">
                <a:solidFill>
                  <a:srgbClr val="000000"/>
                </a:solidFill>
              </a:rPr>
              <a:t>2. Modèles avancés</a:t>
            </a:r>
            <a:endParaRPr lang="en-US" sz="1000" dirty="0"/>
          </a:p>
          <a:p>
            <a:pPr marL="0" indent="0">
              <a:buNone/>
            </a:pPr>
            <a:r>
              <a:rPr lang="en-US" sz="900" dirty="0">
                <a:solidFill>
                  <a:srgbClr val="64748B"/>
                </a:solidFill>
              </a:rPr>
              <a:t>XGBoost, SHAP, DBSCAN (clustering zones)</a:t>
            </a:r>
            <a:endParaRPr lang="en-US" sz="1000" dirty="0"/>
          </a:p>
          <a:p>
            <a:pPr marL="0" indent="0">
              <a:buNone/>
            </a:pPr>
            <a:endParaRPr lang="en-US" sz="1000" dirty="0"/>
          </a:p>
          <a:p>
            <a:pPr marL="0" indent="0">
              <a:buNone/>
            </a:pPr>
            <a:r>
              <a:rPr lang="en-US" sz="1000" b="1" dirty="0">
                <a:solidFill>
                  <a:srgbClr val="000000"/>
                </a:solidFill>
              </a:rPr>
              <a:t>3. Déploiement opérationnel</a:t>
            </a:r>
            <a:endParaRPr lang="en-US" sz="1000" dirty="0"/>
          </a:p>
          <a:p>
            <a:pPr marL="0" indent="0">
              <a:buNone/>
            </a:pPr>
            <a:r>
              <a:rPr lang="en-US" sz="900" dirty="0">
                <a:solidFill>
                  <a:srgbClr val="64748B"/>
                </a:solidFill>
              </a:rPr>
              <a:t>API REST Flask/FastAPI, temps réel, A/B testing</a:t>
            </a:r>
            <a:endParaRPr lang="en-US" sz="1000" dirty="0"/>
          </a:p>
          <a:p>
            <a:pPr marL="0" indent="0">
              <a:buNone/>
            </a:pPr>
            <a:endParaRPr lang="en-US" sz="1000" dirty="0"/>
          </a:p>
          <a:p>
            <a:pPr marL="0" indent="0">
              <a:buNone/>
            </a:pPr>
            <a:r>
              <a:rPr lang="en-US" sz="1000" b="1" dirty="0">
                <a:solidFill>
                  <a:srgbClr val="0D9488"/>
                </a:solidFill>
              </a:rPr>
              <a:t>4. Télémétrie Smart City</a:t>
            </a:r>
            <a:endParaRPr lang="en-US" sz="1000" dirty="0"/>
          </a:p>
          <a:p>
            <a:pPr marL="0" indent="0">
              <a:buNone/>
            </a:pPr>
            <a:r>
              <a:rPr lang="en-US" sz="900" dirty="0">
                <a:solidFill>
                  <a:srgbClr val="0D9488"/>
                </a:solidFill>
              </a:rPr>
              <a:t>Exploitation des capteurs embarqués (ex : Circle Mobility) pour pallier l'absence de vitesse réelle et fatigue.</a:t>
            </a:r>
            <a:endParaRPr lang="en-US" sz="1000" dirty="0"/>
          </a:p>
          <a:p>
            <a:pPr marL="0" indent="0">
              <a:buNone/>
            </a:pPr>
            <a:endParaRPr lang="en-US" sz="1000" dirty="0"/>
          </a:p>
          <a:p>
            <a:pPr marL="0" indent="0">
              <a:buNone/>
            </a:pPr>
            <a:r>
              <a:rPr lang="en-US" sz="1000" b="1" dirty="0">
                <a:solidFill>
                  <a:srgbClr val="000000"/>
                </a:solidFill>
              </a:rPr>
              <a:t>5. Gouvernance RGPD</a:t>
            </a:r>
            <a:endParaRPr lang="en-US" sz="1000" dirty="0"/>
          </a:p>
          <a:p>
            <a:pPr marL="0" indent="0">
              <a:buNone/>
            </a:pPr>
            <a:r>
              <a:rPr lang="en-US" sz="900" dirty="0">
                <a:solidFill>
                  <a:srgbClr val="64748B"/>
                </a:solidFill>
              </a:rPr>
              <a:t>Anonymisation, audit biais, comité éthique</a:t>
            </a:r>
            <a:endParaRPr lang="en-US" sz="1000" dirty="0"/>
          </a:p>
        </p:txBody>
      </p:sp>
      <p:sp>
        <p:nvSpPr>
          <p:cNvPr id="11" name="Text 9"/>
          <p:cNvSpPr/>
          <p:nvPr/>
        </p:nvSpPr>
        <p:spPr>
          <a:xfrm>
            <a:off x="457200" y="4709160"/>
            <a:ext cx="8229600" cy="228600"/>
          </a:xfrm>
          <a:prstGeom prst="rect">
            <a:avLst/>
          </a:prstGeom>
          <a:noFill/>
          <a:ln/>
        </p:spPr>
        <p:txBody>
          <a:bodyPr wrap="square" rtlCol="0" anchor="ctr"/>
          <a:lstStyle/>
          <a:p>
            <a:pPr marL="0" indent="0" algn="ctr">
              <a:buNone/>
            </a:pPr>
            <a:r>
              <a:rPr lang="en-US" sz="1100" b="1" i="1" dirty="0">
                <a:solidFill>
                  <a:srgbClr val="0D9488"/>
                </a:solidFill>
              </a:rPr>
              <a:t>Un modèle honnête sur ses limites est un modèle crédible</a:t>
            </a:r>
            <a:endParaRPr lang="en-US" sz="1100" dirty="0"/>
          </a:p>
        </p:txBody>
      </p:sp>
      <p:sp>
        <p:nvSpPr>
          <p:cNvPr id="12" name="Text 10"/>
          <p:cNvSpPr/>
          <p:nvPr/>
        </p:nvSpPr>
        <p:spPr>
          <a:xfrm>
            <a:off x="457200" y="4800600"/>
            <a:ext cx="7315200" cy="228600"/>
          </a:xfrm>
          <a:prstGeom prst="rect">
            <a:avLst/>
          </a:prstGeom>
          <a:noFill/>
          <a:ln/>
        </p:spPr>
        <p:txBody>
          <a:bodyPr wrap="square" rtlCol="0" anchor="ctr"/>
          <a:lstStyle/>
          <a:p>
            <a:pPr marL="0" indent="0">
              <a:buNone/>
            </a:pPr>
            <a:r>
              <a:rPr lang="en-US" sz="800" dirty="0">
                <a:solidFill>
                  <a:srgbClr val="64748B"/>
                </a:solidFill>
              </a:rPr>
              <a:t>Projet BAAC — Hamza — Datasuits 2026 — Smart City (ex : Circle Mobility)</a:t>
            </a:r>
            <a:endParaRPr lang="en-US" sz="800" dirty="0"/>
          </a:p>
        </p:txBody>
      </p:sp>
      <p:sp>
        <p:nvSpPr>
          <p:cNvPr id="13" name="Text 11"/>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18 / 20</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3A5C"/>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Conclusion</a:t>
            </a:r>
            <a:endParaRPr lang="en-US" sz="3200" dirty="0"/>
          </a:p>
        </p:txBody>
      </p:sp>
      <p:sp>
        <p:nvSpPr>
          <p:cNvPr id="3" name="Shape 1"/>
          <p:cNvSpPr/>
          <p:nvPr/>
        </p:nvSpPr>
        <p:spPr>
          <a:xfrm>
            <a:off x="731520" y="1188720"/>
            <a:ext cx="7680960" cy="914400"/>
          </a:xfrm>
          <a:prstGeom prst="rect">
            <a:avLst/>
          </a:prstGeom>
          <a:solidFill>
            <a:srgbClr val="1E3454"/>
          </a:solidFill>
          <a:ln/>
        </p:spPr>
        <p:txBody>
          <a:bodyPr/>
          <a:lstStyle/>
          <a:p>
            <a:endParaRPr lang="fr-FR"/>
          </a:p>
        </p:txBody>
      </p:sp>
      <p:sp>
        <p:nvSpPr>
          <p:cNvPr id="4" name="Text 2"/>
          <p:cNvSpPr/>
          <p:nvPr/>
        </p:nvSpPr>
        <p:spPr>
          <a:xfrm>
            <a:off x="914400" y="1188720"/>
            <a:ext cx="54864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5" name="Text 3"/>
          <p:cNvSpPr/>
          <p:nvPr/>
        </p:nvSpPr>
        <p:spPr>
          <a:xfrm>
            <a:off x="1554480" y="1188720"/>
            <a:ext cx="2743200" cy="365760"/>
          </a:xfrm>
          <a:prstGeom prst="rect">
            <a:avLst/>
          </a:prstGeom>
          <a:noFill/>
          <a:ln/>
        </p:spPr>
        <p:txBody>
          <a:bodyPr wrap="square" rtlCol="0" anchor="ctr"/>
          <a:lstStyle/>
          <a:p>
            <a:pPr marL="0" indent="0">
              <a:buNone/>
            </a:pPr>
            <a:r>
              <a:rPr lang="en-US" sz="1500" b="1" dirty="0">
                <a:solidFill>
                  <a:srgbClr val="14B8A6"/>
                </a:solidFill>
              </a:rPr>
              <a:t>Ce que nous avons fait</a:t>
            </a:r>
            <a:endParaRPr lang="en-US" sz="1500" dirty="0"/>
          </a:p>
        </p:txBody>
      </p:sp>
      <p:sp>
        <p:nvSpPr>
          <p:cNvPr id="6" name="Text 4"/>
          <p:cNvSpPr/>
          <p:nvPr/>
        </p:nvSpPr>
        <p:spPr>
          <a:xfrm>
            <a:off x="1554480" y="1554480"/>
            <a:ext cx="6675120" cy="457200"/>
          </a:xfrm>
          <a:prstGeom prst="rect">
            <a:avLst/>
          </a:prstGeom>
          <a:noFill/>
          <a:ln/>
        </p:spPr>
        <p:txBody>
          <a:bodyPr wrap="square" rtlCol="0" anchor="ctr"/>
          <a:lstStyle/>
          <a:p>
            <a:pPr marL="0" indent="0">
              <a:buNone/>
            </a:pPr>
            <a:r>
              <a:rPr lang="en-US" sz="1200" dirty="0">
                <a:solidFill>
                  <a:srgbClr val="E2E8F0"/>
                </a:solidFill>
              </a:rPr>
              <a:t>Pipeline complet sur 20 ans de données BAAC (2,8 M usagers), double modèle ML, dashboard Power BI interactif 5 pages.</a:t>
            </a:r>
            <a:endParaRPr lang="en-US" sz="1200" dirty="0"/>
          </a:p>
        </p:txBody>
      </p:sp>
      <p:sp>
        <p:nvSpPr>
          <p:cNvPr id="7" name="Shape 5"/>
          <p:cNvSpPr/>
          <p:nvPr/>
        </p:nvSpPr>
        <p:spPr>
          <a:xfrm>
            <a:off x="731520" y="2286000"/>
            <a:ext cx="7680960" cy="914400"/>
          </a:xfrm>
          <a:prstGeom prst="rect">
            <a:avLst/>
          </a:prstGeom>
          <a:solidFill>
            <a:srgbClr val="1E3454"/>
          </a:solidFill>
          <a:ln/>
        </p:spPr>
        <p:txBody>
          <a:bodyPr/>
          <a:lstStyle/>
          <a:p>
            <a:endParaRPr lang="fr-FR"/>
          </a:p>
        </p:txBody>
      </p:sp>
      <p:sp>
        <p:nvSpPr>
          <p:cNvPr id="8" name="Text 6"/>
          <p:cNvSpPr/>
          <p:nvPr/>
        </p:nvSpPr>
        <p:spPr>
          <a:xfrm>
            <a:off x="914400" y="2286000"/>
            <a:ext cx="54864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9" name="Text 7"/>
          <p:cNvSpPr/>
          <p:nvPr/>
        </p:nvSpPr>
        <p:spPr>
          <a:xfrm>
            <a:off x="1554480" y="2286000"/>
            <a:ext cx="2743200" cy="365760"/>
          </a:xfrm>
          <a:prstGeom prst="rect">
            <a:avLst/>
          </a:prstGeom>
          <a:noFill/>
          <a:ln/>
        </p:spPr>
        <p:txBody>
          <a:bodyPr wrap="square" rtlCol="0" anchor="ctr"/>
          <a:lstStyle/>
          <a:p>
            <a:pPr marL="0" indent="0">
              <a:buNone/>
            </a:pPr>
            <a:r>
              <a:rPr lang="en-US" sz="1500" b="1" dirty="0">
                <a:solidFill>
                  <a:srgbClr val="14B8A6"/>
                </a:solidFill>
              </a:rPr>
              <a:t>Ce que nous avons trouvé</a:t>
            </a:r>
            <a:endParaRPr lang="en-US" sz="1500" dirty="0"/>
          </a:p>
        </p:txBody>
      </p:sp>
      <p:sp>
        <p:nvSpPr>
          <p:cNvPr id="10" name="Text 8"/>
          <p:cNvSpPr/>
          <p:nvPr/>
        </p:nvSpPr>
        <p:spPr>
          <a:xfrm>
            <a:off x="1554480" y="2651760"/>
            <a:ext cx="6675120" cy="457200"/>
          </a:xfrm>
          <a:prstGeom prst="rect">
            <a:avLst/>
          </a:prstGeom>
          <a:noFill/>
          <a:ln/>
        </p:spPr>
        <p:txBody>
          <a:bodyPr wrap="square" rtlCol="0" anchor="ctr"/>
          <a:lstStyle/>
          <a:p>
            <a:pPr marL="0" indent="0">
              <a:buNone/>
            </a:pPr>
            <a:r>
              <a:rPr lang="en-US" sz="1200" dirty="0">
                <a:solidFill>
                  <a:srgbClr val="E2E8F0"/>
                </a:solidFill>
              </a:rPr>
              <a:t>5 facteurs de risque structurels, AUC &gt; 0.80, Recall ~79% (4 accidents graves sur 5 détectés).</a:t>
            </a:r>
            <a:endParaRPr lang="en-US" sz="1200" dirty="0"/>
          </a:p>
        </p:txBody>
      </p:sp>
      <p:sp>
        <p:nvSpPr>
          <p:cNvPr id="11" name="Shape 9"/>
          <p:cNvSpPr/>
          <p:nvPr/>
        </p:nvSpPr>
        <p:spPr>
          <a:xfrm>
            <a:off x="731520" y="3383280"/>
            <a:ext cx="7680960" cy="914400"/>
          </a:xfrm>
          <a:prstGeom prst="rect">
            <a:avLst/>
          </a:prstGeom>
          <a:solidFill>
            <a:srgbClr val="1E3454"/>
          </a:solidFill>
          <a:ln/>
        </p:spPr>
        <p:txBody>
          <a:bodyPr/>
          <a:lstStyle/>
          <a:p>
            <a:endParaRPr lang="fr-FR"/>
          </a:p>
        </p:txBody>
      </p:sp>
      <p:sp>
        <p:nvSpPr>
          <p:cNvPr id="12" name="Text 10"/>
          <p:cNvSpPr/>
          <p:nvPr/>
        </p:nvSpPr>
        <p:spPr>
          <a:xfrm>
            <a:off x="914400" y="3383280"/>
            <a:ext cx="548640" cy="914400"/>
          </a:xfrm>
          <a:prstGeom prst="rect">
            <a:avLst/>
          </a:prstGeom>
          <a:noFill/>
          <a:ln/>
        </p:spPr>
        <p:txBody>
          <a:bodyPr wrap="square" rtlCol="0" anchor="ctr"/>
          <a:lstStyle/>
          <a:p>
            <a:pPr marL="0" indent="0" algn="ctr">
              <a:buNone/>
            </a:pPr>
            <a:r>
              <a:rPr lang="en-US" sz="2400" dirty="0">
                <a:solidFill>
                  <a:srgbClr val="000000"/>
                </a:solidFill>
              </a:rPr>
              <a:t>🎯</a:t>
            </a:r>
            <a:endParaRPr lang="en-US" sz="2400" dirty="0"/>
          </a:p>
        </p:txBody>
      </p:sp>
      <p:sp>
        <p:nvSpPr>
          <p:cNvPr id="13" name="Text 11"/>
          <p:cNvSpPr/>
          <p:nvPr/>
        </p:nvSpPr>
        <p:spPr>
          <a:xfrm>
            <a:off x="1554480" y="3383280"/>
            <a:ext cx="2743200" cy="365760"/>
          </a:xfrm>
          <a:prstGeom prst="rect">
            <a:avLst/>
          </a:prstGeom>
          <a:noFill/>
          <a:ln/>
        </p:spPr>
        <p:txBody>
          <a:bodyPr wrap="square" rtlCol="0" anchor="ctr"/>
          <a:lstStyle/>
          <a:p>
            <a:pPr marL="0" indent="0">
              <a:buNone/>
            </a:pPr>
            <a:r>
              <a:rPr lang="en-US" sz="1500" b="1" dirty="0">
                <a:solidFill>
                  <a:srgbClr val="14B8A6"/>
                </a:solidFill>
              </a:rPr>
              <a:t>Ce que cela permet</a:t>
            </a:r>
            <a:endParaRPr lang="en-US" sz="1500" dirty="0"/>
          </a:p>
        </p:txBody>
      </p:sp>
      <p:sp>
        <p:nvSpPr>
          <p:cNvPr id="14" name="Text 12"/>
          <p:cNvSpPr/>
          <p:nvPr/>
        </p:nvSpPr>
        <p:spPr>
          <a:xfrm>
            <a:off x="1554480" y="3749040"/>
            <a:ext cx="6675120" cy="457200"/>
          </a:xfrm>
          <a:prstGeom prst="rect">
            <a:avLst/>
          </a:prstGeom>
          <a:noFill/>
          <a:ln/>
        </p:spPr>
        <p:txBody>
          <a:bodyPr wrap="square" rtlCol="0" anchor="ctr"/>
          <a:lstStyle/>
          <a:p>
            <a:pPr marL="0" indent="0">
              <a:buNone/>
            </a:pPr>
            <a:r>
              <a:rPr lang="en-US" sz="1200" dirty="0">
                <a:solidFill>
                  <a:srgbClr val="E2E8F0"/>
                </a:solidFill>
              </a:rPr>
              <a:t>5 recommandations opérationnelles avec KPIs mesurables pour un acteur Smart City (ex : Circle Mobility).</a:t>
            </a:r>
            <a:endParaRPr lang="en-US" sz="1200" dirty="0"/>
          </a:p>
        </p:txBody>
      </p:sp>
      <p:sp>
        <p:nvSpPr>
          <p:cNvPr id="15" name="Shape 13"/>
          <p:cNvSpPr/>
          <p:nvPr/>
        </p:nvSpPr>
        <p:spPr>
          <a:xfrm>
            <a:off x="1828800" y="4297680"/>
            <a:ext cx="5486400" cy="27432"/>
          </a:xfrm>
          <a:prstGeom prst="rect">
            <a:avLst/>
          </a:prstGeom>
          <a:solidFill>
            <a:srgbClr val="14B8A6"/>
          </a:solidFill>
          <a:ln/>
        </p:spPr>
        <p:txBody>
          <a:bodyPr/>
          <a:lstStyle/>
          <a:p>
            <a:endParaRPr lang="fr-FR"/>
          </a:p>
        </p:txBody>
      </p:sp>
      <p:sp>
        <p:nvSpPr>
          <p:cNvPr id="16" name="Text 14"/>
          <p:cNvSpPr/>
          <p:nvPr/>
        </p:nvSpPr>
        <p:spPr>
          <a:xfrm>
            <a:off x="914400" y="4434840"/>
            <a:ext cx="7315200" cy="365760"/>
          </a:xfrm>
          <a:prstGeom prst="rect">
            <a:avLst/>
          </a:prstGeom>
          <a:noFill/>
          <a:ln/>
        </p:spPr>
        <p:txBody>
          <a:bodyPr wrap="square" rtlCol="0" anchor="ctr"/>
          <a:lstStyle/>
          <a:p>
            <a:pPr marL="0" indent="0" algn="ctr">
              <a:buNone/>
            </a:pPr>
            <a:r>
              <a:rPr lang="en-US" sz="1500" i="1" dirty="0">
                <a:solidFill>
                  <a:srgbClr val="14B8A6"/>
                </a:solidFill>
              </a:rPr>
              <a:t>La data au service de la sécurité des usagers — c'est l'ambition de la Smart City</a:t>
            </a:r>
            <a:endParaRPr lang="en-US" sz="1500" dirty="0"/>
          </a:p>
        </p:txBody>
      </p:sp>
      <p:sp>
        <p:nvSpPr>
          <p:cNvPr id="17" name="Text 15"/>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19 / 20</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3A5C"/>
        </a:solidFill>
        <a:effectLst/>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marL="0" indent="0" algn="ctr">
              <a:buNone/>
            </a:pPr>
            <a:r>
              <a:rPr lang="en-US" sz="4800" b="1" dirty="0">
                <a:solidFill>
                  <a:srgbClr val="FFFFFF"/>
                </a:solidFill>
                <a:latin typeface="Trebuchet MS" pitchFamily="34" charset="0"/>
                <a:ea typeface="Trebuchet MS" pitchFamily="34" charset="-122"/>
                <a:cs typeface="Trebuchet MS" pitchFamily="34" charset="-120"/>
              </a:rPr>
              <a:t>Merci</a:t>
            </a:r>
            <a:endParaRPr lang="en-US" sz="4800" dirty="0"/>
          </a:p>
        </p:txBody>
      </p:sp>
      <p:sp>
        <p:nvSpPr>
          <p:cNvPr id="3" name="Shape 1"/>
          <p:cNvSpPr/>
          <p:nvPr/>
        </p:nvSpPr>
        <p:spPr>
          <a:xfrm>
            <a:off x="3200400" y="2286000"/>
            <a:ext cx="2743200" cy="27432"/>
          </a:xfrm>
          <a:prstGeom prst="rect">
            <a:avLst/>
          </a:prstGeom>
          <a:solidFill>
            <a:srgbClr val="14B8A6"/>
          </a:solidFill>
          <a:ln/>
        </p:spPr>
        <p:txBody>
          <a:bodyPr/>
          <a:lstStyle/>
          <a:p>
            <a:endParaRPr lang="fr-FR"/>
          </a:p>
        </p:txBody>
      </p:sp>
      <p:sp>
        <p:nvSpPr>
          <p:cNvPr id="4" name="Text 2"/>
          <p:cNvSpPr/>
          <p:nvPr/>
        </p:nvSpPr>
        <p:spPr>
          <a:xfrm>
            <a:off x="457200" y="2468880"/>
            <a:ext cx="8229600" cy="548640"/>
          </a:xfrm>
          <a:prstGeom prst="rect">
            <a:avLst/>
          </a:prstGeom>
          <a:noFill/>
          <a:ln/>
        </p:spPr>
        <p:txBody>
          <a:bodyPr wrap="square" rtlCol="0" anchor="ctr"/>
          <a:lstStyle/>
          <a:p>
            <a:pPr marL="0" indent="0" algn="ctr">
              <a:buNone/>
            </a:pPr>
            <a:r>
              <a:rPr lang="en-US" sz="2400" i="1" dirty="0">
                <a:solidFill>
                  <a:srgbClr val="14B8A6"/>
                </a:solidFill>
              </a:rPr>
              <a:t>Questions ?</a:t>
            </a:r>
            <a:endParaRPr lang="en-US" sz="2400" dirty="0"/>
          </a:p>
        </p:txBody>
      </p:sp>
      <p:sp>
        <p:nvSpPr>
          <p:cNvPr id="5" name="Text 3"/>
          <p:cNvSpPr/>
          <p:nvPr/>
        </p:nvSpPr>
        <p:spPr>
          <a:xfrm>
            <a:off x="914400" y="3200400"/>
            <a:ext cx="7315200" cy="1097280"/>
          </a:xfrm>
          <a:prstGeom prst="rect">
            <a:avLst/>
          </a:prstGeom>
          <a:noFill/>
          <a:ln/>
        </p:spPr>
        <p:txBody>
          <a:bodyPr wrap="square" rtlCol="0" anchor="ctr"/>
          <a:lstStyle/>
          <a:p>
            <a:pPr marL="0" indent="0" algn="ctr">
              <a:buNone/>
            </a:pPr>
            <a:r>
              <a:rPr lang="en-US" sz="1400" b="1" dirty="0">
                <a:solidFill>
                  <a:srgbClr val="FFFFFF"/>
                </a:solidFill>
              </a:rPr>
              <a:t>Hamza — Datasuits 2026</a:t>
            </a:r>
            <a:endParaRPr lang="en-US" sz="1400" dirty="0"/>
          </a:p>
          <a:p>
            <a:pPr marL="0" indent="0" algn="ctr">
              <a:buNone/>
            </a:pPr>
            <a:r>
              <a:rPr lang="en-US" sz="1200" dirty="0">
                <a:solidFill>
                  <a:srgbClr val="E2E8F0"/>
                </a:solidFill>
              </a:rPr>
              <a:t>Analyse Prédictive des Accidents Routiers en France</a:t>
            </a:r>
            <a:endParaRPr lang="en-US" sz="1400" dirty="0"/>
          </a:p>
          <a:p>
            <a:pPr marL="0" indent="0" algn="ctr">
              <a:buNone/>
            </a:pPr>
            <a:r>
              <a:rPr lang="en-US" sz="1200" dirty="0">
                <a:solidFill>
                  <a:srgbClr val="14B8A6"/>
                </a:solidFill>
              </a:rPr>
              <a:t>Smart City (ex : Circle Mobility)</a:t>
            </a:r>
            <a:endParaRPr lang="en-US" sz="1400" dirty="0"/>
          </a:p>
        </p:txBody>
      </p:sp>
      <p:sp>
        <p:nvSpPr>
          <p:cNvPr id="6" name="Text 4"/>
          <p:cNvSpPr/>
          <p:nvPr/>
        </p:nvSpPr>
        <p:spPr>
          <a:xfrm>
            <a:off x="914400" y="4389120"/>
            <a:ext cx="7315200" cy="274320"/>
          </a:xfrm>
          <a:prstGeom prst="rect">
            <a:avLst/>
          </a:prstGeom>
          <a:noFill/>
          <a:ln/>
        </p:spPr>
        <p:txBody>
          <a:bodyPr wrap="square" rtlCol="0" anchor="ctr"/>
          <a:lstStyle/>
          <a:p>
            <a:pPr marL="0" indent="0" algn="ctr">
              <a:buNone/>
            </a:pPr>
            <a:r>
              <a:rPr lang="en-US" sz="1000" dirty="0">
                <a:solidFill>
                  <a:srgbClr val="64748B"/>
                </a:solidFill>
              </a:rPr>
              <a:t>Remerciements : Formation Datasuits | Formateur | Jury</a:t>
            </a:r>
            <a:endParaRPr lang="en-US" sz="1000" dirty="0"/>
          </a:p>
        </p:txBody>
      </p:sp>
      <p:sp>
        <p:nvSpPr>
          <p:cNvPr id="7" name="Text 5"/>
          <p:cNvSpPr/>
          <p:nvPr/>
        </p:nvSpPr>
        <p:spPr>
          <a:xfrm>
            <a:off x="8229600" y="4754880"/>
            <a:ext cx="731520" cy="274320"/>
          </a:xfrm>
          <a:prstGeom prst="rect">
            <a:avLst/>
          </a:prstGeom>
          <a:noFill/>
          <a:ln/>
        </p:spPr>
        <p:txBody>
          <a:bodyPr wrap="square" rtlCol="0" anchor="ctr"/>
          <a:lstStyle/>
          <a:p>
            <a:pPr marL="0" indent="0" algn="r">
              <a:buNone/>
            </a:pPr>
            <a:r>
              <a:rPr lang="en-US" sz="900" dirty="0">
                <a:solidFill>
                  <a:srgbClr val="64748B"/>
                </a:solidFill>
              </a:rPr>
              <a:t>20 / 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627</TotalTime>
  <Words>5323</Words>
  <Application>Microsoft Office PowerPoint</Application>
  <PresentationFormat>Affichage à l'écran (16:9)</PresentationFormat>
  <Paragraphs>493</Paragraphs>
  <Slides>20</Slides>
  <Notes>20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20</vt:i4>
      </vt:variant>
    </vt:vector>
  </HeadingPairs>
  <TitlesOfParts>
    <vt:vector size="24" baseType="lpstr">
      <vt:lpstr>Arial</vt:lpstr>
      <vt:lpstr>Calibri</vt:lpstr>
      <vt:lpstr>Trebuchet MS</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Prédictive des Accidents Routiers — Smart City</dc:title>
  <dc:subject>PptxGenJS Presentation</dc:subject>
  <dc:creator>Hamza</dc:creator>
  <cp:lastModifiedBy>Hamza Yousfi</cp:lastModifiedBy>
  <cp:revision>44</cp:revision>
  <dcterms:created xsi:type="dcterms:W3CDTF">2026-04-14T14:30:23Z</dcterms:created>
  <dcterms:modified xsi:type="dcterms:W3CDTF">2026-04-16T13:25:04Z</dcterms:modified>
</cp:coreProperties>
</file>